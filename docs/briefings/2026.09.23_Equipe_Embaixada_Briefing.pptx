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71" r:id="rId14"/>
    <p:sldId id="272" r:id="rId23"/>
    <p:sldId id="273" r:id="rId2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2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ELEIÇÕES 2026 · 1º TURNO · DOMINGO, 4 DE OUTUBRO · 8H ÀS 17H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da equipe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 e apoio do Posto de Dublin. O que muda no dia, quem faz o quê, como a mesa trabalha — e como se fala com quem está do outro lado do salão.</a:t>
            </a:r>
            <a:endParaRPr lang="en-US" sz="1350" dirty="0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10512"/>
            <a:ext cx="2743200" cy="16312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SEÇÕES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33138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3138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16.794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09584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APTOS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860307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860307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 DE CHEGADA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Embaixada do Brasil em Dublin · RDS, Hall 2, Merrion Road, Ballsbridge, Dublin 4 · 2º turno, se houver: domingo, 25 de outubro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NESTA REUNIÃO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Oito assuntos. Os quatro primeiros são sobre você; os quatro últimos, sobre o eleitor.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566928" y="2103120"/>
            <a:ext cx="2558720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Num 8"/>
          <p:cNvSpPr/>
          <p:nvPr/>
        </p:nvSpPr>
        <p:spPr>
          <a:xfrm>
            <a:off x="800848" y="2337040"/>
            <a:ext cx="280000" cy="2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/>
          <p:cNvSpPr txBox="1"/>
          <p:nvPr/>
        </p:nvSpPr>
        <p:spPr>
          <a:xfrm>
            <a:off x="800848" y="233704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10"/>
          <p:cNvSpPr txBox="1"/>
          <p:nvPr/>
        </p:nvSpPr>
        <p:spPr>
          <a:xfrm>
            <a:off x="800848" y="2889504"/>
            <a:ext cx="209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1150" dirty="0"/>
          </a:p>
        </p:txBody>
      </p:sp>
      <p:sp>
        <p:nvSpPr>
          <p:cNvPr id="11" name="Text 11"/>
          <p:cNvSpPr txBox="1"/>
          <p:nvPr/>
        </p:nvSpPr>
        <p:spPr>
          <a:xfrm>
            <a:off x="800848" y="3193120"/>
            <a:ext cx="2090880" cy="6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Montagem, chegada, zerésima, encerramento — e a segunda-feira.</a:t>
            </a:r>
            <a:endParaRPr lang="en-US" sz="1000" dirty="0"/>
          </a:p>
        </p:txBody>
      </p:sp>
      <p:sp>
        <p:nvSpPr>
          <p:cNvPr id="12" name="Card 12"/>
          <p:cNvSpPr/>
          <p:nvPr/>
        </p:nvSpPr>
        <p:spPr>
          <a:xfrm>
            <a:off x="3399968" y="2103120"/>
            <a:ext cx="2558720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Num 13"/>
          <p:cNvSpPr/>
          <p:nvPr/>
        </p:nvSpPr>
        <p:spPr>
          <a:xfrm>
            <a:off x="3633888" y="2337040"/>
            <a:ext cx="280000" cy="2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4"/>
          <p:cNvSpPr txBox="1"/>
          <p:nvPr/>
        </p:nvSpPr>
        <p:spPr>
          <a:xfrm>
            <a:off x="3633888" y="233704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5"/>
          <p:cNvSpPr txBox="1"/>
          <p:nvPr/>
        </p:nvSpPr>
        <p:spPr>
          <a:xfrm>
            <a:off x="3633888" y="2889504"/>
            <a:ext cx="209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1150" dirty="0"/>
          </a:p>
        </p:txBody>
      </p:sp>
      <p:sp>
        <p:nvSpPr>
          <p:cNvPr id="16" name="Text 16"/>
          <p:cNvSpPr txBox="1"/>
          <p:nvPr/>
        </p:nvSpPr>
        <p:spPr>
          <a:xfrm>
            <a:off x="3633888" y="3193120"/>
            <a:ext cx="2090880" cy="6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sair, quem cobre, e por que a janela é 11h–14h.</a:t>
            </a:r>
            <a:endParaRPr lang="en-US" sz="1000" dirty="0"/>
          </a:p>
        </p:txBody>
      </p:sp>
      <p:sp>
        <p:nvSpPr>
          <p:cNvPr id="17" name="Card 17"/>
          <p:cNvSpPr/>
          <p:nvPr/>
        </p:nvSpPr>
        <p:spPr>
          <a:xfrm>
            <a:off x="6233008" y="2103120"/>
            <a:ext cx="2558720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Num 18"/>
          <p:cNvSpPr/>
          <p:nvPr/>
        </p:nvSpPr>
        <p:spPr>
          <a:xfrm>
            <a:off x="6466928" y="2337040"/>
            <a:ext cx="280000" cy="2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9"/>
          <p:cNvSpPr txBox="1"/>
          <p:nvPr/>
        </p:nvSpPr>
        <p:spPr>
          <a:xfrm>
            <a:off x="6466928" y="233704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20"/>
          <p:cNvSpPr txBox="1"/>
          <p:nvPr/>
        </p:nvSpPr>
        <p:spPr>
          <a:xfrm>
            <a:off x="6466928" y="2889504"/>
            <a:ext cx="209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Dias de folga</a:t>
            </a:r>
            <a:endParaRPr lang="en-US" sz="1150" dirty="0"/>
          </a:p>
        </p:txBody>
      </p:sp>
      <p:sp>
        <p:nvSpPr>
          <p:cNvPr id="21" name="Text 21"/>
          <p:cNvSpPr txBox="1"/>
          <p:nvPr/>
        </p:nvSpPr>
        <p:spPr>
          <a:xfrm>
            <a:off x="6466928" y="3193120"/>
            <a:ext cx="2090880" cy="6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 para cada dia trabalhado, treinamento incluído.</a:t>
            </a:r>
            <a:endParaRPr lang="en-US" sz="1000" dirty="0"/>
          </a:p>
        </p:txBody>
      </p:sp>
      <p:sp>
        <p:nvSpPr>
          <p:cNvPr id="22" name="Card 22"/>
          <p:cNvSpPr/>
          <p:nvPr/>
        </p:nvSpPr>
        <p:spPr>
          <a:xfrm>
            <a:off x="9066047" y="2103120"/>
            <a:ext cx="2558720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Num 23"/>
          <p:cNvSpPr/>
          <p:nvPr/>
        </p:nvSpPr>
        <p:spPr>
          <a:xfrm>
            <a:off x="9299967" y="2337040"/>
            <a:ext cx="280000" cy="2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4"/>
          <p:cNvSpPr txBox="1"/>
          <p:nvPr/>
        </p:nvSpPr>
        <p:spPr>
          <a:xfrm>
            <a:off x="9299967" y="233704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5"/>
          <p:cNvSpPr txBox="1"/>
          <p:nvPr/>
        </p:nvSpPr>
        <p:spPr>
          <a:xfrm>
            <a:off x="9299967" y="2889504"/>
            <a:ext cx="209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e apoio</a:t>
            </a:r>
            <a:endParaRPr lang="en-US" sz="1150" dirty="0"/>
          </a:p>
        </p:txBody>
      </p:sp>
      <p:sp>
        <p:nvSpPr>
          <p:cNvPr id="26" name="Text 26"/>
          <p:cNvSpPr txBox="1"/>
          <p:nvPr/>
        </p:nvSpPr>
        <p:spPr>
          <a:xfrm>
            <a:off x="9299967" y="3193120"/>
            <a:ext cx="2090880" cy="6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atua na mesa; apoio ajuda o fluxo — são funções diferentes.</a:t>
            </a:r>
            <a:endParaRPr lang="en-US" sz="1000" dirty="0"/>
          </a:p>
        </p:txBody>
      </p:sp>
      <p:sp>
        <p:nvSpPr>
          <p:cNvPr id="27" name="Card 27"/>
          <p:cNvSpPr/>
          <p:nvPr/>
        </p:nvSpPr>
        <p:spPr>
          <a:xfrm>
            <a:off x="566928" y="4370832"/>
            <a:ext cx="2558720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Num 28"/>
          <p:cNvSpPr/>
          <p:nvPr/>
        </p:nvSpPr>
        <p:spPr>
          <a:xfrm>
            <a:off x="800848" y="4604752"/>
            <a:ext cx="280000" cy="2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800848" y="4604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800848" y="5157216"/>
            <a:ext cx="209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1150" dirty="0"/>
          </a:p>
        </p:txBody>
      </p:sp>
      <p:sp>
        <p:nvSpPr>
          <p:cNvPr id="31" name="Text 31"/>
          <p:cNvSpPr txBox="1"/>
          <p:nvPr/>
        </p:nvSpPr>
        <p:spPr>
          <a:xfrm>
            <a:off x="800848" y="5460832"/>
            <a:ext cx="2090880" cy="6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com os Presidentes de Mesa; walkie-talkie entre os líderes do apoio.</a:t>
            </a:r>
            <a:endParaRPr lang="en-US" sz="1000" dirty="0"/>
          </a:p>
        </p:txBody>
      </p:sp>
      <p:sp>
        <p:nvSpPr>
          <p:cNvPr id="32" name="Card 32"/>
          <p:cNvSpPr/>
          <p:nvPr/>
        </p:nvSpPr>
        <p:spPr>
          <a:xfrm>
            <a:off x="3399968" y="4370832"/>
            <a:ext cx="2558720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Num 33"/>
          <p:cNvSpPr/>
          <p:nvPr/>
        </p:nvSpPr>
        <p:spPr>
          <a:xfrm>
            <a:off x="3633888" y="4604752"/>
            <a:ext cx="280000" cy="2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4" name="Text 34"/>
          <p:cNvSpPr txBox="1"/>
          <p:nvPr/>
        </p:nvSpPr>
        <p:spPr>
          <a:xfrm>
            <a:off x="3633888" y="4604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5"/>
          <p:cNvSpPr txBox="1"/>
          <p:nvPr/>
        </p:nvSpPr>
        <p:spPr>
          <a:xfrm>
            <a:off x="3633888" y="5157216"/>
            <a:ext cx="209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</a:t>
            </a:r>
            <a:endParaRPr lang="en-US" sz="1150" dirty="0"/>
          </a:p>
        </p:txBody>
      </p:sp>
      <p:sp>
        <p:nvSpPr>
          <p:cNvPr id="36" name="Text 36"/>
          <p:cNvSpPr txBox="1"/>
          <p:nvPr/>
        </p:nvSpPr>
        <p:spPr>
          <a:xfrm>
            <a:off x="3633888" y="5460832"/>
            <a:ext cx="2090880" cy="6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portão até a urna, e o que acontece dentro da mesa.</a:t>
            </a:r>
            <a:endParaRPr lang="en-US" sz="1000" dirty="0"/>
          </a:p>
        </p:txBody>
      </p:sp>
      <p:sp>
        <p:nvSpPr>
          <p:cNvPr id="37" name="Card 37"/>
          <p:cNvSpPr/>
          <p:nvPr/>
        </p:nvSpPr>
        <p:spPr>
          <a:xfrm>
            <a:off x="6233008" y="4370832"/>
            <a:ext cx="2558720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Num 38"/>
          <p:cNvSpPr/>
          <p:nvPr/>
        </p:nvSpPr>
        <p:spPr>
          <a:xfrm>
            <a:off x="6466928" y="4604752"/>
            <a:ext cx="280000" cy="2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9"/>
          <p:cNvSpPr txBox="1"/>
          <p:nvPr/>
        </p:nvSpPr>
        <p:spPr>
          <a:xfrm>
            <a:off x="6466928" y="4604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40"/>
          <p:cNvSpPr txBox="1"/>
          <p:nvPr/>
        </p:nvSpPr>
        <p:spPr>
          <a:xfrm>
            <a:off x="6466928" y="5157216"/>
            <a:ext cx="209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Celulares</a:t>
            </a:r>
            <a:endParaRPr lang="en-US" sz="1150" dirty="0"/>
          </a:p>
        </p:txBody>
      </p:sp>
      <p:sp>
        <p:nvSpPr>
          <p:cNvPr id="41" name="Text 41"/>
          <p:cNvSpPr txBox="1"/>
          <p:nvPr/>
        </p:nvSpPr>
        <p:spPr>
          <a:xfrm>
            <a:off x="6466928" y="5460832"/>
            <a:ext cx="2090880" cy="6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recolhe e quem confere — e o que fazer se o eleitor resistir.</a:t>
            </a:r>
            <a:endParaRPr lang="en-US" sz="1000" dirty="0"/>
          </a:p>
        </p:txBody>
      </p:sp>
      <p:sp>
        <p:nvSpPr>
          <p:cNvPr id="42" name="Card 42"/>
          <p:cNvSpPr/>
          <p:nvPr/>
        </p:nvSpPr>
        <p:spPr>
          <a:xfrm>
            <a:off x="9066047" y="4370832"/>
            <a:ext cx="2558720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Num 43"/>
          <p:cNvSpPr/>
          <p:nvPr/>
        </p:nvSpPr>
        <p:spPr>
          <a:xfrm>
            <a:off x="9299967" y="4604752"/>
            <a:ext cx="280000" cy="2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4" name="Text 44"/>
          <p:cNvSpPr txBox="1"/>
          <p:nvPr/>
        </p:nvSpPr>
        <p:spPr>
          <a:xfrm>
            <a:off x="9299967" y="4604752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5"/>
          <p:cNvSpPr txBox="1"/>
          <p:nvPr/>
        </p:nvSpPr>
        <p:spPr>
          <a:xfrm>
            <a:off x="9299967" y="5157216"/>
            <a:ext cx="209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</a:t>
            </a:r>
            <a:endParaRPr lang="en-US" sz="1150" dirty="0"/>
          </a:p>
        </p:txBody>
      </p:sp>
      <p:sp>
        <p:nvSpPr>
          <p:cNvPr id="46" name="Text 46"/>
          <p:cNvSpPr txBox="1"/>
          <p:nvPr/>
        </p:nvSpPr>
        <p:spPr>
          <a:xfrm>
            <a:off x="9299967" y="5460832"/>
            <a:ext cx="2090880" cy="67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ser on-line; presencial só por exceção, numa mesa de menor movimento.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dias, dois relógios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hora da montagem é folgada. A hora do domingo não é: ela é ditada pela zerésima.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DA MONTAGEM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066544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066544"/>
            <a:ext cx="82296" cy="74980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77824" y="2066544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partir das 9h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montagem do Hall 2 e do pátio do Ring 3, conferência das mesas e da sinalização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17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DOMINGO, 4 DE OUTUBRO · DIA DA ELEIÇÃO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4041648"/>
            <a:ext cx="9229039" cy="3200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1481328" y="4041648"/>
            <a:ext cx="3076346" cy="320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1385316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612648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chegada de todos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61662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3688994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7h00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688994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Zerésima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88994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emitida e assinada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38009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765341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8h00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765341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Abertura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5341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eleitor entra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14355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9841687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17h00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841687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41687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 a fila, não a urna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6675120" cy="1170432"/>
          </a:xfrm>
          <a:prstGeom prst="roundRect">
            <a:avLst>
              <a:gd name="adj" fmla="val 390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932688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6h30?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" y="54681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Porque às 7h00 a zerésima tem de estar emitida. É a única hora do dia que não se recupera: tudo o que vier depois depende dela ter saído no horário.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segurança contratada cobre 7h30–17h30, mais uma pessoa na véspera.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um, fica o outro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há escala central de almoço. Cada mesa se organiza por dentro — o que o Posto oferece é a janela.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 · MENOR MOVIMENTO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 às 14h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vale do dia na leitura dos logs de votação de anos anteriores. Fora dessa faixa, a fila cobra.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de cada vez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pessoa cobre a outra dentro da própria mesa. A mesa nunca fica sem quem busca no caderno.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 autoriza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é combinada com o Presidente da Mesa, que conhece o tamanho da fila naquele minuto.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faixa de menor movimento vem da leitura dos logs de votação de anos anteriores. É uma janela indicativa, não uma previsão medida para 2026.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COMPENSAÇÃO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 para cada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 o dia da eleição e contam os treinamentos: cada dia em que você participar vale dois.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2121408" cy="1481328"/>
          </a:xfrm>
          <a:prstGeom prst="roundRect">
            <a:avLst>
              <a:gd name="adj" fmla="val 3086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19456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809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TRABALHADO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18211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eleição ou treinamento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72384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3822192" y="2011680"/>
            <a:ext cx="16546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3822192" y="2194560"/>
            <a:ext cx="165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2980944"/>
            <a:ext cx="16546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DE FOLGA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14634" y="2011680"/>
            <a:ext cx="16546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5714634" y="2194560"/>
            <a:ext cx="165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5714634" y="2980944"/>
            <a:ext cx="16546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DE FOLGA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82128" y="2011680"/>
            <a:ext cx="3742639" cy="1481328"/>
          </a:xfrm>
          <a:prstGeom prst="roundRect">
            <a:avLst>
              <a:gd name="adj" fmla="val 308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8193024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se conta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93024" y="263347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 os dias em que você participou — a eleição e cada treinamento — e multiplique por dois. É esse o seu saldo.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Shape 20"/>
          <p:cNvSpPr/>
          <p:nvPr/>
        </p:nvSpPr>
        <p:spPr>
          <a:xfrm>
            <a:off x="877824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877824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inteiro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folga não se fraciona. Usa-se o dia todo, não meio período.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56506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4667402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4667402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67402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Vamos fixar um prazo para o usufruto — o direito não fica em aberto sem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46085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8456981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8456981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escrito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456981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nota com as regras e o prazo será enviada a todos.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e apoio não são a mesma função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atua na mesa de votação; apoio ajuda o fluxo dos eleitores no percurso — são funções diferentes.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029968"/>
            <a:ext cx="4297680" cy="3017520"/>
          </a:xfrm>
          <a:prstGeom prst="roundRect">
            <a:avLst>
              <a:gd name="adj" fmla="val 1515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950976" y="23408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mundo desta sala.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163824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Atua na mesa de votação. É a função nomeada, com treinamento próprio, e a única que identifica o eleitor. Ninguém mais confere documento.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315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mesa: Presidente, Secretário, 1º e 2º mesário.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85232" y="2029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· 8 PESSOAS, FUNÇÕES DE FLUXO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85232" y="2340864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5559552" y="2340864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Adelson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2160" y="2340864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8866480" y="2340864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Anecy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85232" y="3108960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5559552" y="310896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Cristiana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92160" y="3108960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8866480" y="310896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85232" y="3877056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559552" y="3877056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92160" y="3877056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866480" y="3877056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Laís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752831" y="5458968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Mariá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92160" y="4645152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66480" y="4645152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Maria Inês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5358384"/>
            <a:ext cx="11057839" cy="768096"/>
          </a:xfrm>
          <a:prstGeom prst="roundRect">
            <a:avLst>
              <a:gd name="adj" fmla="val 5952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566928" y="5358384"/>
            <a:ext cx="82296" cy="768096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877824" y="5358384"/>
            <a:ext cx="1041775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Importante: 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apoio orienta, não decide. Não atua na mesa nem identifica ninguém — só o mesário faz isso.</a:t>
            </a:r>
            <a:endParaRPr lang="en-US" sz="1100" dirty="0"/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0CBBCDB5-AFE0-7628-CC22-BB67069DC3AD}"/>
              </a:ext>
            </a:extLst>
          </p:cNvPr>
          <p:cNvSpPr/>
          <p:nvPr/>
        </p:nvSpPr>
        <p:spPr>
          <a:xfrm>
            <a:off x="5285232" y="4592164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A1167A28-92A8-F6E2-F73F-431629F1EB1E}"/>
              </a:ext>
            </a:extLst>
          </p:cNvPr>
          <p:cNvSpPr txBox="1"/>
          <p:nvPr/>
        </p:nvSpPr>
        <p:spPr>
          <a:xfrm>
            <a:off x="5541265" y="461772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42B5A"/>
                </a:solidFill>
                <a:latin typeface="Montserrat" pitchFamily="34" charset="0"/>
              </a:rPr>
              <a:t>Mariá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E VOLUNTÁRIOS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coordena, não substitui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dia teremos voluntários no percurso. A função do apoio da Embaixada é coordená-los em pontos definidos — não fazer o trabalho deles.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299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PONTOS CANDIDATOS, PELO PLANO DE VOLUNTÁRIOS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Calçada da Merrion Road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mesa "descubra sua seção", fora do portão. Resolve quem chega sem o número.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22387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3078419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3078419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78419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 3 · trecho de fundo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078419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a corrente se reparte entre as zonas C, B e 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77846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5333878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333878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33878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 3 · cabeça de fila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33878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pessoa por zona, no ponto em que a fila encontra o apron.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33305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7589337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7589337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589337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 2 · porta preferencial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89337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Idoso, gestante, pessoa com deficiência e quem os acompanha.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88764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Shape 27"/>
          <p:cNvSpPr/>
          <p:nvPr/>
        </p:nvSpPr>
        <p:spPr>
          <a:xfrm>
            <a:off x="9844796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984479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844796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 2 · mesas de alta carga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844796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três maiores: 3313, 3315 e 3322.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" y="4846320"/>
            <a:ext cx="5577840" cy="1389888"/>
          </a:xfrm>
          <a:prstGeom prst="roundRect">
            <a:avLst>
              <a:gd name="adj" fmla="val 3289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5102352"/>
            <a:ext cx="1389888" cy="237744"/>
          </a:xfrm>
          <a:prstGeom prst="roundRect">
            <a:avLst>
              <a:gd name="adj" fmla="val 38462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51023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DEFINIÇÃO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449824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pontos e as escalas ainda não estão fechados. Saem em reunião só com o apoio, marcada em breve.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canais, cada um com um dono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canal para as decisões da mesa, outro para o que acontece no chão do salão. Não se misturam.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950976" y="2523744"/>
            <a:ext cx="566928" cy="512064"/>
          </a:xfrm>
          <a:prstGeom prst="roundRect">
            <a:avLst>
              <a:gd name="adj" fmla="val 25000"/>
            </a:avLst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 rot="10800000">
            <a:off x="1042416" y="2990088"/>
            <a:ext cx="182880" cy="164592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682496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de WhatsApp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82496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decisões da mesa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no grupo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Presidentes de Mesa, Hamad, João e Marcelo.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1225296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é apagado imediatamente depois da eleição.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7016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6717640" y="2560320"/>
            <a:ext cx="365760" cy="512064"/>
          </a:xfrm>
          <a:prstGeom prst="roundRect">
            <a:avLst>
              <a:gd name="adj" fmla="val 22500"/>
            </a:avLst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7010248" y="2395728"/>
            <a:ext cx="45720" cy="182880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781648" y="2651760"/>
            <a:ext cx="237744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7412584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Walkie-talkie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412584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chão do salão, em tempo real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81064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fala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líderes das equipes de apoio, entre si.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81064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955384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Percurso, filas e incidentes — não procedimento de mesa.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1324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808423" y="5431536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 de procedimento sobe pelo Presidente da Mesa – Hamad, João e Marcelo </a:t>
            </a:r>
            <a:r>
              <a:rPr lang="en-US" sz="14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estarão</a:t>
            </a: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habilitados</a:t>
            </a: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responder.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396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06759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1396459" cy="453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Da calçada até a urna</a:t>
            </a:r>
            <a:endParaRPr sz="2700" b="1" dirty="0">
              <a:solidFill>
                <a:srgbClr val="042B5A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 rot="16200000">
            <a:off x="2285170" y="-374580"/>
            <a:ext cx="414816" cy="2816352"/>
          </a:xfrm>
          <a:prstGeom prst="rect">
            <a:avLst/>
          </a:prstGeom>
          <a:solidFill>
            <a:srgbClr val="D8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837021" y="988400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spc="140" dirty="0">
                <a:solidFill>
                  <a:srgbClr val="6B6B6B"/>
                </a:solidFill>
                <a:latin typeface="Montserrat"/>
              </a:rPr>
              <a:t>MERRION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7845" y="1258860"/>
            <a:ext cx="0" cy="2718779"/>
          </a:xfrm>
          <a:prstGeom prst="line">
            <a:avLst/>
          </a:prstGeom>
          <a:ln w="25400">
            <a:solidFill>
              <a:srgbClr val="E4DF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79684" y="1414416"/>
            <a:ext cx="2608159" cy="2302231"/>
          </a:xfrm>
          <a:prstGeom prst="rect">
            <a:avLst/>
          </a:prstGeom>
          <a:solidFill>
            <a:srgbClr val="FFFFFF"/>
          </a:solidFill>
          <a:ln w="1778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684" y="2360000"/>
            <a:ext cx="2608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42B5A"/>
                </a:solidFill>
                <a:latin typeface="Montserrat"/>
              </a:rPr>
              <a:t>HALL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684" y="264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 salão de votação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684" y="280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as 28 mesas ficam nas paredes — ver o slide seguinte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5574" y="3716648"/>
            <a:ext cx="2281491" cy="725928"/>
          </a:xfrm>
          <a:prstGeom prst="rect">
            <a:avLst/>
          </a:prstGeom>
          <a:solidFill>
            <a:srgbClr val="E4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83352" y="401739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apron · 14,0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5574" y="4442577"/>
            <a:ext cx="2281491" cy="1814822"/>
          </a:xfrm>
          <a:prstGeom prst="rect">
            <a:avLst/>
          </a:prstGeom>
          <a:solidFill>
            <a:srgbClr val="EDEADB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1509" y="4442577"/>
            <a:ext cx="155556" cy="1814822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05574" y="6101843"/>
            <a:ext cx="2125934" cy="155556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5574" y="6132954"/>
            <a:ext cx="21259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o corredor distribui: C, depois B, depois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5574" y="4442577"/>
            <a:ext cx="667336" cy="1659266"/>
          </a:xfrm>
          <a:prstGeom prst="rect">
            <a:avLst/>
          </a:prstGeom>
          <a:solidFill>
            <a:srgbClr val="33507E">
              <a:alpha val="21999"/>
            </a:srgbClr>
          </a:solidFill>
          <a:ln w="9525">
            <a:solidFill>
              <a:srgbClr val="335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5574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5574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05574" y="6101843"/>
            <a:ext cx="148815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69206" y="4442577"/>
            <a:ext cx="103704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21058" y="3716648"/>
            <a:ext cx="202742" cy="725929"/>
          </a:xfrm>
          <a:prstGeom prst="line">
            <a:avLst/>
          </a:prstGeom>
          <a:ln w="2032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35133" y="4442577"/>
            <a:ext cx="666817" cy="1659266"/>
          </a:xfrm>
          <a:prstGeom prst="rect">
            <a:avLst/>
          </a:prstGeom>
          <a:solidFill>
            <a:srgbClr val="E8C63A">
              <a:alpha val="21999"/>
            </a:srgbClr>
          </a:solidFill>
          <a:ln w="9525">
            <a:solidFill>
              <a:srgbClr val="E8C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35133" y="4980000"/>
            <a:ext cx="66681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5133" y="5390000"/>
            <a:ext cx="666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53653" y="6101843"/>
            <a:ext cx="148297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16689" y="4442577"/>
            <a:ext cx="103705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68541" y="3716648"/>
            <a:ext cx="77779" cy="725929"/>
          </a:xfrm>
          <a:prstGeom prst="line">
            <a:avLst/>
          </a:prstGeom>
          <a:ln w="2032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64173" y="4442577"/>
            <a:ext cx="667336" cy="1659266"/>
          </a:xfrm>
          <a:prstGeom prst="rect">
            <a:avLst/>
          </a:prstGeom>
          <a:solidFill>
            <a:srgbClr val="C8102E">
              <a:alpha val="21999"/>
            </a:srgbClr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64173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4173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82693" y="6101843"/>
            <a:ext cx="148816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4173" y="4442577"/>
            <a:ext cx="103704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968839" y="3716648"/>
            <a:ext cx="47186" cy="725929"/>
          </a:xfrm>
          <a:prstGeom prst="line">
            <a:avLst/>
          </a:prstGeom>
          <a:ln w="2032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66724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69235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70058" y="3716648"/>
            <a:ext cx="307483" cy="0"/>
          </a:xfrm>
          <a:prstGeom prst="line">
            <a:avLst/>
          </a:prstGeom>
          <a:ln w="5715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14092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92578" y="3716648"/>
            <a:ext cx="307483" cy="0"/>
          </a:xfrm>
          <a:prstGeom prst="line">
            <a:avLst/>
          </a:prstGeom>
          <a:ln w="5715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6344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15098" y="3716648"/>
            <a:ext cx="307483" cy="0"/>
          </a:xfrm>
          <a:prstGeom prst="line">
            <a:avLst/>
          </a:prstGeom>
          <a:ln w="5715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785959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54729" y="3716648"/>
            <a:ext cx="65852" cy="0"/>
          </a:xfrm>
          <a:prstGeom prst="line">
            <a:avLst/>
          </a:prstGeom>
          <a:ln w="5715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48013" y="3515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63693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166204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49" name="Connector 48"/>
          <p:cNvCxnSpPr>
            <a:cxnSpLocks/>
          </p:cNvCxnSpPr>
          <p:nvPr/>
        </p:nvCxnSpPr>
        <p:spPr>
          <a:xfrm>
            <a:off x="3995251" y="1343717"/>
            <a:ext cx="0" cy="3021082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709287" y="4364799"/>
            <a:ext cx="28596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09287" y="4364799"/>
            <a:ext cx="0" cy="233334"/>
          </a:xfrm>
          <a:prstGeom prst="line">
            <a:avLst/>
          </a:prstGeom>
          <a:ln w="27940">
            <a:solidFill>
              <a:srgbClr val="5F882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28323" y="2990719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lateral leste do Hall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2784" y="2051249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 do eleitor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90135" y="11059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04532" y="1128422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06009" y="30274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006009" y="306855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03008" y="47903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03008" y="483152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49669" y="56977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49669" y="5738933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27448" y="378444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527448" y="382559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27832" y="6309251"/>
            <a:ext cx="1037041" cy="0"/>
          </a:xfrm>
          <a:prstGeom prst="line">
            <a:avLst/>
          </a:prstGeom>
          <a:ln w="15240">
            <a:solidFill>
              <a:srgbClr val="042B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210593" y="629000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20 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1225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60720" y="125730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120700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Portão B, na Merrion Road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14813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É por ali que o eleitor entra. Antes do portão há uma mesa de consulta: quem não sabe o número da sua seção descobre ali, e anota a letra.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20482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0720" y="208026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202996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Pela lateral leste do Hall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23042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caminho contorna o salão pelo lado leste e desemboca no apron, entre o Hall 2 e o pátio.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28712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0" y="290322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44768" y="285292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Ring 3, pelo canto nordeste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4768" y="312724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pátio de fila fica ao ar livre, ao sul do salão. O corredor de chegada distribui para as três zonas: C primeiro, B depois, A no fim.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36941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0" y="372618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367588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sua zona, a sua fila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395020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Cada zona é a fila de uma porta, e as três têm o mesmo tamanho. Entra-se pela boca no fundo e sai-se pela abertura da frente.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45171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0720" y="454914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49884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porta A, B ou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77316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Atravessado o apron, cada zona entra pela sua porta. Da porta até a mesa é sempre a mesma letra.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431536"/>
            <a:ext cx="6144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760720" y="5431536"/>
            <a:ext cx="45720" cy="566928"/>
          </a:xfrm>
          <a:prstGeom prst="rect">
            <a:avLst/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961888" y="55595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42B5A"/>
                </a:solidFill>
                <a:latin typeface="Montserrat"/>
              </a:rPr>
              <a:t>Atendimento preferencial: idoso, gestante, pessoa com deficiência e quem os acompanha entram pela porta à direita da C, sem fila.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O Hall 2, o apron e o pátio do Ring 3 estão em escala e na posição relativa medida em planta. O trecho entre o portão e o apron é esquemático: indica o lado por onde se anda, não a distância.</a:t>
            </a:r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11F19504-71D1-FD48-C404-9EAC7D9C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719" y="941396"/>
            <a:ext cx="786452" cy="249958"/>
          </a:xfrm>
          <a:prstGeom prst="rect">
            <a:avLst/>
          </a:prstGeom>
        </p:spPr>
      </p:pic>
      <p:cxnSp>
        <p:nvCxnSpPr>
          <p:cNvPr id="95" name="Connector 48">
            <a:extLst>
              <a:ext uri="{FF2B5EF4-FFF2-40B4-BE49-F238E27FC236}">
                <a16:creationId xmlns:a16="http://schemas.microsoft.com/office/drawing/2014/main" id="{14D33949-A621-3F2D-7019-94EB751ECABC}"/>
              </a:ext>
            </a:extLst>
          </p:cNvPr>
          <p:cNvCxnSpPr>
            <a:cxnSpLocks/>
          </p:cNvCxnSpPr>
          <p:nvPr/>
        </p:nvCxnSpPr>
        <p:spPr>
          <a:xfrm rot="16200000">
            <a:off x="3787843" y="1047702"/>
            <a:ext cx="0" cy="59628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DENTRO DO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42B5A"/>
                </a:solidFill>
                <a:latin typeface="Montserrat"/>
              </a:rPr>
              <a:t>O Hall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60350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As mesas não têm número: cada uma traz as seções que votam nela, que é o que você tem na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5718212" cy="5047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3024" y="1663170"/>
            <a:ext cx="784406" cy="3682165"/>
          </a:xfrm>
          <a:prstGeom prst="rect">
            <a:avLst/>
          </a:prstGeom>
          <a:solidFill>
            <a:srgbClr val="33507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6043" y="1517656"/>
            <a:ext cx="3713996" cy="557042"/>
          </a:xfrm>
          <a:prstGeom prst="rect">
            <a:avLst/>
          </a:prstGeom>
          <a:solidFill>
            <a:srgbClr val="E8C6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6326" y="1898492"/>
            <a:ext cx="761670" cy="3546883"/>
          </a:xfrm>
          <a:prstGeom prst="rect">
            <a:avLst/>
          </a:prstGeom>
          <a:solidFill>
            <a:srgbClr val="C8102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48609" y="5371482"/>
            <a:ext cx="363782" cy="727565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7431" y="5371482"/>
            <a:ext cx="1594960" cy="341046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7431" y="1551761"/>
            <a:ext cx="341046" cy="4160767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30501" y="5246431"/>
            <a:ext cx="0" cy="738934"/>
          </a:xfrm>
          <a:prstGeom prst="line">
            <a:avLst/>
          </a:prstGeom>
          <a:ln w="2540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3609" y="2279327"/>
            <a:ext cx="341046" cy="3819720"/>
          </a:xfrm>
          <a:prstGeom prst="rect">
            <a:avLst/>
          </a:prstGeom>
          <a:solidFill>
            <a:srgbClr val="E8C63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3784133" y="5246431"/>
            <a:ext cx="0" cy="738934"/>
          </a:xfrm>
          <a:prstGeom prst="line">
            <a:avLst/>
          </a:prstGeom>
          <a:ln w="2540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04757" y="5735265"/>
            <a:ext cx="341046" cy="363782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4757" y="5507900"/>
            <a:ext cx="511569" cy="227364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5280" y="1608602"/>
            <a:ext cx="341046" cy="3899298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4375280" y="5246431"/>
            <a:ext cx="0" cy="738934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17431" y="2074699"/>
            <a:ext cx="2898895" cy="204627"/>
          </a:xfrm>
          <a:prstGeom prst="rect">
            <a:avLst/>
          </a:prstGeom>
          <a:solidFill>
            <a:srgbClr val="E8C63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0513 1105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1352 0522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3078 2847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3179 0530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3313 3889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3309 1314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3142 1278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3161 3307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3311 3913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404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8215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0512 2855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740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2551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1160 3845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571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4382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3315 3778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97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208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3108 3422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7332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4544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3302 3181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0169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1827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3305 0521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3530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3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3306 0518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636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34475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972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7836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0511 1100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0517 1292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3322 3752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3054 1099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3216 0527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3245 0519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3229 3821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3216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9945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738257" y="6099048"/>
            <a:ext cx="674135" cy="0"/>
          </a:xfrm>
          <a:prstGeom prst="line">
            <a:avLst/>
          </a:prstGeom>
          <a:ln w="762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01004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9564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445360" y="6099048"/>
            <a:ext cx="674135" cy="0"/>
          </a:xfrm>
          <a:prstGeom prst="line">
            <a:avLst/>
          </a:prstGeom>
          <a:ln w="762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8107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6667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52463" y="6099048"/>
            <a:ext cx="674135" cy="0"/>
          </a:xfrm>
          <a:prstGeom prst="line">
            <a:avLst/>
          </a:prstGeom>
          <a:ln w="762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15211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771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897081" y="6099048"/>
            <a:ext cx="144376" cy="0"/>
          </a:xfrm>
          <a:prstGeom prst="line">
            <a:avLst/>
          </a:prstGeom>
          <a:ln w="7620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57789" y="6153912"/>
            <a:ext cx="822960" cy="262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750" dirty="0">
                <a:solidFill>
                  <a:srgbClr val="1E3674"/>
                </a:solidFill>
                <a:latin typeface="Montserrat"/>
              </a:rPr>
              <a:t>entrada</a:t>
            </a:r>
            <a:br>
              <a:rPr lang="en-US" sz="750" dirty="0">
                <a:solidFill>
                  <a:srgbClr val="1E3674"/>
                </a:solidFill>
                <a:latin typeface="Montserrat"/>
              </a:rPr>
            </a:br>
            <a:r>
              <a:rPr sz="750" dirty="0" err="1">
                <a:solidFill>
                  <a:srgbClr val="1E3674"/>
                </a:solidFill>
                <a:latin typeface="Montserrat"/>
              </a:rPr>
              <a:t>preferencial</a:t>
            </a:r>
            <a:endParaRPr sz="750" dirty="0">
              <a:solidFill>
                <a:srgbClr val="1E3674"/>
              </a:solidFill>
              <a:latin typeface="Montserrat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5355220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011949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5180" y="105156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20">
                <a:solidFill>
                  <a:srgbClr val="042B5A"/>
                </a:solidFill>
                <a:latin typeface="Montserrat"/>
              </a:rPr>
              <a:t>COMO LER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05180" y="144475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97788" y="1417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A → parede oeste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05180" y="181051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897788" y="1783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B → parede norte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5180" y="217627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897788" y="2148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C → parede leste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05180" y="254203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97788" y="25146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Entrada preferencial, sem fila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05180" y="2907791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404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97788" y="2880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Saída — pela mesma faixa da parede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5180" y="3383279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Da porta, a avenida da sua cor leva até a parede. Da avenida da parede, um passo até a sua seção.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Quem votou volta pela mesma faixa da parede e sai pela fachada sul — ninguém atravessa a avenida de quem está entrando.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A faixa mais escura na frente da parede norte é a pequena avenida de 1,80 m: é ali que a fila da porta B escolhe o lado, andando.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620256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Planta em escala · fachada sul embaixo, como quem chega do Ring 3 · todas as formas são editáveis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funções, quatro donos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tem um dono. A única coisa que duas pessoas fazem é conferir o documento — e isso é de propósito.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Recebe o eleitor na frente da mesa, confere o documento, confirma a seção e aponta o mesário certo. Organiza a fila pela prioridade legal.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 mesário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um dos cadernos da mesa.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busca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antes de o Presidente digitar.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mesário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o outro caderno, pela mesma regra. Quem tem o caderno do eleitor marca e entrega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</a:t>
            </a:r>
            <a:r>
              <a:rPr lang="en-US" sz="10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 de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dirigir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urna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Opera, para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situações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extraordinárias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 terminal.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ser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revezadas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mesa.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passos, dois eleitores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786384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78638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Recepção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o documento, confirma a seção e aponta o mesário.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7333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656789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656789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56789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antecipada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56789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656789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 o nome antes da digitação começar.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527194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452719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2719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Habilitação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2719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52719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814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639760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3976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número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39760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Ao serem exibidos os dados no Terminal do</a:t>
            </a:r>
          </a:p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Mesário, lê em voz alta e confirma o nome com eleitor.</a:t>
            </a:r>
            <a:endParaRPr lang="en-US" sz="850" dirty="0">
              <a:solidFill>
                <a:srgbClr val="6B6B6B"/>
              </a:solidFill>
              <a:latin typeface="Montserrat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48549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8268005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8268005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Confirmação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68005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8268005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que é a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Assinala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1895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1013841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1013841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13841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Voto e comprovante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13841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13841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Vota, recolhe o próprio celular e recebe o comprovante.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8953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MESA RÁPIDA FAZ DE DIFERENTE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42384" y="4041648"/>
            <a:ext cx="4788256" cy="133502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 txBox="1"/>
          <p:nvPr/>
        </p:nvSpPr>
        <p:spPr>
          <a:xfrm>
            <a:off x="566928" y="41879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 txBox="1"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8" name="Text 46"/>
          <p:cNvSpPr txBox="1"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0" name="Text 48"/>
          <p:cNvSpPr txBox="1"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2" name="Text 50"/>
          <p:cNvSpPr txBox="1"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4" name="Text 52"/>
          <p:cNvSpPr txBox="1"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6" name="Text 54"/>
          <p:cNvSpPr txBox="1"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48097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N+1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9" name="Text 57"/>
          <p:cNvSpPr txBox="1"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 txBox="1"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5" name="Text 63"/>
          <p:cNvSpPr txBox="1"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7" name="Text 65"/>
          <p:cNvSpPr txBox="1"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9" name="Text 67"/>
          <p:cNvSpPr txBox="1"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442384" y="5358384"/>
            <a:ext cx="478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sobreposição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632704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2" name="Text 70"/>
          <p:cNvSpPr txBox="1"/>
          <p:nvPr/>
        </p:nvSpPr>
        <p:spPr>
          <a:xfrm>
            <a:off x="950976" y="5632704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não é digitar mais rápido: é o passo 2 do próximo eleitor acontecer enquanto o atual ainda está na cabine.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Qualquer documento oficial, com foto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espírito da norma é simples: confirmar que é a mesma pessoa. Não importa se o documento é brasileiro, irlandês ou de outra nacionalidade.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brasileiro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9901" y="3913632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RG, CNH, passaporte, carteira de trabalho ou funcional — qualquer documento oficial brasileiro, com foto.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3392" y="2203704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irlandês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87771" y="3813048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Passport card, driving licence ou outro documento oficial irlandês, com foto.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de outro país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90798" y="3730752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 também o passaporte de um terceiro país — por exemplo, o italiano de um binacional. Basta ser oficial e ter foto.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02624" y="2226916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importa sempre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29042" y="3745289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Confirmar que é a mesma pessoa. Documento oficial e com foto — a nacionalidade não importa.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dúvida, não é sobre a nacionalidade do documento — é sobre reconhecer a pessoa que está na sua frente.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CADERNOS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caderno cheio, um imprevisível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urna atende uma ou duas seções. A principal é sempre grande; a agregada pode ter 400 nomes ou 29.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3138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138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DOIS CADERNOS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UM CADERNO SÓ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860307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398–797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60307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POR MESA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58998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2642616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61586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4145204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4174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647792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66762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7150379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969350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652967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NOMES NO CADERNO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980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principal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sempre de Dublin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3014" y="2944368"/>
            <a:ext cx="184857" cy="384048"/>
          </a:xfrm>
          <a:prstGeom prst="roundRect">
            <a:avLst>
              <a:gd name="adj" fmla="val 29679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174175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395–400 nomes, nas 28 mesas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675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agregado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quase sempre de outro condado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153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68718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38073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Shape 33"/>
          <p:cNvSpPr/>
          <p:nvPr/>
        </p:nvSpPr>
        <p:spPr>
          <a:xfrm>
            <a:off x="3972677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4017755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440842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57371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Shape 37"/>
          <p:cNvSpPr/>
          <p:nvPr/>
        </p:nvSpPr>
        <p:spPr>
          <a:xfrm>
            <a:off x="547526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561049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Shape 39"/>
          <p:cNvSpPr/>
          <p:nvPr/>
        </p:nvSpPr>
        <p:spPr>
          <a:xfrm>
            <a:off x="6001171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613640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Shape 41"/>
          <p:cNvSpPr/>
          <p:nvPr/>
        </p:nvSpPr>
        <p:spPr>
          <a:xfrm>
            <a:off x="637681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Shape 42"/>
          <p:cNvSpPr/>
          <p:nvPr/>
        </p:nvSpPr>
        <p:spPr>
          <a:xfrm>
            <a:off x="705298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Shape 43"/>
          <p:cNvSpPr/>
          <p:nvPr/>
        </p:nvSpPr>
        <p:spPr>
          <a:xfrm>
            <a:off x="825505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Shape 44"/>
          <p:cNvSpPr/>
          <p:nvPr/>
        </p:nvSpPr>
        <p:spPr>
          <a:xfrm>
            <a:off x="8435363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Shape 45"/>
          <p:cNvSpPr/>
          <p:nvPr/>
        </p:nvSpPr>
        <p:spPr>
          <a:xfrm>
            <a:off x="8435363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Shape 46"/>
          <p:cNvSpPr/>
          <p:nvPr/>
        </p:nvSpPr>
        <p:spPr>
          <a:xfrm>
            <a:off x="85104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Shape 47"/>
          <p:cNvSpPr/>
          <p:nvPr/>
        </p:nvSpPr>
        <p:spPr>
          <a:xfrm>
            <a:off x="864572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0" name="Shape 48"/>
          <p:cNvSpPr/>
          <p:nvPr/>
        </p:nvSpPr>
        <p:spPr>
          <a:xfrm>
            <a:off x="879598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1" name="Shape 49"/>
          <p:cNvSpPr/>
          <p:nvPr/>
        </p:nvSpPr>
        <p:spPr>
          <a:xfrm>
            <a:off x="8811010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Shape 50"/>
          <p:cNvSpPr/>
          <p:nvPr/>
        </p:nvSpPr>
        <p:spPr>
          <a:xfrm>
            <a:off x="8826036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3" name="Shape 51"/>
          <p:cNvSpPr/>
          <p:nvPr/>
        </p:nvSpPr>
        <p:spPr>
          <a:xfrm>
            <a:off x="884106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4" name="Shape 52"/>
          <p:cNvSpPr/>
          <p:nvPr/>
        </p:nvSpPr>
        <p:spPr>
          <a:xfrm>
            <a:off x="8886139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3"/>
          <p:cNvSpPr txBox="1"/>
          <p:nvPr/>
        </p:nvSpPr>
        <p:spPr>
          <a:xfrm>
            <a:off x="9174175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ponto é uma mesa · de 29 a 400 nomes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7" name="Text 55"/>
          <p:cNvSpPr txBox="1"/>
          <p:nvPr/>
        </p:nvSpPr>
        <p:spPr>
          <a:xfrm>
            <a:off x="841248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Cadernos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de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uma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por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mesário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41248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Mas, se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quiser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mudar,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b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achar 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jeito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mesa.</a:t>
            </a:r>
            <a:endParaRPr lang="en-US" sz="900" b="1" dirty="0"/>
          </a:p>
        </p:txBody>
      </p:sp>
      <p:sp>
        <p:nvSpPr>
          <p:cNvPr id="59" name="Shape 57"/>
          <p:cNvSpPr/>
          <p:nvPr/>
        </p:nvSpPr>
        <p:spPr>
          <a:xfrm>
            <a:off x="4344314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0" name="Text 58"/>
          <p:cNvSpPr txBox="1"/>
          <p:nvPr/>
        </p:nvSpPr>
        <p:spPr>
          <a:xfrm>
            <a:off x="4618634" y="5157216"/>
            <a:ext cx="29544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sempre os dois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618634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br>
              <a:rPr lang="en-US" sz="900" dirty="0">
                <a:solidFill>
                  <a:srgbClr val="6B6B6B"/>
                </a:solidFill>
                <a:latin typeface="Montserrat" pitchFamily="34" charset="0"/>
              </a:rPr>
            </a:b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eleitor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só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poderá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localizado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no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caderno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da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Seção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em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votará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 Por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isso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temos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saber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dois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21701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8396021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de um caderno só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396021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mesário busca; o outro entrega o comprovante e cuida da fila. Não se divide o caderno em dois.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Tamanhos de caderno calculados de saidas/dados.json, dos CSVs oficiais do TSE.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MAIS IMPORTA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decidem o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 fila do dia chega quando a mesa ainda está encontrando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ritmo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É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 logo no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· MAIOR FILA DO 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15968"/>
            <a:ext cx="384048" cy="4114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procure o processo perfeito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Procure, nos primeiros trinta ou quarenta eleitores, o arranjo que funciona naquela mesa. Depois repita sem mudar.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nos primeiros minutos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busca no caderno está atrasando a mesa, troque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agora.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fila da primeira hora acompanha o dia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fila que se forma às 8h não desaparece sozinha: ela anda com a mesa até a tarde.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ABRIR A URNA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da mesa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 txBox="1"/>
          <p:nvPr/>
        </p:nvSpPr>
        <p:spPr>
          <a:xfrm>
            <a:off x="1243584" y="157276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 às 6h30. Zerésima emitida e assinada às 7h00.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243584" y="2249424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Cadernos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distribuídos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77063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1243584" y="2926080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tem o caderno começa a busca pelo nome antes da digitação.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66928" y="3602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243584" y="3602736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566928" y="4279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1243584" y="4279392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dos celulares visível ao eleitor e à mesa receptora.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1243584" y="495604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 combinado dentro da mesa: um de cada vez, na janela de 11h às 14h.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88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42B5A"/>
                </a:solidFill>
                <a:latin typeface="Montserrat" pitchFamily="34" charset="0"/>
              </a:rPr>
              <a:t>Obrigado</a:t>
            </a:r>
            <a:r>
              <a:rPr lang="en-US" sz="150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500" b="1" dirty="0" err="1">
                <a:solidFill>
                  <a:srgbClr val="042B5A"/>
                </a:solidFill>
                <a:latin typeface="Montserrat" pitchFamily="34" charset="0"/>
              </a:rPr>
              <a:t>pelo</a:t>
            </a:r>
            <a:r>
              <a:rPr lang="en-US" sz="150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500" b="1" dirty="0" err="1">
                <a:solidFill>
                  <a:srgbClr val="042B5A"/>
                </a:solidFill>
                <a:latin typeface="Montserrat" pitchFamily="34" charset="0"/>
              </a:rPr>
              <a:t>trabalho</a:t>
            </a:r>
            <a:r>
              <a:rPr lang="en-US" sz="1500" b="1" dirty="0">
                <a:solidFill>
                  <a:srgbClr val="042B5A"/>
                </a:solidFill>
                <a:latin typeface="Montserrat" pitchFamily="34" charset="0"/>
              </a:rPr>
              <a:t> e pela </a:t>
            </a:r>
            <a:r>
              <a:rPr lang="en-US" sz="1500" b="1" dirty="0" err="1">
                <a:solidFill>
                  <a:srgbClr val="042B5A"/>
                </a:solidFill>
                <a:latin typeface="Montserrat" pitchFamily="34" charset="0"/>
              </a:rPr>
              <a:t>disposição</a:t>
            </a:r>
            <a:r>
              <a:rPr lang="en-US" sz="1500" b="1" dirty="0">
                <a:solidFill>
                  <a:srgbClr val="042B5A"/>
                </a:solidFill>
                <a:latin typeface="Montserrat" pitchFamily="34" charset="0"/>
              </a:rPr>
              <a:t>!</a:t>
            </a:r>
            <a:endParaRPr lang="en-US" sz="1500" dirty="0"/>
          </a:p>
        </p:txBody>
      </p:sp>
      <p:pic>
        <p:nvPicPr>
          <p:cNvPr id="2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632704"/>
            <a:ext cx="1463040" cy="8695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lulares e equipamentos eletron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CELULARES E EQUIPAMENTOS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pedidos, um procedimento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 recolhe na entrada; Presidente confere na mesa. Quem resistir, vota mesmo assim — mas fica registrado.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566928" y="1750000"/>
            <a:ext cx="5380000" cy="1700000"/>
          </a:xfrm>
          <a:prstGeom prst="roundRect">
            <a:avLst/>
          </a:prstGeom>
          <a:solidFill>
            <a:srgbClr val="FFFFFF"/>
          </a:solidFill>
          <a:ln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Circle 8"/>
          <p:cNvSpPr/>
          <p:nvPr/>
        </p:nvSpPr>
        <p:spPr>
          <a:xfrm>
            <a:off x="846928" y="2030000"/>
            <a:ext cx="480000" cy="4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/>
          <p:cNvSpPr txBox="1"/>
          <p:nvPr/>
        </p:nvSpPr>
        <p:spPr>
          <a:xfrm>
            <a:off x="846928" y="203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1476928" y="2010000"/>
            <a:ext cx="419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500" dirty="0"/>
          </a:p>
        </p:txBody>
      </p:sp>
      <p:sp>
        <p:nvSpPr>
          <p:cNvPr id="11" name="Text 11"/>
          <p:cNvSpPr txBox="1"/>
          <p:nvPr/>
        </p:nvSpPr>
        <p:spPr>
          <a:xfrm>
            <a:off x="846928" y="2590000"/>
            <a:ext cx="4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pede na entrada</a:t>
            </a:r>
            <a:endParaRPr lang="en-US" sz="1000" dirty="0"/>
          </a:p>
        </p:txBody>
      </p:sp>
      <p:sp>
        <p:nvSpPr>
          <p:cNvPr id="12" name="Text 12"/>
          <p:cNvSpPr txBox="1"/>
          <p:nvPr/>
        </p:nvSpPr>
        <p:spPr>
          <a:xfrm>
            <a:off x="846928" y="2850000"/>
            <a:ext cx="48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 pedir para as pessoas já deixarem o celular em mãos — ele será recolhido.</a:t>
            </a:r>
            <a:endParaRPr lang="en-US" sz="1050" dirty="0"/>
          </a:p>
        </p:txBody>
      </p:sp>
      <p:sp>
        <p:nvSpPr>
          <p:cNvPr id="13" name="Card 13"/>
          <p:cNvSpPr/>
          <p:nvPr/>
        </p:nvSpPr>
        <p:spPr>
          <a:xfrm>
            <a:off x="6244767" y="1750000"/>
            <a:ext cx="5380000" cy="1700000"/>
          </a:xfrm>
          <a:prstGeom prst="roundRect">
            <a:avLst/>
          </a:prstGeom>
          <a:solidFill>
            <a:srgbClr val="FFFFFF"/>
          </a:solidFill>
          <a:ln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Circle 14"/>
          <p:cNvSpPr/>
          <p:nvPr/>
        </p:nvSpPr>
        <p:spPr>
          <a:xfrm>
            <a:off x="6524767" y="2030000"/>
            <a:ext cx="480000" cy="4800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5"/>
          <p:cNvSpPr txBox="1"/>
          <p:nvPr/>
        </p:nvSpPr>
        <p:spPr>
          <a:xfrm>
            <a:off x="6524767" y="203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7154767" y="2010000"/>
            <a:ext cx="419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500" dirty="0"/>
          </a:p>
        </p:txBody>
      </p:sp>
      <p:sp>
        <p:nvSpPr>
          <p:cNvPr id="17" name="Text 17"/>
          <p:cNvSpPr txBox="1"/>
          <p:nvPr/>
        </p:nvSpPr>
        <p:spPr>
          <a:xfrm>
            <a:off x="6524767" y="2590000"/>
            <a:ext cx="4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na mesa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6524767" y="2850000"/>
            <a:ext cx="48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Pede para o eleitor deixar o celular na mesa, junto com outros equipamentos eletrônicos — óculos da Meta, smartwatch.</a:t>
            </a:r>
            <a:endParaRPr lang="en-US" sz="1050" dirty="0"/>
          </a:p>
        </p:txBody>
      </p:sp>
      <p:sp>
        <p:nvSpPr>
          <p:cNvPr id="19" name="Text 19"/>
          <p:cNvSpPr txBox="1"/>
          <p:nvPr/>
        </p:nvSpPr>
        <p:spPr>
          <a:xfrm>
            <a:off x="566928" y="36000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PROCEDIMENTO</a:t>
            </a:r>
            <a:endParaRPr lang="en-US" sz="900" dirty="0"/>
          </a:p>
        </p:txBody>
      </p:sp>
      <p:sp>
        <p:nvSpPr>
          <p:cNvPr id="20" name="Circle 20"/>
          <p:cNvSpPr/>
          <p:nvPr/>
        </p:nvSpPr>
        <p:spPr>
          <a:xfrm>
            <a:off x="566928" y="3884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Text 21"/>
          <p:cNvSpPr txBox="1"/>
          <p:nvPr/>
        </p:nvSpPr>
        <p:spPr>
          <a:xfrm>
            <a:off x="566928" y="3884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000000" y="3880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Pergunte ao eleitor se está portando celular ou algum equipamento eletrônico.</a:t>
            </a:r>
            <a:endParaRPr lang="en-US" sz="1050" dirty="0"/>
          </a:p>
        </p:txBody>
      </p:sp>
      <p:sp>
        <p:nvSpPr>
          <p:cNvPr id="23" name="Divider 23"/>
          <p:cNvSpPr/>
          <p:nvPr/>
        </p:nvSpPr>
        <p:spPr>
          <a:xfrm>
            <a:off x="566928" y="4224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Circle 24"/>
          <p:cNvSpPr/>
          <p:nvPr/>
        </p:nvSpPr>
        <p:spPr>
          <a:xfrm>
            <a:off x="566928" y="4232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5"/>
          <p:cNvSpPr txBox="1"/>
          <p:nvPr/>
        </p:nvSpPr>
        <p:spPr>
          <a:xfrm>
            <a:off x="566928" y="4232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1000000" y="4228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disser que não, avise que usar o celular dentro da cabine também conta como equipamento eletrônico — e também não é permitido.</a:t>
            </a:r>
            <a:endParaRPr lang="en-US" sz="1050" dirty="0"/>
          </a:p>
        </p:txBody>
      </p:sp>
      <p:sp>
        <p:nvSpPr>
          <p:cNvPr id="27" name="Divider 27"/>
          <p:cNvSpPr/>
          <p:nvPr/>
        </p:nvSpPr>
        <p:spPr>
          <a:xfrm>
            <a:off x="566928" y="4572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Circle 28"/>
          <p:cNvSpPr/>
          <p:nvPr/>
        </p:nvSpPr>
        <p:spPr>
          <a:xfrm>
            <a:off x="566928" y="4580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566928" y="458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000000" y="4576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o eleitor resistir, deixe-o votar: não impeça a votação por causa disso.</a:t>
            </a:r>
            <a:endParaRPr lang="en-US" sz="1050" dirty="0"/>
          </a:p>
        </p:txBody>
      </p:sp>
      <p:sp>
        <p:nvSpPr>
          <p:cNvPr id="31" name="Divider 31"/>
          <p:cNvSpPr/>
          <p:nvPr/>
        </p:nvSpPr>
        <p:spPr>
          <a:xfrm>
            <a:off x="566928" y="4920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Circle 32"/>
          <p:cNvSpPr/>
          <p:nvPr/>
        </p:nvSpPr>
        <p:spPr>
          <a:xfrm>
            <a:off x="566928" y="4928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Text 33"/>
          <p:cNvSpPr txBox="1"/>
          <p:nvPr/>
        </p:nvSpPr>
        <p:spPr>
          <a:xfrm>
            <a:off x="566928" y="4928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4"/>
          <p:cNvSpPr txBox="1"/>
          <p:nvPr/>
        </p:nvSpPr>
        <p:spPr>
          <a:xfrm>
            <a:off x="1000000" y="4924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a marcação no caderno.</a:t>
            </a:r>
            <a:endParaRPr lang="en-US" sz="1050" dirty="0"/>
          </a:p>
        </p:txBody>
      </p:sp>
      <p:sp>
        <p:nvSpPr>
          <p:cNvPr id="35" name="Divider 35"/>
          <p:cNvSpPr/>
          <p:nvPr/>
        </p:nvSpPr>
        <p:spPr>
          <a:xfrm>
            <a:off x="566928" y="5268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6" name="Circle 36"/>
          <p:cNvSpPr/>
          <p:nvPr/>
        </p:nvSpPr>
        <p:spPr>
          <a:xfrm>
            <a:off x="566928" y="5276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7" name="Text 37"/>
          <p:cNvSpPr txBox="1"/>
          <p:nvPr/>
        </p:nvSpPr>
        <p:spPr>
          <a:xfrm>
            <a:off x="566928" y="5276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1000000" y="5272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Registre em ata quando houver tempo hábil — mesa vazia ou depois da votação.</a:t>
            </a:r>
            <a:endParaRPr lang="en-US" sz="1050" dirty="0"/>
          </a:p>
        </p:txBody>
      </p:sp>
      <p:sp>
        <p:nvSpPr>
          <p:cNvPr id="39" name="Banner 39"/>
          <p:cNvSpPr/>
          <p:nvPr/>
        </p:nvSpPr>
        <p:spPr>
          <a:xfrm>
            <a:off x="566928" y="5770000"/>
            <a:ext cx="11057839" cy="750000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0" name="BannerText 40"/>
          <p:cNvSpPr txBox="1"/>
          <p:nvPr/>
        </p:nvSpPr>
        <p:spPr>
          <a:xfrm>
            <a:off x="908423" y="5770000"/>
            <a:ext cx="10289743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DEIXE ELEITOR QUE ESTEJA CRIANDO CASO IMPEDIR O FLUXO DE VOTAÇÃO.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100" i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“O tumulto de um não pode virar o tumulto de todos.”</a:t>
            </a:r>
            <a:endParaRPr lang="en-US" sz="1100" i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ific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primeiro, presencial por exceção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justificativa pode ser feita pelo site do TSE, sem comparecer. Quem insistir em ser justificado presencialmente segue outro caminho.</a:t>
            </a:r>
            <a:endParaRPr lang="en-US" sz="1200" dirty="0"/>
          </a:p>
        </p:txBody>
      </p:sp>
      <p:sp>
        <p:nvSpPr>
          <p:cNvPr id="7" name="StepCard 7"/>
          <p:cNvSpPr/>
          <p:nvPr/>
        </p:nvSpPr>
        <p:spPr>
          <a:xfrm>
            <a:off x="566928" y="2011680"/>
            <a:ext cx="2568576" cy="1481328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8"/>
          <p:cNvSpPr txBox="1"/>
          <p:nvPr/>
        </p:nvSpPr>
        <p:spPr>
          <a:xfrm>
            <a:off x="786928" y="2231680"/>
            <a:ext cx="212857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Informar</a:t>
            </a:r>
            <a:endParaRPr lang="en-US" sz="1700" dirty="0"/>
          </a:p>
        </p:txBody>
      </p:sp>
      <p:sp>
        <p:nvSpPr>
          <p:cNvPr id="9" name="Text 9"/>
          <p:cNvSpPr txBox="1"/>
          <p:nvPr/>
        </p:nvSpPr>
        <p:spPr>
          <a:xfrm>
            <a:off x="786928" y="2791680"/>
            <a:ext cx="212857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TSE, on-line</a:t>
            </a:r>
            <a:endParaRPr lang="en-US" sz="1000" dirty="0"/>
          </a:p>
        </p:txBody>
      </p:sp>
      <p:sp>
        <p:nvSpPr>
          <p:cNvPr id="10" name="Arrow 10"/>
          <p:cNvSpPr/>
          <p:nvPr/>
        </p:nvSpPr>
        <p:spPr>
          <a:xfrm rot="5400000">
            <a:off x="3162936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StepCard 11"/>
          <p:cNvSpPr/>
          <p:nvPr/>
        </p:nvSpPr>
        <p:spPr>
          <a:xfrm>
            <a:off x="3822192" y="2011680"/>
            <a:ext cx="2027596" cy="148132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2"/>
          <p:cNvSpPr txBox="1"/>
          <p:nvPr/>
        </p:nvSpPr>
        <p:spPr>
          <a:xfrm>
            <a:off x="4042192" y="2231680"/>
            <a:ext cx="158759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Insistiu</a:t>
            </a:r>
            <a:endParaRPr lang="en-US" sz="1700" dirty="0"/>
          </a:p>
        </p:txBody>
      </p:sp>
      <p:sp>
        <p:nvSpPr>
          <p:cNvPr id="13" name="Text 13"/>
          <p:cNvSpPr txBox="1"/>
          <p:nvPr/>
        </p:nvSpPr>
        <p:spPr>
          <a:xfrm>
            <a:off x="4042192" y="2791680"/>
            <a:ext cx="158759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vai ao apoio</a:t>
            </a:r>
            <a:endParaRPr lang="en-US" sz="1000" dirty="0"/>
          </a:p>
        </p:txBody>
      </p:sp>
      <p:sp>
        <p:nvSpPr>
          <p:cNvPr id="14" name="Arrow 14"/>
          <p:cNvSpPr/>
          <p:nvPr/>
        </p:nvSpPr>
        <p:spPr>
          <a:xfrm rot="5400000">
            <a:off x="5877220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tepCard 15"/>
          <p:cNvSpPr/>
          <p:nvPr/>
        </p:nvSpPr>
        <p:spPr>
          <a:xfrm>
            <a:off x="6636382" y="2011680"/>
            <a:ext cx="2027596" cy="148132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6"/>
          <p:cNvSpPr txBox="1"/>
          <p:nvPr/>
        </p:nvSpPr>
        <p:spPr>
          <a:xfrm>
            <a:off x="6856382" y="2231680"/>
            <a:ext cx="158759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Encaminhar</a:t>
            </a:r>
            <a:endParaRPr lang="en-US" sz="1700" dirty="0"/>
          </a:p>
        </p:txBody>
      </p:sp>
      <p:sp>
        <p:nvSpPr>
          <p:cNvPr id="17" name="Text 17"/>
          <p:cNvSpPr txBox="1"/>
          <p:nvPr/>
        </p:nvSpPr>
        <p:spPr>
          <a:xfrm>
            <a:off x="6856382" y="2791680"/>
            <a:ext cx="158759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 movimento</a:t>
            </a:r>
            <a:endParaRPr lang="en-US" sz="1000" dirty="0"/>
          </a:p>
        </p:txBody>
      </p:sp>
      <p:sp>
        <p:nvSpPr>
          <p:cNvPr id="18" name="InfoBox 18"/>
          <p:cNvSpPr/>
          <p:nvPr/>
        </p:nvSpPr>
        <p:spPr>
          <a:xfrm>
            <a:off x="8873204" y="2011680"/>
            <a:ext cx="2751563" cy="1481328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9"/>
          <p:cNvSpPr txBox="1"/>
          <p:nvPr/>
        </p:nvSpPr>
        <p:spPr>
          <a:xfrm>
            <a:off x="9133204" y="2211680"/>
            <a:ext cx="2251563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quê</a:t>
            </a:r>
            <a:endParaRPr lang="en-US" sz="1150" dirty="0"/>
          </a:p>
        </p:txBody>
      </p:sp>
      <p:sp>
        <p:nvSpPr>
          <p:cNvPr id="20" name="Text 20"/>
          <p:cNvSpPr txBox="1"/>
          <p:nvPr/>
        </p:nvSpPr>
        <p:spPr>
          <a:xfrm>
            <a:off x="9133204" y="2491680"/>
            <a:ext cx="2251563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Preserva o fluxo: quem só confirma ausência não compete pela fila de quem vai votar.</a:t>
            </a:r>
            <a:endParaRPr lang="en-US" sz="1050" dirty="0"/>
          </a:p>
        </p:txBody>
      </p:sp>
      <p:sp>
        <p:nvSpPr>
          <p:cNvPr id="21" name="Text 21"/>
          <p:cNvSpPr txBox="1"/>
          <p:nvPr/>
        </p:nvSpPr>
        <p:spPr>
          <a:xfrm>
            <a:off x="566928" y="37430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22" name="Bullet 22"/>
          <p:cNvSpPr/>
          <p:nvPr/>
        </p:nvSpPr>
        <p:spPr>
          <a:xfrm>
            <a:off x="566928" y="406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3"/>
          <p:cNvSpPr txBox="1"/>
          <p:nvPr/>
        </p:nvSpPr>
        <p:spPr>
          <a:xfrm>
            <a:off x="566928" y="406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4"/>
          <p:cNvSpPr txBox="1"/>
          <p:nvPr/>
        </p:nvSpPr>
        <p:spPr>
          <a:xfrm>
            <a:off x="1000000" y="402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Secretário ou os Mesários informam o eleitor de que a justificativa pode ser feita on-line, no site do TSE, sem comparecer — e pedem que ele faça assim, para não prejudicar o fluxo de votação.</a:t>
            </a:r>
            <a:endParaRPr lang="en-US" sz="1050" dirty="0"/>
          </a:p>
        </p:txBody>
      </p:sp>
      <p:sp>
        <p:nvSpPr>
          <p:cNvPr id="25" name="Bullet 25"/>
          <p:cNvSpPr/>
          <p:nvPr/>
        </p:nvSpPr>
        <p:spPr>
          <a:xfrm>
            <a:off x="566928" y="468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6"/>
          <p:cNvSpPr txBox="1"/>
          <p:nvPr/>
        </p:nvSpPr>
        <p:spPr>
          <a:xfrm>
            <a:off x="566928" y="468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1000000" y="464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mesmo assim o eleitor insistir em ser justificado presencialmente, o Secretário o direciona ao pessoal de apoio, que estará no centro do salão.</a:t>
            </a:r>
            <a:endParaRPr lang="en-US" sz="1050" dirty="0"/>
          </a:p>
        </p:txBody>
      </p:sp>
      <p:sp>
        <p:nvSpPr>
          <p:cNvPr id="28" name="Bullet 28"/>
          <p:cNvSpPr/>
          <p:nvPr/>
        </p:nvSpPr>
        <p:spPr>
          <a:xfrm>
            <a:off x="566928" y="530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566928" y="530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000000" y="526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encaminha o eleitor a uma das mesas com menor número de eleitores esperados — a de menor movimento.</a:t>
            </a:r>
            <a:endParaRPr lang="en-US" sz="1050" dirty="0"/>
          </a:p>
        </p:txBody>
      </p:sp>
      <p:sp>
        <p:nvSpPr>
          <p:cNvPr id="31" name="Banner 31"/>
          <p:cNvSpPr/>
          <p:nvPr/>
        </p:nvSpPr>
        <p:spPr>
          <a:xfrm>
            <a:off x="566928" y="5983008"/>
            <a:ext cx="11057839" cy="640000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2"/>
          <p:cNvSpPr txBox="1"/>
          <p:nvPr/>
        </p:nvSpPr>
        <p:spPr>
          <a:xfrm>
            <a:off x="908423" y="5983008"/>
            <a:ext cx="10289743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objetivo é simples: quem só vai justificar não deve competir pela fila de quem vai votar.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2487</Words>
  <Application>Microsoft Office PowerPoint</Application>
  <PresentationFormat>Widescreen</PresentationFormat>
  <Paragraphs>396</Paragraphs>
  <Slides>16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Eleições 2026 · Briefing da equipe</dc:title>
  <dc:subject>PptxGenJS Presentation</dc:subject>
  <dc:creator>Posto de Dublin</dc:creator>
  <cp:lastModifiedBy>Hamad Mota Kalaf</cp:lastModifiedBy>
  <cp:revision>3</cp:revision>
  <dcterms:created xsi:type="dcterms:W3CDTF">2026-09-23T06:00:18Z</dcterms:created>
  <dcterms:modified xsi:type="dcterms:W3CDTF">2026-09-23T17:42:48Z</dcterms:modified>
</cp:coreProperties>
</file>