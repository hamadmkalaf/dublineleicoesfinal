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2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ELEIÇÕES 2026 · 1º TURNO · DOMINGO, 4 DE OUTUBRO · 8H ÀS 17H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773936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Briefing da equipe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926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 e apoio do Posto de Dublin. O que muda no dia, quem faz o quê, como a mesa trabalha — e como se fala com quem está do outro lado do salão.</a:t>
            </a:r>
            <a:endParaRPr lang="en-US" sz="1350" dirty="0"/>
          </a:p>
        </p:txBody>
      </p:sp>
      <p:pic>
        <p:nvPicPr>
          <p:cNvPr id="7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10512"/>
            <a:ext cx="2743200" cy="163129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692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SEÇÕES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333138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333138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16.794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6095848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APTOS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8860307" y="4983480"/>
            <a:ext cx="25815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860307" y="5577840"/>
            <a:ext cx="25815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 DE CHEGADA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Embaixada do Brasil em Dublin · RDS, Hall 2, Merrion Road, Ballsbridge, Dublin 4 · 2º turno, se houver: domingo, 25 de outubro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NESTA REUNIÃO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assuntos. Os quatro primeiros são sobre você; os dois últimos, sobre o eleitor.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236976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Montagem, chegada, zerésima, encerramento — e a segunda-feira.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56506" y="2103120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4667402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466740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7402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67402" y="3236976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sair, quem cobre, e por que a janela é 11h–14h.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46085" y="2103120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8456981" y="2414016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8456981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456981" y="288950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Dias de folga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56981" y="3236976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 trabalhado, treinamento incluído.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370832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877824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77824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77824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e apoio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5504688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são mesários. Quem, além disso, é apoio — e o que o apoio faz.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56506" y="4370832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4667402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4667402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67402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667402" y="5504688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com os Presidentes de Mesa; walkie-talkie entre os líderes do apoio.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46085" y="4370832"/>
            <a:ext cx="3478682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8456981" y="4681728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 txBox="1"/>
          <p:nvPr/>
        </p:nvSpPr>
        <p:spPr>
          <a:xfrm>
            <a:off x="8456981" y="4681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456981" y="5157216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456981" y="5504688"/>
            <a:ext cx="28568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 portão até a urna, e o que acontece dentro da mesa.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dias, dois relógios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hora da montagem é folgada. A hora do domingo não é: ela é ditada pela zerésima.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DA MONTAGEM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066544"/>
            <a:ext cx="11057839" cy="749808"/>
          </a:xfrm>
          <a:prstGeom prst="roundRect">
            <a:avLst>
              <a:gd name="adj" fmla="val 609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066544"/>
            <a:ext cx="82296" cy="74980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77824" y="2066544"/>
            <a:ext cx="1050919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partir das 9h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·   montagem do Hall 2 e do pátio do Ring 3, conferência das mesas e da sinalização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0175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DOMINGO, 4 DE OUTUBRO · DIA DA ELEIÇÃO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81328" y="4041648"/>
            <a:ext cx="9229039" cy="3200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1481328" y="4041648"/>
            <a:ext cx="3076346" cy="3200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1385316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612648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6h30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12648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chegada de todos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61662" y="3963924"/>
            <a:ext cx="192024" cy="192024"/>
          </a:xfrm>
          <a:prstGeom prst="ellipse">
            <a:avLst/>
          </a:prstGeom>
          <a:solidFill>
            <a:srgbClr val="C8102E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3688994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7h00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3688994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Zerésima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688994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emitida e assinada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38009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765341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8h00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765341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Abertura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65341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primeiro eleitor entra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614355" y="3963924"/>
            <a:ext cx="192024" cy="192024"/>
          </a:xfrm>
          <a:prstGeom prst="ellipse">
            <a:avLst/>
          </a:prstGeom>
          <a:solidFill>
            <a:srgbClr val="042B5A"/>
          </a:solidFill>
          <a:ln w="25400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9841687" y="340156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17h00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841687" y="42793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Encerramento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841687" y="45171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fecha a fila, não a urna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4956048"/>
            <a:ext cx="6675120" cy="1170432"/>
          </a:xfrm>
          <a:prstGeom prst="roundRect">
            <a:avLst>
              <a:gd name="adj" fmla="val 390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932688" y="51389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6h30?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" y="546811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Porque às 7h00 a zerésima tem de estar emitida. É a única hora do dia que não se recupera: tudo o que vier depois depende dela ter saído no horário.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89520" y="4956048"/>
            <a:ext cx="4035247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7900416" y="5138928"/>
            <a:ext cx="1207008" cy="237744"/>
          </a:xfrm>
          <a:prstGeom prst="roundRect">
            <a:avLst>
              <a:gd name="adj" fmla="val 38462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7900416" y="513892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DECISÃO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900416" y="5468112"/>
            <a:ext cx="3413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Expediente reduzido na segunda-feira, 5 de outubro: a proposta foi feita e está sob consideração do Embaixador.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segurança contratada cobre 7h30–17h30, mais uma pessoa na véspera.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Sai um, fica o outro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há escala central de almoço. Cada mesa se organiza por dentro — o que o Posto oferece é a janela.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 · MENOR MOVIMENTO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 às 14h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vale do dia na leitura dos logs de votação de anos anteriores. Fora dessa faixa, a fila cobra.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de cada vez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pessoa cobre a outra dentro da própria mesa. A mesa nunca fica sem quem busca no caderno.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23360"/>
            <a:ext cx="3478682" cy="1700784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34256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35424"/>
            <a:ext cx="28568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 autoriza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4901184"/>
            <a:ext cx="28568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saída é combinada com o Presidente da Mesa, que conhece o tamanho da fila naquele minuto.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faixa de menor movimento vem da leitura dos logs de votação de anos anteriores. É uma janela indicativa, não uma previsão medida para 2026.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COMPENSAÇÃO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dias para cada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 o dia da eleição e contam os treinamentos: cada dia em que você participar vale dois.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2121408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194560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809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TRABALHADO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182112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eleição ou treinamento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rot="5400000">
            <a:off x="3072384" y="2569464"/>
            <a:ext cx="310896" cy="365760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3822192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3822192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4634" y="2011680"/>
            <a:ext cx="1654698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5714634" y="2194560"/>
            <a:ext cx="165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714634" y="2980944"/>
            <a:ext cx="16546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DE FOLGA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882128" y="2011680"/>
            <a:ext cx="3742639" cy="1481328"/>
          </a:xfrm>
          <a:prstGeom prst="roundRect">
            <a:avLst>
              <a:gd name="adj" fmla="val 3086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819302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se conta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26334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os dias em que você participou — a eleição e cada treinamento — e multiplique por dois. É esse o seu saldo.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Shape 20"/>
          <p:cNvSpPr/>
          <p:nvPr/>
        </p:nvSpPr>
        <p:spPr>
          <a:xfrm>
            <a:off x="877824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877824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 inteiro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7824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folga não se fraciona. Usa-se o dia todo, não meio período.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56506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Shape 24"/>
          <p:cNvSpPr/>
          <p:nvPr/>
        </p:nvSpPr>
        <p:spPr>
          <a:xfrm>
            <a:off x="4667402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4667402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Prazo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67402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Vamos fixar um prazo para o usufruto — o direito não fica em aberto sem data.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46085" y="4517136"/>
            <a:ext cx="3478682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8456981" y="4828032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456981" y="5029200"/>
            <a:ext cx="28568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escrito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456981" y="5376672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nota com as regras e o prazo será enviada a todos.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Todos são mesários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não é outra equipe: é uma função a mais, para oito pessoas que também estão na mesa.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029968"/>
            <a:ext cx="4297680" cy="3017520"/>
          </a:xfrm>
          <a:prstGeom prst="roundRect">
            <a:avLst>
              <a:gd name="adj" fmla="val 1515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950976" y="23408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27797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mundo desta sala.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163824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a função nomeada, com treinamento próprio, e é a única que identifica o eleitor. Nenhuma outra pessoa no RDS confere documento.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315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mesa: Presidente, Secretário, 1º e 2º mesário.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20299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· 8 PESSOAS, ALÉM DE MESÁRIAS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285232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5559552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Adelson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2160" y="2340864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8866480" y="2340864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Anecy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285232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5559552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Cristiana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2160" y="3108960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8866480" y="3108960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85232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559552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92160" y="3877056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866480" y="3877056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Laís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285232" y="4645152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E8C63A"/>
          </a:solidFill>
          <a:ln w="19050">
            <a:solidFill>
              <a:srgbClr val="E8C63A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5559552" y="4645152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Mariá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2160" y="4645152"/>
            <a:ext cx="30326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66480" y="4645152"/>
            <a:ext cx="2483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 Inês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5358384"/>
            <a:ext cx="11057839" cy="768096"/>
          </a:xfrm>
          <a:prstGeom prst="roundRect">
            <a:avLst>
              <a:gd name="adj" fmla="val 5952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0" name="Shape 28"/>
          <p:cNvSpPr/>
          <p:nvPr/>
        </p:nvSpPr>
        <p:spPr>
          <a:xfrm>
            <a:off x="566928" y="5358384"/>
            <a:ext cx="82296" cy="768096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1" name="Text 29"/>
          <p:cNvSpPr txBox="1"/>
          <p:nvPr/>
        </p:nvSpPr>
        <p:spPr>
          <a:xfrm>
            <a:off x="877824" y="5358384"/>
            <a:ext cx="1041775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estudo:</a:t>
            </a:r>
            <a:r>
              <a:rPr lang="en-US" sz="11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a substituição de Mariá por Bianca no grupo de apoio. Nada muda na condição de mesária de nenhuma das duas.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E VOLUNTÁRIOS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apoio coordena, não substitui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dia teremos voluntários no percurso. A função do apoio da Embaixada é coordená-los em pontos definidos — não fazer o trabalho deles.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02996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CANDIDATOS, PELO PLANO DE VOLUNTÁRIOS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Calçada da Merrion Road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mesa "descubra sua seção", fora do portão. Resolve quem chega sem o número.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22387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4" name="Shape 12"/>
          <p:cNvSpPr/>
          <p:nvPr/>
        </p:nvSpPr>
        <p:spPr>
          <a:xfrm>
            <a:off x="3078419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Text 13"/>
          <p:cNvSpPr txBox="1"/>
          <p:nvPr/>
        </p:nvSpPr>
        <p:spPr>
          <a:xfrm>
            <a:off x="3078419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78419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trecho de fundo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078419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a corrente se reparte entre as zonas C, B e 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77846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5333878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33387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33878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Ring 3 · cabeça de fila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33878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pessoa por zona, no ponto em que a fila encontra o apron.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33305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4" name="Shape 22"/>
          <p:cNvSpPr/>
          <p:nvPr/>
        </p:nvSpPr>
        <p:spPr>
          <a:xfrm>
            <a:off x="7589337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7589337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S7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589337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porta preferencial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89337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Idoso, gestante, pessoa com deficiência e quem os acompanha.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88764" y="2304288"/>
            <a:ext cx="2036003" cy="2249424"/>
          </a:xfrm>
          <a:prstGeom prst="roundRect">
            <a:avLst>
              <a:gd name="adj" fmla="val 22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9" name="Shape 27"/>
          <p:cNvSpPr/>
          <p:nvPr/>
        </p:nvSpPr>
        <p:spPr>
          <a:xfrm>
            <a:off x="9844796" y="2560320"/>
            <a:ext cx="402336" cy="40233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984479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844796" y="3072384"/>
            <a:ext cx="15239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Hall 2 · mesas de alta carga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844796" y="3657600"/>
            <a:ext cx="152393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três maiores: 3313, 3315 e 3322.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4846320"/>
            <a:ext cx="5577840" cy="1389888"/>
          </a:xfrm>
          <a:prstGeom prst="roundRect">
            <a:avLst>
              <a:gd name="adj" fmla="val 3289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5102352"/>
            <a:ext cx="1389888" cy="237744"/>
          </a:xfrm>
          <a:prstGeom prst="roundRect">
            <a:avLst>
              <a:gd name="adj" fmla="val 38462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510235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8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 DEFINIÇÃO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449824"/>
            <a:ext cx="4956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pontos e as escalas ainda não estão fechados. Saem em reunião só com o apoio, marcada em breve.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55664" y="4846320"/>
            <a:ext cx="5169103" cy="1389888"/>
          </a:xfrm>
          <a:prstGeom prst="roundRect">
            <a:avLst>
              <a:gd name="adj" fmla="val 3289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6766560" y="5102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C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regra do voluntário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543153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Orienta, não decide. Não toca em documento, não confere título e não diz a ninguém se pode votar. Identificação é monopólio do mesário.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COMUNICAÇÃO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canais, cada um com um dono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canal para as decisões da mesa, outro para o que acontece no chão do salão. Não se misturam.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950976" y="2523744"/>
            <a:ext cx="566928" cy="512064"/>
          </a:xfrm>
          <a:prstGeom prst="roundRect">
            <a:avLst>
              <a:gd name="adj" fmla="val 25000"/>
            </a:avLst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 rot="10800000">
            <a:off x="1042416" y="2990088"/>
            <a:ext cx="182880" cy="164592"/>
          </a:xfrm>
          <a:prstGeom prst="triangl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682496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Grupo de WhatsApp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682496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decisões da mesa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está no grupo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Presidentes de Mesa, Hamad, João e Marcelo.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0976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1225296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grupo é apagado imediatamente depois da eleição.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97016" y="2139696"/>
            <a:ext cx="5327752" cy="2871216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Shape 14"/>
          <p:cNvSpPr/>
          <p:nvPr/>
        </p:nvSpPr>
        <p:spPr>
          <a:xfrm>
            <a:off x="6717640" y="2560320"/>
            <a:ext cx="365760" cy="512064"/>
          </a:xfrm>
          <a:prstGeom prst="roundRect">
            <a:avLst>
              <a:gd name="adj" fmla="val 22500"/>
            </a:avLst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Shape 15"/>
          <p:cNvSpPr/>
          <p:nvPr/>
        </p:nvSpPr>
        <p:spPr>
          <a:xfrm>
            <a:off x="7010248" y="2395728"/>
            <a:ext cx="45720" cy="182880"/>
          </a:xfrm>
          <a:prstGeom prst="rect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781648" y="2651760"/>
            <a:ext cx="237744" cy="3657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7412584" y="2560320"/>
            <a:ext cx="386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Walkie-talkie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412584" y="2926080"/>
            <a:ext cx="386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chão do salão, em tempo real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681064" y="3383280"/>
            <a:ext cx="455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9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fala
</a:t>
            </a:r>
            <a:endParaRPr lang="en-US" sz="9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líderes das equipes de apoio, entre si.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81064" y="4261104"/>
            <a:ext cx="4559656" cy="512064"/>
          </a:xfrm>
          <a:prstGeom prst="roundRect">
            <a:avLst>
              <a:gd name="adj" fmla="val 10714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955384" y="4261104"/>
            <a:ext cx="401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Percurso, filas e incidentes — não procedimento de mesa.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13248"/>
            <a:ext cx="11057839" cy="914400"/>
          </a:xfrm>
          <a:prstGeom prst="roundRect">
            <a:avLst>
              <a:gd name="adj" fmla="val 500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950976" y="5413248"/>
            <a:ext cx="1028974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Dúvida de procedimento sobe pelo Presidente da Mesa — nunca pelo rádio, nunca pelo voluntário.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PASSO A PASSO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700" b="1">
                <a:solidFill>
                  <a:srgbClr val="042B5A"/>
                </a:solidFill>
                <a:latin typeface="Montserrat"/>
              </a:rPr>
              <a:t>Da calçada até a urna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833608" y="1207008"/>
            <a:ext cx="414816" cy="5257800"/>
          </a:xfrm>
          <a:prstGeom prst="rect">
            <a:avLst/>
          </a:prstGeom>
          <a:solidFill>
            <a:srgbClr val="D8D3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22128" y="1725528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spc="140">
                <a:solidFill>
                  <a:srgbClr val="6B6B6B"/>
                </a:solidFill>
                <a:latin typeface="Montserrat"/>
              </a:rPr>
              <a:t>MERRION ROAD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50645" y="1258860"/>
            <a:ext cx="0" cy="5154095"/>
          </a:xfrm>
          <a:prstGeom prst="line">
            <a:avLst/>
          </a:prstGeom>
          <a:ln w="25400">
            <a:solidFill>
              <a:srgbClr val="E4DF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22484" y="1414416"/>
            <a:ext cx="2608159" cy="2302231"/>
          </a:xfrm>
          <a:prstGeom prst="rect">
            <a:avLst/>
          </a:prstGeom>
          <a:solidFill>
            <a:srgbClr val="FFFFFF"/>
          </a:solidFill>
          <a:ln w="1778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484" y="2360000"/>
            <a:ext cx="260815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042B5A"/>
                </a:solidFill>
                <a:latin typeface="Montserrat"/>
              </a:rPr>
              <a:t>HALL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484" y="264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6B6B6B"/>
                </a:solidFill>
                <a:latin typeface="Montserrat"/>
              </a:rPr>
              <a:t>o salão de votação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484" y="2800000"/>
            <a:ext cx="260815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as 28 mesas ficam nas paredes — ver o slide seguinte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8374" y="3716648"/>
            <a:ext cx="2281491" cy="725928"/>
          </a:xfrm>
          <a:prstGeom prst="rect">
            <a:avLst/>
          </a:prstGeom>
          <a:solidFill>
            <a:srgbClr val="E4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6152" y="4017390"/>
            <a:ext cx="1463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>
                <a:solidFill>
                  <a:srgbClr val="6B6B6B"/>
                </a:solidFill>
                <a:latin typeface="Montserrat"/>
              </a:rPr>
              <a:t>apron · 14,0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8374" y="4442577"/>
            <a:ext cx="2281491" cy="1814822"/>
          </a:xfrm>
          <a:prstGeom prst="rect">
            <a:avLst/>
          </a:prstGeom>
          <a:solidFill>
            <a:srgbClr val="EDEADB"/>
          </a:solidFill>
          <a:ln w="9525">
            <a:solidFill>
              <a:srgbClr val="6B6B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74309" y="4442577"/>
            <a:ext cx="155556" cy="1814822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8374" y="6101843"/>
            <a:ext cx="2125934" cy="155556"/>
          </a:xfrm>
          <a:prstGeom prst="rect">
            <a:avLst/>
          </a:prstGeom>
          <a:solidFill>
            <a:srgbClr val="DBD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8374" y="6132954"/>
            <a:ext cx="212593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o corredor distribui: C, depois B, depois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8374" y="4442577"/>
            <a:ext cx="667336" cy="1659266"/>
          </a:xfrm>
          <a:prstGeom prst="rect">
            <a:avLst/>
          </a:prstGeom>
          <a:solidFill>
            <a:srgbClr val="33507E">
              <a:alpha val="21999"/>
            </a:srgbClr>
          </a:solidFill>
          <a:ln w="9525">
            <a:solidFill>
              <a:srgbClr val="3350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8374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8374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8374" y="6101843"/>
            <a:ext cx="148815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12006" y="4442577"/>
            <a:ext cx="103704" cy="0"/>
          </a:xfrm>
          <a:prstGeom prst="line">
            <a:avLst/>
          </a:prstGeom>
          <a:ln w="381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63858" y="3716648"/>
            <a:ext cx="202742" cy="725929"/>
          </a:xfrm>
          <a:prstGeom prst="line">
            <a:avLst/>
          </a:prstGeom>
          <a:ln w="2032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777933" y="4442577"/>
            <a:ext cx="666817" cy="1659266"/>
          </a:xfrm>
          <a:prstGeom prst="rect">
            <a:avLst/>
          </a:prstGeom>
          <a:solidFill>
            <a:srgbClr val="E8C63A">
              <a:alpha val="21999"/>
            </a:srgbClr>
          </a:solidFill>
          <a:ln w="9525">
            <a:solidFill>
              <a:srgbClr val="E8C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77933" y="4980000"/>
            <a:ext cx="6668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7933" y="5390000"/>
            <a:ext cx="666817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96453" y="6101843"/>
            <a:ext cx="148297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059489" y="4442577"/>
            <a:ext cx="103705" cy="0"/>
          </a:xfrm>
          <a:prstGeom prst="line">
            <a:avLst/>
          </a:prstGeom>
          <a:ln w="381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111341" y="3716648"/>
            <a:ext cx="77779" cy="725929"/>
          </a:xfrm>
          <a:prstGeom prst="line">
            <a:avLst/>
          </a:prstGeom>
          <a:ln w="2032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506973" y="4442577"/>
            <a:ext cx="667336" cy="1659266"/>
          </a:xfrm>
          <a:prstGeom prst="rect">
            <a:avLst/>
          </a:prstGeom>
          <a:solidFill>
            <a:srgbClr val="C8102E">
              <a:alpha val="21999"/>
            </a:srgbClr>
          </a:solidFill>
          <a:ln w="952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06973" y="4980000"/>
            <a:ext cx="66733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06973" y="5390000"/>
            <a:ext cx="66733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fila da porta 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025493" y="6101843"/>
            <a:ext cx="148816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506973" y="4442577"/>
            <a:ext cx="103704" cy="0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511639" y="3716648"/>
            <a:ext cx="47186" cy="725929"/>
          </a:xfrm>
          <a:prstGeom prst="line">
            <a:avLst/>
          </a:prstGeom>
          <a:ln w="2032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409524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12035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12858" y="3716648"/>
            <a:ext cx="307483" cy="0"/>
          </a:xfrm>
          <a:prstGeom prst="line">
            <a:avLst/>
          </a:prstGeom>
          <a:ln w="5715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68372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035378" y="3716648"/>
            <a:ext cx="307483" cy="0"/>
          </a:xfrm>
          <a:prstGeom prst="line">
            <a:avLst/>
          </a:prstGeom>
          <a:ln w="5715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006240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57898" y="3716648"/>
            <a:ext cx="307483" cy="0"/>
          </a:xfrm>
          <a:prstGeom prst="line">
            <a:avLst/>
          </a:prstGeom>
          <a:ln w="5715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328759" y="3497192"/>
            <a:ext cx="365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697529" y="3716648"/>
            <a:ext cx="65852" cy="0"/>
          </a:xfrm>
          <a:prstGeom prst="line">
            <a:avLst/>
          </a:prstGeom>
          <a:ln w="5715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790813" y="3515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>
                <a:solidFill>
                  <a:srgbClr val="1E3674"/>
                </a:solidFill>
                <a:latin typeface="Montserrat"/>
              </a:rPr>
              <a:t>preferencial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906493" y="3716648"/>
            <a:ext cx="62222" cy="0"/>
          </a:xfrm>
          <a:prstGeom prst="line">
            <a:avLst/>
          </a:prstGeom>
          <a:ln w="5715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709004" y="374408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0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3538051" y="2005529"/>
            <a:ext cx="21259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538051" y="2005529"/>
            <a:ext cx="0" cy="235927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252087" y="4364799"/>
            <a:ext cx="285964" cy="0"/>
          </a:xfrm>
          <a:prstGeom prst="line">
            <a:avLst/>
          </a:prstGeom>
          <a:ln w="27940">
            <a:solidFill>
              <a:srgbClr val="5F88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52087" y="4364799"/>
            <a:ext cx="0" cy="233334"/>
          </a:xfrm>
          <a:prstGeom prst="line">
            <a:avLst/>
          </a:prstGeom>
          <a:ln w="27940">
            <a:solidFill>
              <a:srgbClr val="5F882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971123" y="2990719"/>
            <a:ext cx="1280160" cy="182880"/>
          </a:xfrm>
          <a:prstGeom prst="rect">
            <a:avLst/>
          </a:prstGeom>
          <a:noFill/>
        </p:spPr>
        <p:txBody>
          <a:bodyPr rot="-5400000"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lateral leste do Hall 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63777" y="1918661"/>
            <a:ext cx="173736" cy="173736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477877" y="188665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>
                <a:solidFill>
                  <a:srgbClr val="5F882E"/>
                </a:solidFill>
                <a:latin typeface="Montserrat"/>
              </a:rPr>
              <a:t>PORTÃO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77877" y="205124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 do eleitor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009548" y="1886657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09548" y="1927805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48809" y="302740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48809" y="306855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45808" y="479037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45808" y="483152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992469" y="5697785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992469" y="5738933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070248" y="3784443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070248" y="3825591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0632" y="6309251"/>
            <a:ext cx="1037041" cy="0"/>
          </a:xfrm>
          <a:prstGeom prst="line">
            <a:avLst/>
          </a:prstGeom>
          <a:ln w="15240">
            <a:solidFill>
              <a:srgbClr val="042B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53393" y="6290000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20 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760720" y="122529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760720" y="125730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44768" y="120700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Portão B, na Merrion Road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44768" y="14813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É por ali que o eleitor entra. Antes do portão há uma mesa de consulta: quem não sabe o número da sua seção descobre ali, e anota a letra.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760720" y="20482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760720" y="208026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44768" y="202996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Pela lateral leste do Hall 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44768" y="230428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caminho contorna o salão pelo lado leste e desemboca no apron, entre o Hall 2 e o pátio.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760720" y="287121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760720" y="290322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44768" y="285292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Ring 3, pelo canto nordeste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44768" y="312724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O pátio de fila fica ao ar livre, ao sul do salão. O corredor de chegada distribui para as três zonas: C primeiro, B depois, A no fim.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760720" y="369417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760720" y="372618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4768" y="367588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sua zona, a sua fila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44768" y="395020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Cada zona é a fila de uma porta, e as três têm o mesmo tamanho. Entra-se pela boca no fundo e sai-se pela abertura da frente.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760720" y="451713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5F8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760720" y="4549140"/>
            <a:ext cx="2377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498848"/>
            <a:ext cx="5760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42B5A"/>
                </a:solidFill>
                <a:latin typeface="Montserrat"/>
              </a:rPr>
              <a:t>A porta A, B ou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477316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Atravessado o apron, cada zona entra pela sua porta. Da porta até a mesa é sempre a mesma letra.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5431536"/>
            <a:ext cx="614476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760720" y="5431536"/>
            <a:ext cx="45720" cy="566928"/>
          </a:xfrm>
          <a:prstGeom prst="rect">
            <a:avLst/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961888" y="55595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042B5A"/>
                </a:solidFill>
                <a:latin typeface="Montserrat"/>
              </a:rPr>
              <a:t>Atendimento preferencial: idoso, gestante, pessoa com deficiência e quem os acompanha entram pela porta à direita da C, sem fila.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6492240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O Hall 2, o apron e o pátio do Ring 3 estão em escala e na posição relativa medida em planta. O trecho entre o portão e o apron é esquemático: indica o lado por onde se anda, não a distância.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spc="160">
                <a:solidFill>
                  <a:srgbClr val="5F882E"/>
                </a:solidFill>
                <a:latin typeface="Montserrat"/>
              </a:rPr>
              <a:t>DENTRO DO SALÃO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1">
                <a:solidFill>
                  <a:srgbClr val="042B5A"/>
                </a:solidFill>
                <a:latin typeface="Montserrat"/>
              </a:rPr>
              <a:t>O Hall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603504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6B6B6B"/>
                </a:solidFill>
                <a:latin typeface="Montserrat"/>
              </a:rPr>
              <a:t>As mesas não têm número: cada uma traz as seções que votam nela, que é o que você tem na mão.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51560"/>
            <a:ext cx="5718212" cy="5047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33024" y="1663170"/>
            <a:ext cx="784406" cy="3682165"/>
          </a:xfrm>
          <a:prstGeom prst="rect">
            <a:avLst/>
          </a:prstGeom>
          <a:solidFill>
            <a:srgbClr val="33507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6043" y="1517656"/>
            <a:ext cx="3713996" cy="557042"/>
          </a:xfrm>
          <a:prstGeom prst="rect">
            <a:avLst/>
          </a:prstGeom>
          <a:solidFill>
            <a:srgbClr val="E8C63A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716326" y="1898492"/>
            <a:ext cx="761670" cy="3546883"/>
          </a:xfrm>
          <a:prstGeom prst="rect">
            <a:avLst/>
          </a:prstGeom>
          <a:solidFill>
            <a:srgbClr val="C8102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048609" y="5371482"/>
            <a:ext cx="363782" cy="727565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17431" y="5371482"/>
            <a:ext cx="1594960" cy="341046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17431" y="1551761"/>
            <a:ext cx="341046" cy="4160767"/>
          </a:xfrm>
          <a:prstGeom prst="rect">
            <a:avLst/>
          </a:prstGeom>
          <a:solidFill>
            <a:srgbClr val="33507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3230501" y="5246431"/>
            <a:ext cx="0" cy="738934"/>
          </a:xfrm>
          <a:prstGeom prst="line">
            <a:avLst/>
          </a:prstGeom>
          <a:ln w="25400">
            <a:solidFill>
              <a:srgbClr val="33507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613609" y="2279327"/>
            <a:ext cx="341046" cy="3819720"/>
          </a:xfrm>
          <a:prstGeom prst="rect">
            <a:avLst/>
          </a:prstGeom>
          <a:solidFill>
            <a:srgbClr val="E8C63A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 flipV="1">
            <a:off x="3784133" y="5246431"/>
            <a:ext cx="0" cy="738934"/>
          </a:xfrm>
          <a:prstGeom prst="line">
            <a:avLst/>
          </a:prstGeom>
          <a:ln w="25400">
            <a:solidFill>
              <a:srgbClr val="E8C6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204757" y="5735265"/>
            <a:ext cx="341046" cy="363782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04757" y="5507900"/>
            <a:ext cx="511569" cy="227364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75280" y="1608602"/>
            <a:ext cx="341046" cy="3899298"/>
          </a:xfrm>
          <a:prstGeom prst="rect">
            <a:avLst/>
          </a:prstGeom>
          <a:solidFill>
            <a:srgbClr val="C8102E">
              <a:alpha val="2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 flipV="1">
            <a:off x="4375280" y="5246431"/>
            <a:ext cx="0" cy="738934"/>
          </a:xfrm>
          <a:prstGeom prst="line">
            <a:avLst/>
          </a:prstGeom>
          <a:ln w="25400">
            <a:solidFill>
              <a:srgbClr val="C810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17431" y="2074699"/>
            <a:ext cx="2898895" cy="204627"/>
          </a:xfrm>
          <a:prstGeom prst="rect">
            <a:avLst/>
          </a:prstGeom>
          <a:solidFill>
            <a:srgbClr val="E8C63A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13502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0513 1105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4691662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1352 0522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441882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3078 2847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9754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3179 0530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4903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3313 3889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29307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3309 1314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24873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3142 1278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2145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3161 3307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solidFill>
            <a:srgbClr val="33507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6928" y="17711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3311 3913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6404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8215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0512 2855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0740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2551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1160 3845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571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4382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3315 3778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971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208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3108 3422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27332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645440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3302 3181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0169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1827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3305 0521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43530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38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3306 0518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1636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34475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3308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9727" y="1051560"/>
            <a:ext cx="102313" cy="466096"/>
          </a:xfrm>
          <a:prstGeom prst="rect">
            <a:avLst/>
          </a:prstGeom>
          <a:solidFill>
            <a:srgbClr val="E8C63A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77836" y="1233451"/>
            <a:ext cx="466096" cy="102313"/>
          </a:xfrm>
          <a:prstGeom prst="rect">
            <a:avLst/>
          </a:prstGeom>
          <a:noFill/>
        </p:spPr>
        <p:txBody>
          <a:bodyPr rot="-5400000"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042B5A"/>
                </a:solidFill>
                <a:latin typeface="Montserrat"/>
              </a:rPr>
              <a:t>3832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77997" y="200649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0511 1100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77997" y="244985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0517 1292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77997" y="276816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3322 3752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77997" y="3086470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3054 1099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77997" y="3529831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3216 0527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77997" y="380266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3862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77997" y="4246028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3245 0519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77997" y="4518865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3229 3821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77997" y="4962226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3688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solidFill>
            <a:srgbClr val="C8102E"/>
          </a:solidFill>
          <a:ln w="6350">
            <a:solidFill>
              <a:srgbClr val="042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7997" y="5235063"/>
            <a:ext cx="466096" cy="10231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650" b="1">
                <a:solidFill>
                  <a:srgbClr val="FFFFFF"/>
                </a:solidFill>
                <a:latin typeface="Montserrat"/>
              </a:rPr>
              <a:t>3442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073216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729945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738257" y="6099048"/>
            <a:ext cx="674135" cy="0"/>
          </a:xfrm>
          <a:prstGeom prst="line">
            <a:avLst/>
          </a:prstGeom>
          <a:ln w="76200">
            <a:solidFill>
              <a:srgbClr val="3350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2801004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33507E"/>
                </a:solidFill>
                <a:latin typeface="Montserrat"/>
              </a:rPr>
              <a:t>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09564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445360" y="6099048"/>
            <a:ext cx="674135" cy="0"/>
          </a:xfrm>
          <a:prstGeom prst="line">
            <a:avLst/>
          </a:prstGeom>
          <a:ln w="76200">
            <a:solidFill>
              <a:srgbClr val="E8C6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08107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9A7C00"/>
                </a:solidFill>
                <a:latin typeface="Montserrat"/>
              </a:rPr>
              <a:t>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16667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152463" y="6099048"/>
            <a:ext cx="674135" cy="0"/>
          </a:xfrm>
          <a:prstGeom prst="line">
            <a:avLst/>
          </a:prstGeom>
          <a:ln w="762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4215211" y="614476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C8102E"/>
                </a:solidFill>
                <a:latin typeface="Montserrat"/>
              </a:rPr>
              <a:t>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123771" y="635508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00" b="0">
                <a:solidFill>
                  <a:srgbClr val="6B6B6B"/>
                </a:solidFill>
                <a:latin typeface="Montserrat"/>
              </a:rPr>
              <a:t>entrada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897081" y="6099048"/>
            <a:ext cx="144376" cy="0"/>
          </a:xfrm>
          <a:prstGeom prst="line">
            <a:avLst/>
          </a:prstGeom>
          <a:ln w="76200">
            <a:solidFill>
              <a:srgbClr val="1E367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57789" y="6153912"/>
            <a:ext cx="822960" cy="2621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lang="en-US" sz="750" dirty="0">
                <a:solidFill>
                  <a:srgbClr val="1E3674"/>
                </a:solidFill>
                <a:latin typeface="Montserrat"/>
              </a:rPr>
              <a:t>entrada</a:t>
            </a:r>
            <a:br>
              <a:rPr lang="en-US" sz="750" dirty="0">
                <a:solidFill>
                  <a:srgbClr val="1E3674"/>
                </a:solidFill>
                <a:latin typeface="Montserrat"/>
              </a:rPr>
            </a:br>
            <a:r>
              <a:rPr sz="750" dirty="0" err="1">
                <a:solidFill>
                  <a:srgbClr val="1E3674"/>
                </a:solidFill>
                <a:latin typeface="Montserrat"/>
              </a:rPr>
              <a:t>preferencial</a:t>
            </a:r>
            <a:endParaRPr sz="750" dirty="0">
              <a:solidFill>
                <a:srgbClr val="1E3674"/>
              </a:solidFill>
              <a:latin typeface="Montserrat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5355220" y="6099048"/>
            <a:ext cx="136419" cy="0"/>
          </a:xfrm>
          <a:prstGeom prst="line">
            <a:avLst/>
          </a:prstGeom>
          <a:ln w="76200">
            <a:solidFill>
              <a:srgbClr val="40404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011949" y="615391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>
                <a:solidFill>
                  <a:srgbClr val="6B6B6B"/>
                </a:solidFill>
                <a:latin typeface="Montserrat"/>
              </a:rPr>
              <a:t>saída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05180" y="105156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spc="120">
                <a:solidFill>
                  <a:srgbClr val="042B5A"/>
                </a:solidFill>
                <a:latin typeface="Montserrat"/>
              </a:rPr>
              <a:t>COMO LER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05180" y="144475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3350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897788" y="14173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A → parede oeste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05180" y="181051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E8C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6897788" y="1783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B → parede norte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05180" y="217627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897788" y="2148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Porta C → parede leste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605180" y="2542032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1E3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97788" y="25146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Entrada preferencial, sem fila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605180" y="2907791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404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6897788" y="2880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042B5A"/>
                </a:solidFill>
                <a:latin typeface="Montserrat"/>
              </a:rPr>
              <a:t>Saída — pela mesma faixa da parede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05180" y="3383279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Da porta, a avenida da sua cor leva até a parede. Da avenida da parede, um passo até a sua seção.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Quem votou volta pela mesma faixa da parede e sai pela fachada sul — ninguém atravessa a avenida de quem está entrando.</a:t>
            </a:r>
          </a:p>
          <a:p>
            <a:pPr algn="l">
              <a:lnSpc>
                <a:spcPct val="118000"/>
              </a:lnSpc>
            </a:pPr>
            <a:endParaRPr sz="1000" b="0">
              <a:solidFill>
                <a:srgbClr val="6B6B6B"/>
              </a:solidFill>
              <a:latin typeface="Montserrat"/>
            </a:endParaRP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B6B6B"/>
                </a:solidFill>
                <a:latin typeface="Montserrat"/>
              </a:rPr>
              <a:t>A faixa mais escura na frente da parede norte é a pequena avenida de 1,80 m: é ali que a fila da porta B escolhe o lado, andando.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662025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6B6B6B"/>
                </a:solidFill>
                <a:latin typeface="Montserrat"/>
              </a:rPr>
              <a:t>Planta em escala · fachada sul embaixo, como quem chega do Ring 3 · todas as formas são editáveis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funções, quatro donos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tem um dono. A única coisa que duas pessoas fazem é conferir o documento — e isso é de propósito.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8" name="Shape 6"/>
          <p:cNvSpPr/>
          <p:nvPr/>
        </p:nvSpPr>
        <p:spPr>
          <a:xfrm>
            <a:off x="877824" y="2505456"/>
            <a:ext cx="548640" cy="548640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87782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Recebe o eleitor na frente da mesa, confere o documento, confirma a seção e aponta o mesário certo. Organiza a fila pela prioridade legal.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9996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371086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71086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1086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1º mesário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71086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um dos cadernos da mesa.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busca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correspondente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antes de o Presidente digitar.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33008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6543904" y="2505456"/>
            <a:ext cx="548640" cy="548640"/>
          </a:xfrm>
          <a:prstGeom prst="ellipse">
            <a:avLst/>
          </a:prstGeom>
          <a:solidFill>
            <a:srgbClr val="33507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6543904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43904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2º mesário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543904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Fica com o outro caderno, pela mesma regra. Quem tem o caderno do eleitor marca e entrega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apenas</a:t>
            </a:r>
            <a:r>
              <a:rPr lang="en-US" sz="10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66047" y="2194560"/>
            <a:ext cx="2558720" cy="2834640"/>
          </a:xfrm>
          <a:prstGeom prst="roundRect">
            <a:avLst>
              <a:gd name="adj" fmla="val 1787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3" name="Shape 21"/>
          <p:cNvSpPr/>
          <p:nvPr/>
        </p:nvSpPr>
        <p:spPr>
          <a:xfrm>
            <a:off x="9376943" y="2505456"/>
            <a:ext cx="548640" cy="5486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9376943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376943" y="3200400"/>
            <a:ext cx="193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376943" y="3621024"/>
            <a:ext cx="19369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 de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votação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autoriza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se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dirigir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à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urna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Opera, para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situações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extraordinárias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o terminal.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877824"/>
          </a:xfrm>
          <a:prstGeom prst="roundRect">
            <a:avLst>
              <a:gd name="adj" fmla="val 5208"/>
            </a:avLst>
          </a:prstGeom>
          <a:solidFill>
            <a:srgbClr val="EDEADB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8" name="Shape 26"/>
          <p:cNvSpPr/>
          <p:nvPr/>
        </p:nvSpPr>
        <p:spPr>
          <a:xfrm>
            <a:off x="566928" y="5358384"/>
            <a:ext cx="82296" cy="877824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32688" y="5358384"/>
            <a:ext cx="1032631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devem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– ser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revezadas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entre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integrantes</a:t>
            </a: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mesa.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NA MESA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passos, dois eleitores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Shape 5"/>
          <p:cNvSpPr/>
          <p:nvPr/>
        </p:nvSpPr>
        <p:spPr>
          <a:xfrm>
            <a:off x="786384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78638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Recepção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SECRETÁRIO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o documento, confirma a seção e aponta o mesário.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37333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Shape 11"/>
          <p:cNvSpPr/>
          <p:nvPr/>
        </p:nvSpPr>
        <p:spPr>
          <a:xfrm>
            <a:off x="2656789" y="1554480"/>
            <a:ext cx="310896" cy="310896"/>
          </a:xfrm>
          <a:prstGeom prst="ellipse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656789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656789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 antecipada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656789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2656789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Procura o nome antes da digitação começar.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07738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Shape 17"/>
          <p:cNvSpPr/>
          <p:nvPr/>
        </p:nvSpPr>
        <p:spPr>
          <a:xfrm>
            <a:off x="4527194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452719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27194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Habilitação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27194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4527194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CPF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7814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5" name="Shape 23"/>
          <p:cNvSpPr/>
          <p:nvPr/>
        </p:nvSpPr>
        <p:spPr>
          <a:xfrm>
            <a:off x="639760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39760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9760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número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39760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PRESIDENTE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639760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Ao serem exibidos os dados no Terminal do</a:t>
            </a:r>
          </a:p>
          <a:p>
            <a:pPr>
              <a:lnSpc>
                <a:spcPts val="1200"/>
              </a:lnSpc>
            </a:pPr>
            <a:r>
              <a:rPr lang="pt-BR" sz="850" dirty="0">
                <a:solidFill>
                  <a:srgbClr val="6B6B6B"/>
                </a:solidFill>
                <a:latin typeface="Montserrat" pitchFamily="34" charset="0"/>
              </a:rPr>
              <a:t>Mesário, lê em voz alta e confirma o nome com eleitor.</a:t>
            </a:r>
            <a:endParaRPr lang="en-US" sz="850" dirty="0">
              <a:solidFill>
                <a:srgbClr val="6B6B6B"/>
              </a:solidFill>
              <a:latin typeface="Montserrat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48549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1" name="Shape 29"/>
          <p:cNvSpPr/>
          <p:nvPr/>
        </p:nvSpPr>
        <p:spPr>
          <a:xfrm>
            <a:off x="8268005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8268005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268005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Confirmação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268005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 DO CADERNO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8268005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Confere que é a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pessoa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Assinala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retira</a:t>
            </a: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85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comprovante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918954" y="1335024"/>
            <a:ext cx="1705813" cy="2340864"/>
          </a:xfrm>
          <a:prstGeom prst="roundRect">
            <a:avLst>
              <a:gd name="adj" fmla="val 2680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10138410" y="1554480"/>
            <a:ext cx="310896" cy="310896"/>
          </a:xfrm>
          <a:prstGeom prst="ellipse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8" name="Text 36"/>
          <p:cNvSpPr txBox="1"/>
          <p:nvPr/>
        </p:nvSpPr>
        <p:spPr>
          <a:xfrm>
            <a:off x="1013841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138410" y="1975104"/>
            <a:ext cx="12669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Voto e comprovante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138410" y="2560320"/>
            <a:ext cx="126690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b="1" kern="0" spc="8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endParaRPr lang="en-US" sz="700" dirty="0"/>
          </a:p>
        </p:txBody>
      </p:sp>
      <p:sp>
        <p:nvSpPr>
          <p:cNvPr id="41" name="Text 39"/>
          <p:cNvSpPr txBox="1"/>
          <p:nvPr/>
        </p:nvSpPr>
        <p:spPr>
          <a:xfrm>
            <a:off x="10138410" y="2889504"/>
            <a:ext cx="126690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Vota, recolhe o próprio celular e recebe o comprovante.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566928" y="3895344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 MESA RÁPIDA FAZ DE DIFERENTE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42384" y="4041648"/>
            <a:ext cx="4788256" cy="1335024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4" name="Text 42"/>
          <p:cNvSpPr txBox="1"/>
          <p:nvPr/>
        </p:nvSpPr>
        <p:spPr>
          <a:xfrm>
            <a:off x="566928" y="418795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6" name="Text 44"/>
          <p:cNvSpPr txBox="1"/>
          <p:nvPr/>
        </p:nvSpPr>
        <p:spPr>
          <a:xfrm>
            <a:off x="2066544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8" name="Text 46"/>
          <p:cNvSpPr txBox="1"/>
          <p:nvPr/>
        </p:nvSpPr>
        <p:spPr>
          <a:xfrm>
            <a:off x="3263608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0" name="Text 48"/>
          <p:cNvSpPr txBox="1"/>
          <p:nvPr/>
        </p:nvSpPr>
        <p:spPr>
          <a:xfrm>
            <a:off x="4460672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2" name="Text 50"/>
          <p:cNvSpPr txBox="1"/>
          <p:nvPr/>
        </p:nvSpPr>
        <p:spPr>
          <a:xfrm>
            <a:off x="5657736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4" name="Text 52"/>
          <p:cNvSpPr txBox="1"/>
          <p:nvPr/>
        </p:nvSpPr>
        <p:spPr>
          <a:xfrm>
            <a:off x="6854800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6" name="Text 54"/>
          <p:cNvSpPr txBox="1"/>
          <p:nvPr/>
        </p:nvSpPr>
        <p:spPr>
          <a:xfrm>
            <a:off x="8051863" y="4187952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66928" y="48097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 N+1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9" name="Text 57"/>
          <p:cNvSpPr txBox="1"/>
          <p:nvPr/>
        </p:nvSpPr>
        <p:spPr>
          <a:xfrm>
            <a:off x="4460672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1" name="Text 59"/>
          <p:cNvSpPr txBox="1"/>
          <p:nvPr/>
        </p:nvSpPr>
        <p:spPr>
          <a:xfrm>
            <a:off x="5657736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6854800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5" name="Text 63"/>
          <p:cNvSpPr txBox="1"/>
          <p:nvPr/>
        </p:nvSpPr>
        <p:spPr>
          <a:xfrm>
            <a:off x="8051863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7" name="Text 65"/>
          <p:cNvSpPr txBox="1"/>
          <p:nvPr/>
        </p:nvSpPr>
        <p:spPr>
          <a:xfrm>
            <a:off x="9248927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9" name="Text 67"/>
          <p:cNvSpPr txBox="1"/>
          <p:nvPr/>
        </p:nvSpPr>
        <p:spPr>
          <a:xfrm>
            <a:off x="10445991" y="4809744"/>
            <a:ext cx="116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442384" y="5358384"/>
            <a:ext cx="478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sobreposição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66928" y="5632704"/>
            <a:ext cx="11057839" cy="713232"/>
          </a:xfrm>
          <a:prstGeom prst="roundRect">
            <a:avLst>
              <a:gd name="adj" fmla="val 6410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2" name="Text 70"/>
          <p:cNvSpPr txBox="1"/>
          <p:nvPr/>
        </p:nvSpPr>
        <p:spPr>
          <a:xfrm>
            <a:off x="950976" y="5632704"/>
            <a:ext cx="1028974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não é digitar mais rápido: é o passo 2 do próximo eleitor acontecer enquanto o atual ainda está na cabine.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CADERNOS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caderno cheio, um imprevisível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urna atende uma ou duas seções. A principal é sempre grande; a agregada pode ter 400 nomes ou 29.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· UMA URNA CADA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33138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3138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DOIS CADERNOS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095848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MESAS COM UM CADERNO SÓ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860307" y="1773936"/>
            <a:ext cx="25815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398–797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860307" y="2212848"/>
            <a:ext cx="25815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ELEITORES POR MESA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58998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642616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61586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145204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64174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5647792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66762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7150379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969350" y="2798064"/>
            <a:ext cx="7315" cy="148132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8652967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400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2962656" y="4517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NOMES NO CADERNO</a:t>
            </a:r>
            <a:endParaRPr lang="en-US" sz="7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2980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principal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sempre de Dublin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43014" y="2944368"/>
            <a:ext cx="184857" cy="384048"/>
          </a:xfrm>
          <a:prstGeom prst="roundRect">
            <a:avLst>
              <a:gd name="adj" fmla="val 29679"/>
            </a:avLst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9" name="Text 27"/>
          <p:cNvSpPr txBox="1"/>
          <p:nvPr/>
        </p:nvSpPr>
        <p:spPr>
          <a:xfrm>
            <a:off x="9174175" y="29443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395–400 nomes, nas 28 mesas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6758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 agregado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39136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quase sempre de outro condado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1153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3" name="Shape 31"/>
          <p:cNvSpPr/>
          <p:nvPr/>
        </p:nvSpPr>
        <p:spPr>
          <a:xfrm>
            <a:off x="368718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38073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5" name="Shape 33"/>
          <p:cNvSpPr/>
          <p:nvPr/>
        </p:nvSpPr>
        <p:spPr>
          <a:xfrm>
            <a:off x="3972677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6" name="Shape 34"/>
          <p:cNvSpPr/>
          <p:nvPr/>
        </p:nvSpPr>
        <p:spPr>
          <a:xfrm>
            <a:off x="4017755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7" name="Shape 35"/>
          <p:cNvSpPr/>
          <p:nvPr/>
        </p:nvSpPr>
        <p:spPr>
          <a:xfrm>
            <a:off x="440842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57371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9" name="Shape 37"/>
          <p:cNvSpPr/>
          <p:nvPr/>
        </p:nvSpPr>
        <p:spPr>
          <a:xfrm>
            <a:off x="547526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0" name="Shape 38"/>
          <p:cNvSpPr/>
          <p:nvPr/>
        </p:nvSpPr>
        <p:spPr>
          <a:xfrm>
            <a:off x="5610498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1" name="Shape 39"/>
          <p:cNvSpPr/>
          <p:nvPr/>
        </p:nvSpPr>
        <p:spPr>
          <a:xfrm>
            <a:off x="6001171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613640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3" name="Shape 41"/>
          <p:cNvSpPr/>
          <p:nvPr/>
        </p:nvSpPr>
        <p:spPr>
          <a:xfrm>
            <a:off x="6376818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4" name="Shape 42"/>
          <p:cNvSpPr/>
          <p:nvPr/>
        </p:nvSpPr>
        <p:spPr>
          <a:xfrm>
            <a:off x="705298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5" name="Shape 43"/>
          <p:cNvSpPr/>
          <p:nvPr/>
        </p:nvSpPr>
        <p:spPr>
          <a:xfrm>
            <a:off x="825505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6" name="Shape 44"/>
          <p:cNvSpPr/>
          <p:nvPr/>
        </p:nvSpPr>
        <p:spPr>
          <a:xfrm>
            <a:off x="8435363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7" name="Shape 45"/>
          <p:cNvSpPr/>
          <p:nvPr/>
        </p:nvSpPr>
        <p:spPr>
          <a:xfrm>
            <a:off x="8435363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8" name="Shape 46"/>
          <p:cNvSpPr/>
          <p:nvPr/>
        </p:nvSpPr>
        <p:spPr>
          <a:xfrm>
            <a:off x="8510492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9" name="Shape 47"/>
          <p:cNvSpPr/>
          <p:nvPr/>
        </p:nvSpPr>
        <p:spPr>
          <a:xfrm>
            <a:off x="8645725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0" name="Shape 48"/>
          <p:cNvSpPr/>
          <p:nvPr/>
        </p:nvSpPr>
        <p:spPr>
          <a:xfrm>
            <a:off x="8795984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1" name="Shape 49"/>
          <p:cNvSpPr/>
          <p:nvPr/>
        </p:nvSpPr>
        <p:spPr>
          <a:xfrm>
            <a:off x="8811010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2" name="Shape 50"/>
          <p:cNvSpPr/>
          <p:nvPr/>
        </p:nvSpPr>
        <p:spPr>
          <a:xfrm>
            <a:off x="8826036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3" name="Shape 51"/>
          <p:cNvSpPr/>
          <p:nvPr/>
        </p:nvSpPr>
        <p:spPr>
          <a:xfrm>
            <a:off x="8841062" y="3849624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4" name="Shape 52"/>
          <p:cNvSpPr/>
          <p:nvPr/>
        </p:nvSpPr>
        <p:spPr>
          <a:xfrm>
            <a:off x="8886139" y="3730752"/>
            <a:ext cx="173736" cy="173736"/>
          </a:xfrm>
          <a:prstGeom prst="ellipse">
            <a:avLst/>
          </a:prstGeom>
          <a:solidFill>
            <a:srgbClr val="C8102E"/>
          </a:solidFill>
          <a:ln w="9525">
            <a:solidFill>
              <a:srgbClr val="F2EFE2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5" name="Text 53"/>
          <p:cNvSpPr txBox="1"/>
          <p:nvPr/>
        </p:nvSpPr>
        <p:spPr>
          <a:xfrm>
            <a:off x="9174175" y="3730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10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ponto é uma mesa · de 29 a 400 nomes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57" name="Text 55"/>
          <p:cNvSpPr txBox="1"/>
          <p:nvPr/>
        </p:nvSpPr>
        <p:spPr>
          <a:xfrm>
            <a:off x="841248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Cadernos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de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uma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por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</a:rPr>
              <a:t>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</a:rPr>
              <a:t>mesário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841248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50"/>
              </a:lnSpc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Mas, se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quiser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mudar,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b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achar o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jeito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900" b="1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9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mesa.</a:t>
            </a:r>
            <a:endParaRPr lang="en-US" sz="900" b="1" dirty="0"/>
          </a:p>
        </p:txBody>
      </p:sp>
      <p:sp>
        <p:nvSpPr>
          <p:cNvPr id="59" name="Shape 57"/>
          <p:cNvSpPr/>
          <p:nvPr/>
        </p:nvSpPr>
        <p:spPr>
          <a:xfrm>
            <a:off x="4344314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0" name="Text 58"/>
          <p:cNvSpPr txBox="1"/>
          <p:nvPr/>
        </p:nvSpPr>
        <p:spPr>
          <a:xfrm>
            <a:off x="4618634" y="5157216"/>
            <a:ext cx="295442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 e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 </a:t>
            </a:r>
            <a:r>
              <a:rPr lang="en-US" sz="1150" b="1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seção</a:t>
            </a: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sempre os dois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4618634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br>
              <a:rPr lang="en-US" sz="900" dirty="0">
                <a:solidFill>
                  <a:srgbClr val="6B6B6B"/>
                </a:solidFill>
                <a:latin typeface="Montserrat" pitchFamily="34" charset="0"/>
              </a:rPr>
            </a:b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eleitor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só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poderá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localizado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no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caderno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da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Seção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em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votará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 Por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isso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,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temos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que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saber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os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 </a:t>
            </a:r>
            <a:r>
              <a:rPr lang="en-US" sz="900" dirty="0" err="1">
                <a:solidFill>
                  <a:srgbClr val="6B6B6B"/>
                </a:solidFill>
                <a:latin typeface="Montserrat" pitchFamily="34" charset="0"/>
              </a:rPr>
              <a:t>dois</a:t>
            </a:r>
            <a:r>
              <a:rPr lang="en-US" sz="900" dirty="0">
                <a:solidFill>
                  <a:srgbClr val="6B6B6B"/>
                </a:solidFill>
                <a:latin typeface="Montserrat" pitchFamily="34" charset="0"/>
              </a:rPr>
              <a:t>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121701" y="4974336"/>
            <a:ext cx="3503066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63" name="Text 61"/>
          <p:cNvSpPr txBox="1"/>
          <p:nvPr/>
        </p:nvSpPr>
        <p:spPr>
          <a:xfrm>
            <a:off x="8396021" y="5157216"/>
            <a:ext cx="2954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de um caderno só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8396021" y="5449824"/>
            <a:ext cx="295442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mesário busca; o outro entrega o comprovante e cuida da fila. Não se divide o caderno em dois.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66928" y="647395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Tamanhos de caderno calculados de saidas/dados.json, dos CSVs oficiais do TSE.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MAIS IMPORTA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decidem o dia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1521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maior fila do dia chega quando a mesa ainda está encontrando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seu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ritmo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É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importante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identificar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funciona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para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mesa logo no </a:t>
            </a:r>
            <a:r>
              <a:rPr lang="en-US" sz="12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começo</a:t>
            </a:r>
            <a:r>
              <a:rPr lang="en-US" sz="12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566928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PRIMEIRAS HORAS · MAIOR FILA DO DIA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4252874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janela de almoço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7938821" y="2286000"/>
            <a:ext cx="368594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retomada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327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24688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791919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47553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9h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020568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2704186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49217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3932834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77866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161483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6514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4" name="Text 22"/>
          <p:cNvSpPr txBox="1"/>
          <p:nvPr/>
        </p:nvSpPr>
        <p:spPr>
          <a:xfrm>
            <a:off x="6390132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13h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935163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7618781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163812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8" name="Text 26"/>
          <p:cNvSpPr txBox="1"/>
          <p:nvPr/>
        </p:nvSpPr>
        <p:spPr>
          <a:xfrm>
            <a:off x="8847430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392461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10076078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16h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1621110" y="2761488"/>
            <a:ext cx="7315" cy="82296"/>
          </a:xfrm>
          <a:prstGeom prst="rect">
            <a:avLst/>
          </a:prstGeom>
          <a:solidFill>
            <a:srgbClr val="E4E0CF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1304727" y="2862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042B5A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4" name="Shape 32"/>
          <p:cNvSpPr/>
          <p:nvPr/>
        </p:nvSpPr>
        <p:spPr>
          <a:xfrm>
            <a:off x="877824" y="4315968"/>
            <a:ext cx="384048" cy="41148"/>
          </a:xfrm>
          <a:prstGeom prst="rect">
            <a:avLst/>
          </a:prstGeom>
          <a:solidFill>
            <a:srgbClr val="E8C63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5" name="Text 33"/>
          <p:cNvSpPr txBox="1"/>
          <p:nvPr/>
        </p:nvSpPr>
        <p:spPr>
          <a:xfrm>
            <a:off x="877824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procure o processo perfeito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77824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4E0C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Procure, nos primeiros trinta ou quarenta eleitores, o arranjo que funciona naquela mesa. Depois repita sem mudar.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56506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38" name="Shape 36"/>
          <p:cNvSpPr/>
          <p:nvPr/>
        </p:nvSpPr>
        <p:spPr>
          <a:xfrm>
            <a:off x="4667402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9" name="Text 37"/>
          <p:cNvSpPr txBox="1"/>
          <p:nvPr/>
        </p:nvSpPr>
        <p:spPr>
          <a:xfrm>
            <a:off x="4667402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nos primeiros minutos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4667402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 busca no caderno está atrasando a mesa, troque a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divisão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agora. O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atraso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pode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000" dirty="0" err="1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virar</a:t>
            </a: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fila.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46085" y="4005072"/>
            <a:ext cx="3478682" cy="1792224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9525">
            <a:solidFill>
              <a:srgbClr val="E4DFCC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2" name="Shape 40"/>
          <p:cNvSpPr/>
          <p:nvPr/>
        </p:nvSpPr>
        <p:spPr>
          <a:xfrm>
            <a:off x="8456981" y="4315968"/>
            <a:ext cx="384048" cy="41148"/>
          </a:xfrm>
          <a:prstGeom prst="rect">
            <a:avLst/>
          </a:prstGeom>
          <a:solidFill>
            <a:srgbClr val="5F882E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3" name="Text 41"/>
          <p:cNvSpPr txBox="1"/>
          <p:nvPr/>
        </p:nvSpPr>
        <p:spPr>
          <a:xfrm>
            <a:off x="8456981" y="4517136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fila da primeira hora acompanha o dia</a:t>
            </a:r>
            <a:endParaRPr lang="en-US" sz="1450" dirty="0"/>
          </a:p>
        </p:txBody>
      </p:sp>
      <p:sp>
        <p:nvSpPr>
          <p:cNvPr id="44" name="Text 42"/>
          <p:cNvSpPr txBox="1"/>
          <p:nvPr/>
        </p:nvSpPr>
        <p:spPr>
          <a:xfrm>
            <a:off x="8456981" y="5120640"/>
            <a:ext cx="2856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fila que se forma às 8h não desaparece sozinha: ela anda com a mesa até a tarde.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FE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42B5A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566928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160" dirty="0">
                <a:solidFill>
                  <a:srgbClr val="5F88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ABRIR A URNA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603504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da mesa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1243584" y="157276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equipe na mesa às 6h30. Zerésima emitida e assinada às 7h00.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Shape 7"/>
          <p:cNvSpPr/>
          <p:nvPr/>
        </p:nvSpPr>
        <p:spPr>
          <a:xfrm>
            <a:off x="566928" y="224942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43584" y="2249424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Cadernos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distribuídos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dividos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mesários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2770632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Shape 10"/>
          <p:cNvSpPr/>
          <p:nvPr/>
        </p:nvSpPr>
        <p:spPr>
          <a:xfrm>
            <a:off x="566928" y="29260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3" name="Text 11"/>
          <p:cNvSpPr txBox="1"/>
          <p:nvPr/>
        </p:nvSpPr>
        <p:spPr>
          <a:xfrm>
            <a:off x="1243584" y="2926080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tem o caderno começa a busca pelo nome antes da digitação.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3447288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5" name="Shape 13"/>
          <p:cNvSpPr/>
          <p:nvPr/>
        </p:nvSpPr>
        <p:spPr>
          <a:xfrm>
            <a:off x="566928" y="360273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1243584" y="3602736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Presidente,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após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terminal,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nome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eleitor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voz</a:t>
            </a: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350" dirty="0" err="1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23944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Shape 16"/>
          <p:cNvSpPr/>
          <p:nvPr/>
        </p:nvSpPr>
        <p:spPr>
          <a:xfrm>
            <a:off x="566928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19" name="Text 17"/>
          <p:cNvSpPr txBox="1"/>
          <p:nvPr/>
        </p:nvSpPr>
        <p:spPr>
          <a:xfrm>
            <a:off x="1243584" y="4279392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Mesa dos celulares visível ao eleitor e à mesa receptora.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00600"/>
            <a:ext cx="11057839" cy="7315"/>
          </a:xfrm>
          <a:prstGeom prst="rect">
            <a:avLst/>
          </a:prstGeom>
          <a:solidFill>
            <a:srgbClr val="E4DFCC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Shape 19"/>
          <p:cNvSpPr/>
          <p:nvPr/>
        </p:nvSpPr>
        <p:spPr>
          <a:xfrm>
            <a:off x="566928" y="49560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5F882E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1243584" y="4956048"/>
            <a:ext cx="97776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Almoço combinado dentro da mesa: um de cada vez, na janela de 11h às 14h.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8887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2B5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trabalho no dia 4 — e obrigado por representar o Brasil nesta seção.</a:t>
            </a:r>
            <a:endParaRPr lang="en-US" sz="1500" dirty="0"/>
          </a:p>
        </p:txBody>
      </p:sp>
      <p:pic>
        <p:nvPicPr>
          <p:cNvPr id="24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0" y="5632704"/>
            <a:ext cx="1463040" cy="8695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2399</Words>
  <Application>Microsoft Office PowerPoint</Application>
  <PresentationFormat>Widescreen</PresentationFormat>
  <Paragraphs>383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Eleições 2026 · Briefing da equipe</dc:title>
  <dc:subject>PptxGenJS Presentation</dc:subject>
  <dc:creator>Posto de Dublin</dc:creator>
  <cp:lastModifiedBy>Hamad Mota Kalaf</cp:lastModifiedBy>
  <cp:revision>2</cp:revision>
  <dcterms:created xsi:type="dcterms:W3CDTF">2026-09-23T06:00:18Z</dcterms:created>
  <dcterms:modified xsi:type="dcterms:W3CDTF">2026-09-23T12:43:36Z</dcterms:modified>
</cp:coreProperties>
</file>