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70" r:id="rId11"/>
    <p:sldId id="264" r:id="rId12"/>
    <p:sldId id="265" r:id="rId13"/>
    <p:sldId id="271" r:id="rId22"/>
    <p:sldId id="266" r:id="rId14"/>
    <p:sldId id="267" r:id="rId15"/>
    <p:sldId id="268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21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ELEIÇÕES 2026 · 1º TURNO · DOMINGO, 4 DE OUTUBRO · 8H ÀS 17H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3936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Briefing da equipe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92608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Mesários e apoio do Posto de Dublin. O que muda no dia, quem faz o quê, como a mesa trabalha — e como se fala com quem está do outro lado do salão.</a:t>
            </a:r>
            <a:endParaRPr lang="en-US" sz="1350" dirty="0"/>
          </a:p>
        </p:txBody>
      </p:sp>
      <p:pic>
        <p:nvPicPr>
          <p:cNvPr id="7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10512"/>
            <a:ext cx="2743200" cy="16312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4983480"/>
            <a:ext cx="2581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51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577840"/>
            <a:ext cx="2581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SEÇÕES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3331388" y="4983480"/>
            <a:ext cx="2581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3331388" y="5577840"/>
            <a:ext cx="2581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MESAS · UMA URNA CADA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095848" y="4983480"/>
            <a:ext cx="2581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16.794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6095848" y="5577840"/>
            <a:ext cx="2581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ELEITORES APTOS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8860307" y="4983480"/>
            <a:ext cx="2581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6h30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8860307" y="5577840"/>
            <a:ext cx="2581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HORÁRIO DE CHEGADA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473952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Embaixada do Brasil em Dublin · RDS, Hall 2, Merrion Road, Ballsbridge, Dublin 4 · 2º turno, se houver: domingo, 25 de outubro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NESTA REUNIÃO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vamos ver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Seis assuntos. Os quatro primeiros são sobre você; os dois últimos, sobre o eleitor.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3478682" cy="1883664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8" name="Shape 6"/>
          <p:cNvSpPr/>
          <p:nvPr/>
        </p:nvSpPr>
        <p:spPr>
          <a:xfrm>
            <a:off x="877824" y="2414016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9" name="Text 7"/>
          <p:cNvSpPr txBox="1"/>
          <p:nvPr/>
        </p:nvSpPr>
        <p:spPr>
          <a:xfrm>
            <a:off x="877824" y="2414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889504"/>
            <a:ext cx="28568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Horários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236976"/>
            <a:ext cx="28568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Montagem, chegada, zerésima, encerramento — e a segunda-feira.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56506" y="2103120"/>
            <a:ext cx="3478682" cy="1883664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3" name="Shape 11"/>
          <p:cNvSpPr/>
          <p:nvPr/>
        </p:nvSpPr>
        <p:spPr>
          <a:xfrm>
            <a:off x="4667402" y="2414016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 txBox="1"/>
          <p:nvPr/>
        </p:nvSpPr>
        <p:spPr>
          <a:xfrm>
            <a:off x="4667402" y="2414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667402" y="2889504"/>
            <a:ext cx="28568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Almoço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67402" y="3236976"/>
            <a:ext cx="28568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Quando sair, quem cobre, e por que a janela é 11h–14h.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146085" y="2103120"/>
            <a:ext cx="3478682" cy="1883664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8" name="Shape 16"/>
          <p:cNvSpPr/>
          <p:nvPr/>
        </p:nvSpPr>
        <p:spPr>
          <a:xfrm>
            <a:off x="8456981" y="2414016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9" name="Text 17"/>
          <p:cNvSpPr txBox="1"/>
          <p:nvPr/>
        </p:nvSpPr>
        <p:spPr>
          <a:xfrm>
            <a:off x="8456981" y="2414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456981" y="2889504"/>
            <a:ext cx="28568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Dias de folga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456981" y="3236976"/>
            <a:ext cx="28568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Dois dias para cada dia trabalhado, treinamento incluído.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3478682" cy="1883664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3" name="Shape 21"/>
          <p:cNvSpPr/>
          <p:nvPr/>
        </p:nvSpPr>
        <p:spPr>
          <a:xfrm>
            <a:off x="877824" y="4681728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4" name="Text 22"/>
          <p:cNvSpPr txBox="1"/>
          <p:nvPr/>
        </p:nvSpPr>
        <p:spPr>
          <a:xfrm>
            <a:off x="877824" y="4681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5157216"/>
            <a:ext cx="28568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Mesário e apoio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" y="5504688"/>
            <a:ext cx="28568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Mesário atua na mesa; apoio ajuda o fluxo — são funções diferentes.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56506" y="4370832"/>
            <a:ext cx="3478682" cy="1883664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8" name="Shape 26"/>
          <p:cNvSpPr/>
          <p:nvPr/>
        </p:nvSpPr>
        <p:spPr>
          <a:xfrm>
            <a:off x="4667402" y="4681728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9" name="Text 27"/>
          <p:cNvSpPr txBox="1"/>
          <p:nvPr/>
        </p:nvSpPr>
        <p:spPr>
          <a:xfrm>
            <a:off x="4667402" y="4681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667402" y="5157216"/>
            <a:ext cx="28568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Comunicação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4667402" y="5504688"/>
            <a:ext cx="28568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WhatsApp com os Presidentes de Mesa; walkie-talkie entre os líderes do apoio.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146085" y="4370832"/>
            <a:ext cx="3478682" cy="1883664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3" name="Shape 31"/>
          <p:cNvSpPr/>
          <p:nvPr/>
        </p:nvSpPr>
        <p:spPr>
          <a:xfrm>
            <a:off x="8456981" y="4681728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4" name="Text 32"/>
          <p:cNvSpPr txBox="1"/>
          <p:nvPr/>
        </p:nvSpPr>
        <p:spPr>
          <a:xfrm>
            <a:off x="8456981" y="4681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456981" y="5157216"/>
            <a:ext cx="28568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Fluxo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456981" y="5504688"/>
            <a:ext cx="28568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 portão até a urna, e o que acontece dentro da mesa.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HORÁRIOS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Dois dias, dois relógios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hora da montagem é folgada. A hora do domingo não é: ela é ditada pela zerésima.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 DA MONTAGEM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2066544"/>
            <a:ext cx="11057839" cy="749808"/>
          </a:xfrm>
          <a:prstGeom prst="roundRect">
            <a:avLst>
              <a:gd name="adj" fmla="val 6098"/>
            </a:avLst>
          </a:prstGeom>
          <a:solidFill>
            <a:srgbClr val="EDEADB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9" name="Shape 7"/>
          <p:cNvSpPr/>
          <p:nvPr/>
        </p:nvSpPr>
        <p:spPr>
          <a:xfrm>
            <a:off x="566928" y="2066544"/>
            <a:ext cx="82296" cy="74980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0" name="Text 8"/>
          <p:cNvSpPr txBox="1"/>
          <p:nvPr/>
        </p:nvSpPr>
        <p:spPr>
          <a:xfrm>
            <a:off x="877824" y="2066544"/>
            <a:ext cx="105091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partir das 9h</a:t>
            </a:r>
            <a:r>
              <a:rPr lang="en-US" sz="11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·   montagem do Hall 2 e do pátio do Ring 3, conferência das mesas e da sinalização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0175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DOMINGO, 4 DE OUTUBRO · DIA DA ELEIÇÃO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481328" y="4041648"/>
            <a:ext cx="9229039" cy="32004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3" name="Shape 11"/>
          <p:cNvSpPr/>
          <p:nvPr/>
        </p:nvSpPr>
        <p:spPr>
          <a:xfrm>
            <a:off x="1481328" y="4041648"/>
            <a:ext cx="3076346" cy="32004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Shape 12"/>
          <p:cNvSpPr/>
          <p:nvPr/>
        </p:nvSpPr>
        <p:spPr>
          <a:xfrm>
            <a:off x="1385316" y="3963924"/>
            <a:ext cx="192024" cy="192024"/>
          </a:xfrm>
          <a:prstGeom prst="ellipse">
            <a:avLst/>
          </a:prstGeom>
          <a:solidFill>
            <a:srgbClr val="C8102E"/>
          </a:solidFill>
          <a:ln w="25400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5" name="Text 13"/>
          <p:cNvSpPr txBox="1"/>
          <p:nvPr/>
        </p:nvSpPr>
        <p:spPr>
          <a:xfrm>
            <a:off x="612648" y="340156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6h30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" y="427939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equipe na mesa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12648" y="451713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chegada de todos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461662" y="3963924"/>
            <a:ext cx="192024" cy="192024"/>
          </a:xfrm>
          <a:prstGeom prst="ellipse">
            <a:avLst/>
          </a:prstGeom>
          <a:solidFill>
            <a:srgbClr val="C8102E"/>
          </a:solidFill>
          <a:ln w="25400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9" name="Text 17"/>
          <p:cNvSpPr txBox="1"/>
          <p:nvPr/>
        </p:nvSpPr>
        <p:spPr>
          <a:xfrm>
            <a:off x="3688994" y="340156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7h00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3688994" y="427939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Zerésima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688994" y="451713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emitida e assinada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538009" y="3963924"/>
            <a:ext cx="192024" cy="192024"/>
          </a:xfrm>
          <a:prstGeom prst="ellipse">
            <a:avLst/>
          </a:prstGeom>
          <a:solidFill>
            <a:srgbClr val="042B5A"/>
          </a:solidFill>
          <a:ln w="25400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3" name="Text 21"/>
          <p:cNvSpPr txBox="1"/>
          <p:nvPr/>
        </p:nvSpPr>
        <p:spPr>
          <a:xfrm>
            <a:off x="6765341" y="340156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8h00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765341" y="427939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Abertura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65341" y="451713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primeiro eleitor entra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0614355" y="3963924"/>
            <a:ext cx="192024" cy="192024"/>
          </a:xfrm>
          <a:prstGeom prst="ellipse">
            <a:avLst/>
          </a:prstGeom>
          <a:solidFill>
            <a:srgbClr val="042B5A"/>
          </a:solidFill>
          <a:ln w="25400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7" name="Text 25"/>
          <p:cNvSpPr txBox="1"/>
          <p:nvPr/>
        </p:nvSpPr>
        <p:spPr>
          <a:xfrm>
            <a:off x="9841687" y="340156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17h00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9841687" y="427939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Encerramento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9841687" y="451713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fecha a fila, não a urna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4956048"/>
            <a:ext cx="6675120" cy="1170432"/>
          </a:xfrm>
          <a:prstGeom prst="roundRect">
            <a:avLst>
              <a:gd name="adj" fmla="val 3906"/>
            </a:avLst>
          </a:prstGeom>
          <a:solidFill>
            <a:srgbClr val="042B5A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1" name="Text 29"/>
          <p:cNvSpPr txBox="1"/>
          <p:nvPr/>
        </p:nvSpPr>
        <p:spPr>
          <a:xfrm>
            <a:off x="932688" y="51389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8C6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que 6h30?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" y="546811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Porque às 7h00 a zerésima tem de estar emitida. É a única hora do dia que não se recupera: tudo o que vier depois depende dela ter saído no horário.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589520" y="4956048"/>
            <a:ext cx="4035247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6" name="Text 34"/>
          <p:cNvSpPr txBox="1"/>
          <p:nvPr/>
        </p:nvSpPr>
        <p:spPr>
          <a:xfrm>
            <a:off x="7900416" y="5468112"/>
            <a:ext cx="3413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Expediente reduzido na segunda-feira, 5 de outubro: a proposta foi feita e está sob consideração do Embaixador.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6473952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segurança contratada cobre 7h30–17h30, mais uma pessoa na véspera.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ALMOÇO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Sai um, fica o outro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há escala central de almoço. Cada mesa se organiza por dentro — o que o Posto oferece é a janela.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286000"/>
            <a:ext cx="3685946" cy="475488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8" name="Text 6"/>
          <p:cNvSpPr txBox="1"/>
          <p:nvPr/>
        </p:nvSpPr>
        <p:spPr>
          <a:xfrm>
            <a:off x="566928" y="2286000"/>
            <a:ext cx="36859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PICO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2874" y="2286000"/>
            <a:ext cx="3685946" cy="475488"/>
          </a:xfrm>
          <a:prstGeom prst="rect">
            <a:avLst/>
          </a:prstGeom>
          <a:solidFill>
            <a:srgbClr val="E8C63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0" name="Text 8"/>
          <p:cNvSpPr txBox="1"/>
          <p:nvPr/>
        </p:nvSpPr>
        <p:spPr>
          <a:xfrm>
            <a:off x="4252874" y="2286000"/>
            <a:ext cx="36859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JANELA DE ALMOÇO · MENOR MOVIMENTO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38821" y="2286000"/>
            <a:ext cx="3685946" cy="475488"/>
          </a:xfrm>
          <a:prstGeom prst="rect">
            <a:avLst/>
          </a:prstGeom>
          <a:solidFill>
            <a:srgbClr val="33507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2" name="Text 10"/>
          <p:cNvSpPr txBox="1"/>
          <p:nvPr/>
        </p:nvSpPr>
        <p:spPr>
          <a:xfrm>
            <a:off x="7938821" y="2286000"/>
            <a:ext cx="36859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RETOMADA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3270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 txBox="1"/>
          <p:nvPr/>
        </p:nvSpPr>
        <p:spPr>
          <a:xfrm>
            <a:off x="246888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8h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791919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6" name="Text 14"/>
          <p:cNvSpPr txBox="1"/>
          <p:nvPr/>
        </p:nvSpPr>
        <p:spPr>
          <a:xfrm>
            <a:off x="1475537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9h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020568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8" name="Text 16"/>
          <p:cNvSpPr txBox="1"/>
          <p:nvPr/>
        </p:nvSpPr>
        <p:spPr>
          <a:xfrm>
            <a:off x="2704186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10h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49217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0" name="Text 18"/>
          <p:cNvSpPr txBox="1"/>
          <p:nvPr/>
        </p:nvSpPr>
        <p:spPr>
          <a:xfrm>
            <a:off x="3932834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11h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477866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2" name="Text 20"/>
          <p:cNvSpPr txBox="1"/>
          <p:nvPr/>
        </p:nvSpPr>
        <p:spPr>
          <a:xfrm>
            <a:off x="5161483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06514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4" name="Text 22"/>
          <p:cNvSpPr txBox="1"/>
          <p:nvPr/>
        </p:nvSpPr>
        <p:spPr>
          <a:xfrm>
            <a:off x="6390132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935163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6" name="Text 24"/>
          <p:cNvSpPr txBox="1"/>
          <p:nvPr/>
        </p:nvSpPr>
        <p:spPr>
          <a:xfrm>
            <a:off x="7618781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14h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163812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8" name="Text 26"/>
          <p:cNvSpPr txBox="1"/>
          <p:nvPr/>
        </p:nvSpPr>
        <p:spPr>
          <a:xfrm>
            <a:off x="8847430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15h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0392461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0" name="Text 28"/>
          <p:cNvSpPr txBox="1"/>
          <p:nvPr/>
        </p:nvSpPr>
        <p:spPr>
          <a:xfrm>
            <a:off x="10076078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16h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1621110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2" name="Text 30"/>
          <p:cNvSpPr txBox="1"/>
          <p:nvPr/>
        </p:nvSpPr>
        <p:spPr>
          <a:xfrm>
            <a:off x="11304727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17h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66928" y="4023360"/>
            <a:ext cx="3478682" cy="170078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4" name="Shape 32"/>
          <p:cNvSpPr/>
          <p:nvPr/>
        </p:nvSpPr>
        <p:spPr>
          <a:xfrm>
            <a:off x="877824" y="4334256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5" name="Text 33"/>
          <p:cNvSpPr txBox="1"/>
          <p:nvPr/>
        </p:nvSpPr>
        <p:spPr>
          <a:xfrm>
            <a:off x="877824" y="4535424"/>
            <a:ext cx="28568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11h às 14h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77824" y="4901184"/>
            <a:ext cx="28568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 o vale do dia na leitura dos logs de votação de anos anteriores. Fora dessa faixa, a fila cobra.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356506" y="4023360"/>
            <a:ext cx="3478682" cy="170078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8" name="Shape 36"/>
          <p:cNvSpPr/>
          <p:nvPr/>
        </p:nvSpPr>
        <p:spPr>
          <a:xfrm>
            <a:off x="4667402" y="4334256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9" name="Text 37"/>
          <p:cNvSpPr txBox="1"/>
          <p:nvPr/>
        </p:nvSpPr>
        <p:spPr>
          <a:xfrm>
            <a:off x="4667402" y="4535424"/>
            <a:ext cx="28568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de cada vez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4667402" y="4901184"/>
            <a:ext cx="28568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pessoa cobre a outra dentro da própria mesa. A mesa nunca fica sem quem busca no caderno.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146085" y="4023360"/>
            <a:ext cx="3478682" cy="170078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2" name="Shape 40"/>
          <p:cNvSpPr/>
          <p:nvPr/>
        </p:nvSpPr>
        <p:spPr>
          <a:xfrm>
            <a:off x="8456981" y="4334256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3" name="Text 41"/>
          <p:cNvSpPr txBox="1"/>
          <p:nvPr/>
        </p:nvSpPr>
        <p:spPr>
          <a:xfrm>
            <a:off x="8456981" y="4535424"/>
            <a:ext cx="28568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Presidente autoriza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8456981" y="4901184"/>
            <a:ext cx="28568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saída é combinada com o Presidente da Mesa, que conhece o tamanho da fila naquele minuto.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473952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faixa de menor movimento vem da leitura dos logs de votação de anos anteriores. É uma janela indicativa, não uma previsão medida para 2026.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COMPENSAÇÃO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Dois dias para cada dia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 o dia da eleição e contam os treinamentos: cada dia em que você participar vale dois.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121408" cy="1481328"/>
          </a:xfrm>
          <a:prstGeom prst="roundRect">
            <a:avLst>
              <a:gd name="adj" fmla="val 3086"/>
            </a:avLst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8" name="Text 6"/>
          <p:cNvSpPr txBox="1"/>
          <p:nvPr/>
        </p:nvSpPr>
        <p:spPr>
          <a:xfrm>
            <a:off x="566928" y="2194560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980944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10" dirty="0">
                <a:solidFill>
                  <a:srgbClr val="E8C6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 TRABALHADO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82112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4E0C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eleição ou treinamento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 rot="5400000">
            <a:off x="3072384" y="2569464"/>
            <a:ext cx="310896" cy="365760"/>
          </a:xfrm>
          <a:prstGeom prst="triangl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2" name="Shape 10"/>
          <p:cNvSpPr/>
          <p:nvPr/>
        </p:nvSpPr>
        <p:spPr>
          <a:xfrm>
            <a:off x="3822192" y="2011680"/>
            <a:ext cx="1654698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5875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3" name="Text 11"/>
          <p:cNvSpPr txBox="1"/>
          <p:nvPr/>
        </p:nvSpPr>
        <p:spPr>
          <a:xfrm>
            <a:off x="3822192" y="2194560"/>
            <a:ext cx="16546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3822192" y="2980944"/>
            <a:ext cx="16546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 DE FOLGA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714634" y="2011680"/>
            <a:ext cx="1654698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5875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6" name="Text 14"/>
          <p:cNvSpPr txBox="1"/>
          <p:nvPr/>
        </p:nvSpPr>
        <p:spPr>
          <a:xfrm>
            <a:off x="5714634" y="2194560"/>
            <a:ext cx="16546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5714634" y="2980944"/>
            <a:ext cx="16546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 DE FOLGA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882128" y="2011680"/>
            <a:ext cx="3742639" cy="1481328"/>
          </a:xfrm>
          <a:prstGeom prst="roundRect">
            <a:avLst>
              <a:gd name="adj" fmla="val 3086"/>
            </a:avLst>
          </a:prstGeom>
          <a:solidFill>
            <a:srgbClr val="042B5A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9" name="Text 17"/>
          <p:cNvSpPr txBox="1"/>
          <p:nvPr/>
        </p:nvSpPr>
        <p:spPr>
          <a:xfrm>
            <a:off x="8193024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8C6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se conta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193024" y="26334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Some os dias em que você participou — a eleição e cada treinamento — e multiplique por dois. É esse o seu saldo.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17136"/>
            <a:ext cx="3478682" cy="1627632"/>
          </a:xfrm>
          <a:prstGeom prst="roundRect">
            <a:avLst>
              <a:gd name="adj" fmla="val 2809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2" name="Shape 20"/>
          <p:cNvSpPr/>
          <p:nvPr/>
        </p:nvSpPr>
        <p:spPr>
          <a:xfrm>
            <a:off x="877824" y="4828032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3" name="Text 21"/>
          <p:cNvSpPr txBox="1"/>
          <p:nvPr/>
        </p:nvSpPr>
        <p:spPr>
          <a:xfrm>
            <a:off x="877824" y="5029200"/>
            <a:ext cx="2856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 inteiro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77824" y="5376672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folga não se fraciona. Usa-se o dia todo, não meio período.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56506" y="4517136"/>
            <a:ext cx="3478682" cy="1627632"/>
          </a:xfrm>
          <a:prstGeom prst="roundRect">
            <a:avLst>
              <a:gd name="adj" fmla="val 2809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6" name="Shape 24"/>
          <p:cNvSpPr/>
          <p:nvPr/>
        </p:nvSpPr>
        <p:spPr>
          <a:xfrm>
            <a:off x="4667402" y="4828032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7" name="Text 25"/>
          <p:cNvSpPr txBox="1"/>
          <p:nvPr/>
        </p:nvSpPr>
        <p:spPr>
          <a:xfrm>
            <a:off x="4667402" y="5029200"/>
            <a:ext cx="2856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Prazo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667402" y="5376672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Vamos fixar um prazo para o usufruto — o direito não fica em aberto sem data.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46085" y="4517136"/>
            <a:ext cx="3478682" cy="1627632"/>
          </a:xfrm>
          <a:prstGeom prst="roundRect">
            <a:avLst>
              <a:gd name="adj" fmla="val 2809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0" name="Shape 28"/>
          <p:cNvSpPr/>
          <p:nvPr/>
        </p:nvSpPr>
        <p:spPr>
          <a:xfrm>
            <a:off x="8456981" y="4828032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1" name="Text 29"/>
          <p:cNvSpPr txBox="1"/>
          <p:nvPr/>
        </p:nvSpPr>
        <p:spPr>
          <a:xfrm>
            <a:off x="8456981" y="5029200"/>
            <a:ext cx="2856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escrito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456981" y="5376672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nota com as regras e o prazo será enviada a todos.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EQUIPE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Mesário e apoio não são a mesma função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Mesário atua na mesa de votação; apoio ajuda o fluxo dos eleitores no percurso — são funções diferentes.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029968"/>
            <a:ext cx="4297680" cy="3017520"/>
          </a:xfrm>
          <a:prstGeom prst="roundRect">
            <a:avLst>
              <a:gd name="adj" fmla="val 1515"/>
            </a:avLst>
          </a:prstGeom>
          <a:solidFill>
            <a:srgbClr val="042B5A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8" name="Text 6"/>
          <p:cNvSpPr txBox="1"/>
          <p:nvPr/>
        </p:nvSpPr>
        <p:spPr>
          <a:xfrm>
            <a:off x="950976" y="234086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Mesário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77977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8C6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mundo desta sala.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3163824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4E0C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Atua na mesa de votação. É a função nomeada, com treinamento próprio, e a única que identifica o eleitor. Ninguém mais confere documento.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43159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mesa: Presidente, Secretário, 1º e 2º mesário.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285232" y="20299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APOIO · 8 PESSOAS, FUNÇÕES DE FLUXO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285232" y="2340864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 txBox="1"/>
          <p:nvPr/>
        </p:nvSpPr>
        <p:spPr>
          <a:xfrm>
            <a:off x="5559552" y="2340864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Adelson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92160" y="2340864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6" name="Text 14"/>
          <p:cNvSpPr txBox="1"/>
          <p:nvPr/>
        </p:nvSpPr>
        <p:spPr>
          <a:xfrm>
            <a:off x="8866480" y="2340864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Anecy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285232" y="3108960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8" name="Text 16"/>
          <p:cNvSpPr txBox="1"/>
          <p:nvPr/>
        </p:nvSpPr>
        <p:spPr>
          <a:xfrm>
            <a:off x="5559552" y="3108960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Cristiana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592160" y="3108960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0" name="Text 18"/>
          <p:cNvSpPr txBox="1"/>
          <p:nvPr/>
        </p:nvSpPr>
        <p:spPr>
          <a:xfrm>
            <a:off x="8866480" y="3108960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Edna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285232" y="3877056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2" name="Text 20"/>
          <p:cNvSpPr txBox="1"/>
          <p:nvPr/>
        </p:nvSpPr>
        <p:spPr>
          <a:xfrm>
            <a:off x="5559552" y="3877056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Jorge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592160" y="3877056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4" name="Text 22"/>
          <p:cNvSpPr txBox="1"/>
          <p:nvPr/>
        </p:nvSpPr>
        <p:spPr>
          <a:xfrm>
            <a:off x="8866480" y="3877056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Laís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285232" y="4645152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E8C63A"/>
          </a:solidFill>
          <a:ln w="19050">
            <a:solidFill>
              <a:srgbClr val="E8C63A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6" name="Text 24"/>
          <p:cNvSpPr txBox="1"/>
          <p:nvPr/>
        </p:nvSpPr>
        <p:spPr>
          <a:xfrm>
            <a:off x="5559552" y="4645152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Mariá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592160" y="4645152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8" name="Text 26"/>
          <p:cNvSpPr txBox="1"/>
          <p:nvPr/>
        </p:nvSpPr>
        <p:spPr>
          <a:xfrm>
            <a:off x="8866480" y="4645152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Maria Inês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66928" y="5358384"/>
            <a:ext cx="11057839" cy="768096"/>
          </a:xfrm>
          <a:prstGeom prst="roundRect">
            <a:avLst>
              <a:gd name="adj" fmla="val 5952"/>
            </a:avLst>
          </a:prstGeom>
          <a:solidFill>
            <a:srgbClr val="EDEADB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0" name="Shape 28"/>
          <p:cNvSpPr/>
          <p:nvPr/>
        </p:nvSpPr>
        <p:spPr>
          <a:xfrm>
            <a:off x="566928" y="5358384"/>
            <a:ext cx="82296" cy="768096"/>
          </a:xfrm>
          <a:prstGeom prst="rect">
            <a:avLst/>
          </a:prstGeom>
          <a:solidFill>
            <a:srgbClr val="E8C63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1" name="Text 29"/>
          <p:cNvSpPr txBox="1"/>
          <p:nvPr/>
        </p:nvSpPr>
        <p:spPr>
          <a:xfrm>
            <a:off x="877824" y="5358384"/>
            <a:ext cx="1041775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Importante: </a:t>
            </a:r>
            <a:r>
              <a:rPr lang="en-US" sz="11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apoio orienta, não decide. Não atua na mesa nem identifica ninguém — só o mesário faz isso.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APOIO E VOLUNTÁRIOS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apoio coordena, não substitui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dia teremos voluntários no percurso. A função do apoio da Embaixada é coordená-los em pontos definidos — não fazer o trabalho deles.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29968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 PONTOS CANDIDATOS, PELO PLANO DE VOLUNTÁRIOS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2304288"/>
            <a:ext cx="2036003" cy="2249424"/>
          </a:xfrm>
          <a:prstGeom prst="roundRect">
            <a:avLst>
              <a:gd name="adj" fmla="val 22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9" name="Shape 7"/>
          <p:cNvSpPr/>
          <p:nvPr/>
        </p:nvSpPr>
        <p:spPr>
          <a:xfrm>
            <a:off x="822960" y="2560320"/>
            <a:ext cx="402336" cy="40233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72384"/>
            <a:ext cx="15239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Calçada da Merrion Road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657600"/>
            <a:ext cx="152393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mesa "descubra sua seção", fora do portão. Resolve quem chega sem o número.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822387" y="2304288"/>
            <a:ext cx="2036003" cy="2249424"/>
          </a:xfrm>
          <a:prstGeom prst="roundRect">
            <a:avLst>
              <a:gd name="adj" fmla="val 22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4" name="Shape 12"/>
          <p:cNvSpPr/>
          <p:nvPr/>
        </p:nvSpPr>
        <p:spPr>
          <a:xfrm>
            <a:off x="3078419" y="2560320"/>
            <a:ext cx="402336" cy="40233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5" name="Text 13"/>
          <p:cNvSpPr txBox="1"/>
          <p:nvPr/>
        </p:nvSpPr>
        <p:spPr>
          <a:xfrm>
            <a:off x="3078419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078419" y="3072384"/>
            <a:ext cx="15239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Ring 3 · trecho de fundo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078419" y="3657600"/>
            <a:ext cx="152393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a corrente se reparte entre as zonas C, B e A.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077846" y="2304288"/>
            <a:ext cx="2036003" cy="2249424"/>
          </a:xfrm>
          <a:prstGeom prst="roundRect">
            <a:avLst>
              <a:gd name="adj" fmla="val 22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9" name="Shape 17"/>
          <p:cNvSpPr/>
          <p:nvPr/>
        </p:nvSpPr>
        <p:spPr>
          <a:xfrm>
            <a:off x="5333878" y="2560320"/>
            <a:ext cx="402336" cy="40233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0" name="Text 18"/>
          <p:cNvSpPr txBox="1"/>
          <p:nvPr/>
        </p:nvSpPr>
        <p:spPr>
          <a:xfrm>
            <a:off x="5333878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33878" y="3072384"/>
            <a:ext cx="15239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Ring 3 · cabeça de fila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333878" y="3657600"/>
            <a:ext cx="152393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pessoa por zona, no ponto em que a fila encontra o apron.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333305" y="2304288"/>
            <a:ext cx="2036003" cy="2249424"/>
          </a:xfrm>
          <a:prstGeom prst="roundRect">
            <a:avLst>
              <a:gd name="adj" fmla="val 22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4" name="Shape 22"/>
          <p:cNvSpPr/>
          <p:nvPr/>
        </p:nvSpPr>
        <p:spPr>
          <a:xfrm>
            <a:off x="7589337" y="2560320"/>
            <a:ext cx="402336" cy="40233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5" name="Text 23"/>
          <p:cNvSpPr txBox="1"/>
          <p:nvPr/>
        </p:nvSpPr>
        <p:spPr>
          <a:xfrm>
            <a:off x="7589337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S7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589337" y="3072384"/>
            <a:ext cx="15239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Hall 2 · porta preferencial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589337" y="3657600"/>
            <a:ext cx="152393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Idoso, gestante, pessoa com deficiência e quem os acompanha.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588764" y="2304288"/>
            <a:ext cx="2036003" cy="2249424"/>
          </a:xfrm>
          <a:prstGeom prst="roundRect">
            <a:avLst>
              <a:gd name="adj" fmla="val 22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9" name="Shape 27"/>
          <p:cNvSpPr/>
          <p:nvPr/>
        </p:nvSpPr>
        <p:spPr>
          <a:xfrm>
            <a:off x="9844796" y="2560320"/>
            <a:ext cx="402336" cy="40233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0" name="Text 28"/>
          <p:cNvSpPr txBox="1"/>
          <p:nvPr/>
        </p:nvSpPr>
        <p:spPr>
          <a:xfrm>
            <a:off x="9844796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844796" y="3072384"/>
            <a:ext cx="15239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Hall 2 · mesas de alta carga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844796" y="3657600"/>
            <a:ext cx="152393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três maiores: 3313, 3315 e 3322.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66928" y="4846320"/>
            <a:ext cx="5577840" cy="1389888"/>
          </a:xfrm>
          <a:prstGeom prst="roundRect">
            <a:avLst>
              <a:gd name="adj" fmla="val 3289"/>
            </a:avLst>
          </a:prstGeom>
          <a:solidFill>
            <a:srgbClr val="EDEADB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4" name="Shape 32"/>
          <p:cNvSpPr/>
          <p:nvPr/>
        </p:nvSpPr>
        <p:spPr>
          <a:xfrm>
            <a:off x="877824" y="5102352"/>
            <a:ext cx="1389888" cy="237744"/>
          </a:xfrm>
          <a:prstGeom prst="roundRect">
            <a:avLst>
              <a:gd name="adj" fmla="val 38462"/>
            </a:avLst>
          </a:prstGeom>
          <a:solidFill>
            <a:srgbClr val="E8C63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5" name="Text 33"/>
          <p:cNvSpPr txBox="1"/>
          <p:nvPr/>
        </p:nvSpPr>
        <p:spPr>
          <a:xfrm>
            <a:off x="877824" y="5102352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8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 DEFINIÇÃO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877824" y="5449824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 pontos e as escalas ainda não estão fechados. Saem em reunião só com o apoio, marcada em breve.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55664" y="4846320"/>
            <a:ext cx="5169103" cy="1389888"/>
          </a:xfrm>
          <a:prstGeom prst="roundRect">
            <a:avLst>
              <a:gd name="adj" fmla="val 3289"/>
            </a:avLst>
          </a:prstGeom>
          <a:solidFill>
            <a:srgbClr val="042B5A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8" name="Text 36"/>
          <p:cNvSpPr txBox="1"/>
          <p:nvPr/>
        </p:nvSpPr>
        <p:spPr>
          <a:xfrm>
            <a:off x="6766560" y="510235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8C6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regra do voluntário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766560" y="543153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Orienta, não decide. Não toca em documento, não confere título e não diz a ninguém se pode votar. Identificação é monopólio do mesário.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COMUNICAÇÃO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Dois canais, cada um com um dono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canal para as decisões da mesa, outro para o que acontece no chão do salão. Não se misturam.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139696"/>
            <a:ext cx="5327752" cy="2871216"/>
          </a:xfrm>
          <a:prstGeom prst="roundRect">
            <a:avLst>
              <a:gd name="adj" fmla="val 1592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8" name="Shape 6"/>
          <p:cNvSpPr/>
          <p:nvPr/>
        </p:nvSpPr>
        <p:spPr>
          <a:xfrm>
            <a:off x="950976" y="2523744"/>
            <a:ext cx="566928" cy="512064"/>
          </a:xfrm>
          <a:prstGeom prst="roundRect">
            <a:avLst>
              <a:gd name="adj" fmla="val 25000"/>
            </a:avLst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9" name="Shape 7"/>
          <p:cNvSpPr/>
          <p:nvPr/>
        </p:nvSpPr>
        <p:spPr>
          <a:xfrm rot="10800000">
            <a:off x="1042416" y="2990088"/>
            <a:ext cx="182880" cy="164592"/>
          </a:xfrm>
          <a:prstGeom prst="triangl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0" name="Text 8"/>
          <p:cNvSpPr txBox="1"/>
          <p:nvPr/>
        </p:nvSpPr>
        <p:spPr>
          <a:xfrm>
            <a:off x="1682496" y="2560320"/>
            <a:ext cx="386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Grupo de WhatsApp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682496" y="2926080"/>
            <a:ext cx="386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decisões da mesa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383280"/>
            <a:ext cx="4559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90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Quem está no grupo
</a:t>
            </a:r>
            <a:endParaRPr lang="en-US" sz="9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 Presidentes de Mesa, Hamad, João e Marcelo.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50976" y="4261104"/>
            <a:ext cx="4559656" cy="512064"/>
          </a:xfrm>
          <a:prstGeom prst="roundRect">
            <a:avLst>
              <a:gd name="adj" fmla="val 10714"/>
            </a:avLst>
          </a:prstGeom>
          <a:solidFill>
            <a:srgbClr val="E8C63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 txBox="1"/>
          <p:nvPr/>
        </p:nvSpPr>
        <p:spPr>
          <a:xfrm>
            <a:off x="1225296" y="4261104"/>
            <a:ext cx="401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grupo é apagado imediatamente depois da eleição.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97016" y="2139696"/>
            <a:ext cx="5327752" cy="2871216"/>
          </a:xfrm>
          <a:prstGeom prst="roundRect">
            <a:avLst>
              <a:gd name="adj" fmla="val 1592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6" name="Shape 14"/>
          <p:cNvSpPr/>
          <p:nvPr/>
        </p:nvSpPr>
        <p:spPr>
          <a:xfrm>
            <a:off x="6717640" y="2560320"/>
            <a:ext cx="365760" cy="512064"/>
          </a:xfrm>
          <a:prstGeom prst="roundRect">
            <a:avLst>
              <a:gd name="adj" fmla="val 22500"/>
            </a:avLst>
          </a:prstGeom>
          <a:solidFill>
            <a:srgbClr val="33507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7" name="Shape 15"/>
          <p:cNvSpPr/>
          <p:nvPr/>
        </p:nvSpPr>
        <p:spPr>
          <a:xfrm>
            <a:off x="7010248" y="2395728"/>
            <a:ext cx="45720" cy="182880"/>
          </a:xfrm>
          <a:prstGeom prst="rect">
            <a:avLst/>
          </a:prstGeom>
          <a:solidFill>
            <a:srgbClr val="33507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8" name="Shape 16"/>
          <p:cNvSpPr/>
          <p:nvPr/>
        </p:nvSpPr>
        <p:spPr>
          <a:xfrm>
            <a:off x="6781648" y="2651760"/>
            <a:ext cx="237744" cy="365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9" name="Text 17"/>
          <p:cNvSpPr txBox="1"/>
          <p:nvPr/>
        </p:nvSpPr>
        <p:spPr>
          <a:xfrm>
            <a:off x="7412584" y="2560320"/>
            <a:ext cx="386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Walkie-talkie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7412584" y="2926080"/>
            <a:ext cx="386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chão do salão, em tempo real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681064" y="3383280"/>
            <a:ext cx="4559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90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Quem fala
</a:t>
            </a:r>
            <a:endParaRPr lang="en-US" sz="9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 líderes das equipes de apoio, entre si.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681064" y="4261104"/>
            <a:ext cx="4559656" cy="512064"/>
          </a:xfrm>
          <a:prstGeom prst="roundRect">
            <a:avLst>
              <a:gd name="adj" fmla="val 10714"/>
            </a:avLst>
          </a:prstGeom>
          <a:solidFill>
            <a:srgbClr val="EDEADB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3" name="Text 21"/>
          <p:cNvSpPr txBox="1"/>
          <p:nvPr/>
        </p:nvSpPr>
        <p:spPr>
          <a:xfrm>
            <a:off x="6955384" y="4261104"/>
            <a:ext cx="401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Percurso, filas e incidentes — não procedimento de mesa.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413248"/>
            <a:ext cx="11057839" cy="914400"/>
          </a:xfrm>
          <a:prstGeom prst="roundRect">
            <a:avLst>
              <a:gd name="adj" fmla="val 5000"/>
            </a:avLst>
          </a:prstGeom>
          <a:solidFill>
            <a:srgbClr val="042B5A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5" name="Text 23"/>
          <p:cNvSpPr txBox="1"/>
          <p:nvPr/>
        </p:nvSpPr>
        <p:spPr>
          <a:xfrm>
            <a:off x="950976" y="5413248"/>
            <a:ext cx="102897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Dúvida de procedimento sobe pelo Presidente da Mesa — nunca pelo rádio, nunca pelo voluntário.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5F882E"/>
                </a:solidFill>
                <a:latin typeface="Montserrat"/>
              </a:rPr>
              <a:t>PASSO A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42B5A"/>
                </a:solidFill>
                <a:latin typeface="Montserrat"/>
              </a:rPr>
              <a:t>Da calçada até a urna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0808" y="1207008"/>
            <a:ext cx="414816" cy="2816352"/>
          </a:xfrm>
          <a:prstGeom prst="rect">
            <a:avLst/>
          </a:prstGeom>
          <a:solidFill>
            <a:srgbClr val="D8D3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79328" y="1725528"/>
            <a:ext cx="1280160" cy="182880"/>
          </a:xfrm>
          <a:prstGeom prst="rect">
            <a:avLst/>
          </a:prstGeom>
          <a:noFill/>
        </p:spPr>
        <p:txBody>
          <a:bodyPr rot="-5400000"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1" spc="140">
                <a:solidFill>
                  <a:srgbClr val="6B6B6B"/>
                </a:solidFill>
                <a:latin typeface="Montserrat"/>
              </a:rPr>
              <a:t>MERRION ROAD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07845" y="1258860"/>
            <a:ext cx="0" cy="2718779"/>
          </a:xfrm>
          <a:prstGeom prst="line">
            <a:avLst/>
          </a:prstGeom>
          <a:ln w="25400">
            <a:solidFill>
              <a:srgbClr val="E4DF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179684" y="1414416"/>
            <a:ext cx="2608159" cy="2302231"/>
          </a:xfrm>
          <a:prstGeom prst="rect">
            <a:avLst/>
          </a:prstGeom>
          <a:solidFill>
            <a:srgbClr val="FFFFFF"/>
          </a:solidFill>
          <a:ln w="1778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9684" y="2360000"/>
            <a:ext cx="26081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042B5A"/>
                </a:solidFill>
                <a:latin typeface="Montserrat"/>
              </a:rPr>
              <a:t>HALL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684" y="2640000"/>
            <a:ext cx="260815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0">
                <a:solidFill>
                  <a:srgbClr val="6B6B6B"/>
                </a:solidFill>
                <a:latin typeface="Montserrat"/>
              </a:rPr>
              <a:t>o salão de votação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9684" y="2800000"/>
            <a:ext cx="260815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0">
                <a:solidFill>
                  <a:srgbClr val="6B6B6B"/>
                </a:solidFill>
                <a:latin typeface="Montserrat"/>
              </a:rPr>
              <a:t>as 28 mesas ficam nas paredes — ver o slide seguinte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05574" y="3716648"/>
            <a:ext cx="2281491" cy="725928"/>
          </a:xfrm>
          <a:prstGeom prst="rect">
            <a:avLst/>
          </a:prstGeom>
          <a:solidFill>
            <a:srgbClr val="E4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83352" y="4017390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6B6B6B"/>
                </a:solidFill>
                <a:latin typeface="Montserrat"/>
              </a:rPr>
              <a:t>apron · 14,0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05574" y="4442577"/>
            <a:ext cx="2281491" cy="1814822"/>
          </a:xfrm>
          <a:prstGeom prst="rect">
            <a:avLst/>
          </a:prstGeom>
          <a:solidFill>
            <a:srgbClr val="EDEADB"/>
          </a:solidFill>
          <a:ln w="9525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31509" y="4442577"/>
            <a:ext cx="155556" cy="1814822"/>
          </a:xfrm>
          <a:prstGeom prst="rect">
            <a:avLst/>
          </a:prstGeom>
          <a:solidFill>
            <a:srgbClr val="DBD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505574" y="6101843"/>
            <a:ext cx="2125934" cy="155556"/>
          </a:xfrm>
          <a:prstGeom prst="rect">
            <a:avLst/>
          </a:prstGeom>
          <a:solidFill>
            <a:srgbClr val="DBD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05574" y="6132954"/>
            <a:ext cx="212593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o corredor distribui: C, depois B, depois 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05574" y="4442577"/>
            <a:ext cx="667336" cy="1659266"/>
          </a:xfrm>
          <a:prstGeom prst="rect">
            <a:avLst/>
          </a:prstGeom>
          <a:solidFill>
            <a:srgbClr val="33507E">
              <a:alpha val="21999"/>
            </a:srgbClr>
          </a:solidFill>
          <a:ln w="9525">
            <a:solidFill>
              <a:srgbClr val="3350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05574" y="4980000"/>
            <a:ext cx="6673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33507E"/>
                </a:solidFill>
                <a:latin typeface="Montserrat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5574" y="5390000"/>
            <a:ext cx="66733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fila da porta 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05574" y="6101843"/>
            <a:ext cx="148815" cy="0"/>
          </a:xfrm>
          <a:prstGeom prst="line">
            <a:avLst/>
          </a:prstGeom>
          <a:ln w="38100">
            <a:solidFill>
              <a:srgbClr val="3350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069206" y="4442577"/>
            <a:ext cx="103704" cy="0"/>
          </a:xfrm>
          <a:prstGeom prst="line">
            <a:avLst/>
          </a:prstGeom>
          <a:ln w="38100">
            <a:solidFill>
              <a:srgbClr val="3350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121058" y="3716648"/>
            <a:ext cx="202742" cy="725929"/>
          </a:xfrm>
          <a:prstGeom prst="line">
            <a:avLst/>
          </a:prstGeom>
          <a:ln w="20320">
            <a:solidFill>
              <a:srgbClr val="33507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235133" y="4442577"/>
            <a:ext cx="666817" cy="1659266"/>
          </a:xfrm>
          <a:prstGeom prst="rect">
            <a:avLst/>
          </a:prstGeom>
          <a:solidFill>
            <a:srgbClr val="E8C63A">
              <a:alpha val="21999"/>
            </a:srgbClr>
          </a:solidFill>
          <a:ln w="9525">
            <a:solidFill>
              <a:srgbClr val="E8C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235133" y="4980000"/>
            <a:ext cx="66681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9A7C00"/>
                </a:solidFill>
                <a:latin typeface="Montserrat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35133" y="5390000"/>
            <a:ext cx="666817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fila da porta B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753653" y="6101843"/>
            <a:ext cx="148297" cy="0"/>
          </a:xfrm>
          <a:prstGeom prst="line">
            <a:avLst/>
          </a:prstGeom>
          <a:ln w="38100">
            <a:solidFill>
              <a:srgbClr val="E8C6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516689" y="4442577"/>
            <a:ext cx="103705" cy="0"/>
          </a:xfrm>
          <a:prstGeom prst="line">
            <a:avLst/>
          </a:prstGeom>
          <a:ln w="38100">
            <a:solidFill>
              <a:srgbClr val="E8C6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568541" y="3716648"/>
            <a:ext cx="77779" cy="725929"/>
          </a:xfrm>
          <a:prstGeom prst="line">
            <a:avLst/>
          </a:prstGeom>
          <a:ln w="20320">
            <a:solidFill>
              <a:srgbClr val="E8C6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2964173" y="4442577"/>
            <a:ext cx="667336" cy="1659266"/>
          </a:xfrm>
          <a:prstGeom prst="rect">
            <a:avLst/>
          </a:prstGeom>
          <a:solidFill>
            <a:srgbClr val="C8102E">
              <a:alpha val="21999"/>
            </a:srgbClr>
          </a:solidFill>
          <a:ln w="952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964173" y="4980000"/>
            <a:ext cx="6673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C8102E"/>
                </a:solidFill>
                <a:latin typeface="Montserrat"/>
              </a:rPr>
              <a:t>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64173" y="5390000"/>
            <a:ext cx="66733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fila da porta C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482693" y="6101843"/>
            <a:ext cx="148816" cy="0"/>
          </a:xfrm>
          <a:prstGeom prst="line">
            <a:avLst/>
          </a:prstGeom>
          <a:ln w="38100">
            <a:solidFill>
              <a:srgbClr val="C810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964173" y="4442577"/>
            <a:ext cx="103704" cy="0"/>
          </a:xfrm>
          <a:prstGeom prst="line">
            <a:avLst/>
          </a:prstGeom>
          <a:ln w="38100">
            <a:solidFill>
              <a:srgbClr val="C810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 flipV="1">
            <a:off x="2968839" y="3716648"/>
            <a:ext cx="47186" cy="725929"/>
          </a:xfrm>
          <a:prstGeom prst="line">
            <a:avLst/>
          </a:prstGeom>
          <a:ln w="20320">
            <a:solidFill>
              <a:srgbClr val="C810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66724" y="3716648"/>
            <a:ext cx="62222" cy="0"/>
          </a:xfrm>
          <a:prstGeom prst="line">
            <a:avLst/>
          </a:prstGeom>
          <a:ln w="57150">
            <a:solidFill>
              <a:srgbClr val="40404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669235" y="3744080"/>
            <a:ext cx="457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6B6B6B"/>
                </a:solidFill>
                <a:latin typeface="Montserrat"/>
              </a:rPr>
              <a:t>saída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170058" y="3716648"/>
            <a:ext cx="307483" cy="0"/>
          </a:xfrm>
          <a:prstGeom prst="line">
            <a:avLst/>
          </a:prstGeom>
          <a:ln w="57150">
            <a:solidFill>
              <a:srgbClr val="3350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140920" y="3497192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33507E"/>
                </a:solidFill>
                <a:latin typeface="Montserrat"/>
              </a:rPr>
              <a:t>A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492578" y="3716648"/>
            <a:ext cx="307483" cy="0"/>
          </a:xfrm>
          <a:prstGeom prst="line">
            <a:avLst/>
          </a:prstGeom>
          <a:ln w="57150">
            <a:solidFill>
              <a:srgbClr val="E8C6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463440" y="3497192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9A7C00"/>
                </a:solidFill>
                <a:latin typeface="Montserrat"/>
              </a:rPr>
              <a:t>B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815098" y="3716648"/>
            <a:ext cx="307483" cy="0"/>
          </a:xfrm>
          <a:prstGeom prst="line">
            <a:avLst/>
          </a:prstGeom>
          <a:ln w="57150">
            <a:solidFill>
              <a:srgbClr val="C810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785959" y="3497192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C8102E"/>
                </a:solidFill>
                <a:latin typeface="Montserrat"/>
              </a:rPr>
              <a:t>C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154729" y="3716648"/>
            <a:ext cx="65852" cy="0"/>
          </a:xfrm>
          <a:prstGeom prst="line">
            <a:avLst/>
          </a:prstGeom>
          <a:ln w="57150">
            <a:solidFill>
              <a:srgbClr val="1E367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248013" y="3515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1">
                <a:solidFill>
                  <a:srgbClr val="1E3674"/>
                </a:solidFill>
                <a:latin typeface="Montserrat"/>
              </a:rPr>
              <a:t>preferencial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363693" y="3716648"/>
            <a:ext cx="62222" cy="0"/>
          </a:xfrm>
          <a:prstGeom prst="line">
            <a:avLst/>
          </a:prstGeom>
          <a:ln w="57150">
            <a:solidFill>
              <a:srgbClr val="40404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166204" y="3744080"/>
            <a:ext cx="457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6B6B6B"/>
                </a:solidFill>
                <a:latin typeface="Montserrat"/>
              </a:rPr>
              <a:t>saída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3995251" y="2005529"/>
            <a:ext cx="212594" cy="0"/>
          </a:xfrm>
          <a:prstGeom prst="line">
            <a:avLst/>
          </a:prstGeom>
          <a:ln w="27940">
            <a:solidFill>
              <a:srgbClr val="5F88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995251" y="2005529"/>
            <a:ext cx="0" cy="2359270"/>
          </a:xfrm>
          <a:prstGeom prst="line">
            <a:avLst/>
          </a:prstGeom>
          <a:ln w="27940">
            <a:solidFill>
              <a:srgbClr val="5F88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3709287" y="4364799"/>
            <a:ext cx="285964" cy="0"/>
          </a:xfrm>
          <a:prstGeom prst="line">
            <a:avLst/>
          </a:prstGeom>
          <a:ln w="27940">
            <a:solidFill>
              <a:srgbClr val="5F88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709287" y="4364799"/>
            <a:ext cx="0" cy="233334"/>
          </a:xfrm>
          <a:prstGeom prst="line">
            <a:avLst/>
          </a:prstGeom>
          <a:ln w="27940">
            <a:solidFill>
              <a:srgbClr val="5F882E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428323" y="2990719"/>
            <a:ext cx="1280160" cy="182880"/>
          </a:xfrm>
          <a:prstGeom prst="rect">
            <a:avLst/>
          </a:prstGeom>
          <a:noFill/>
        </p:spPr>
        <p:txBody>
          <a:bodyPr rot="-5400000"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lateral leste do Hall 2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20977" y="1918661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842784" y="1886657"/>
            <a:ext cx="777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5F882E"/>
                </a:solidFill>
                <a:latin typeface="Montserrat"/>
              </a:rPr>
              <a:t>PORTÃO 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2784" y="2051249"/>
            <a:ext cx="777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entrada do eleitor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879282" y="1737360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879282" y="1778508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06009" y="3027403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006009" y="3068551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03008" y="4790373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803008" y="4831521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449669" y="5697785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449669" y="5738933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527448" y="3784443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527448" y="3825591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127832" y="6309251"/>
            <a:ext cx="1037041" cy="0"/>
          </a:xfrm>
          <a:prstGeom prst="line">
            <a:avLst/>
          </a:prstGeom>
          <a:ln w="15240">
            <a:solidFill>
              <a:srgbClr val="042B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2210593" y="6290000"/>
            <a:ext cx="457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20 m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760720" y="122529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760720" y="1257300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44768" y="1207008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042B5A"/>
                </a:solidFill>
                <a:latin typeface="Montserrat"/>
              </a:rPr>
              <a:t>Portão B, na Merrion Road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44768" y="1481328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B6B6B"/>
                </a:solidFill>
                <a:latin typeface="Montserrat"/>
              </a:rPr>
              <a:t>É por ali que o eleitor entra. Antes do portão há uma mesa de consulta: quem não sabe o número da sua seção descobre ali, e anota a letra.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760720" y="204825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760720" y="2080260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2029968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042B5A"/>
                </a:solidFill>
                <a:latin typeface="Montserrat"/>
              </a:rPr>
              <a:t>Pela lateral leste do Hall 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44768" y="2304288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B6B6B"/>
                </a:solidFill>
                <a:latin typeface="Montserrat"/>
              </a:rPr>
              <a:t>O caminho contorna o salão pelo lado leste e desemboca no apron, entre o Hall 2 e o pátio.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760720" y="287121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760720" y="2903220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44768" y="2852928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042B5A"/>
                </a:solidFill>
                <a:latin typeface="Montserrat"/>
              </a:rPr>
              <a:t>Ring 3, pelo canto nordeste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44768" y="3127248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B6B6B"/>
                </a:solidFill>
                <a:latin typeface="Montserrat"/>
              </a:rPr>
              <a:t>O pátio de fila fica ao ar livre, ao sul do salão. O corredor de chegada distribui para as três zonas: C primeiro, B depois, A no fim.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760720" y="369417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5760720" y="3726180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44768" y="3675888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042B5A"/>
                </a:solidFill>
                <a:latin typeface="Montserrat"/>
              </a:rPr>
              <a:t>A sua zona, a sua fila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44768" y="3950208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B6B6B"/>
                </a:solidFill>
                <a:latin typeface="Montserrat"/>
              </a:rPr>
              <a:t>Cada zona é a fila de uma porta, e as três têm o mesmo tamanho. Entra-se pela boca no fundo e sai-se pela abertura da frente.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760720" y="451713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760720" y="4549140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44768" y="4498848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042B5A"/>
                </a:solidFill>
                <a:latin typeface="Montserrat"/>
              </a:rPr>
              <a:t>A porta A, B ou 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144768" y="4773168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B6B6B"/>
                </a:solidFill>
                <a:latin typeface="Montserrat"/>
              </a:rPr>
              <a:t>Atravessado o apron, cada zona entra pela sua porta. Da porta até a mesa é sempre a mesma letra.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760720" y="5431536"/>
            <a:ext cx="614476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5760720" y="5431536"/>
            <a:ext cx="45720" cy="566928"/>
          </a:xfrm>
          <a:prstGeom prst="rect">
            <a:avLst/>
          </a:prstGeom>
          <a:solidFill>
            <a:srgbClr val="1E3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5961888" y="5559552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42B5A"/>
                </a:solidFill>
                <a:latin typeface="Montserrat"/>
              </a:rPr>
              <a:t>Atendimento preferencial: idoso, gestante, pessoa com deficiência e quem os acompanha entram pela porta à direita da C, sem fila.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6928" y="6492240"/>
            <a:ext cx="11064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>
                <a:solidFill>
                  <a:srgbClr val="6B6B6B"/>
                </a:solidFill>
                <a:latin typeface="Montserrat"/>
              </a:rPr>
              <a:t>O Hall 2, o apron e o pátio do Ring 3 estão em escala e na posição relativa medida em planta. O trecho entre o portão e o apron é esquemático: indica o lado por onde se anda, não a distância.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5F882E"/>
                </a:solidFill>
                <a:latin typeface="Montserrat"/>
              </a:rPr>
              <a:t>DENTRO DO SALÃO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>
                <a:solidFill>
                  <a:srgbClr val="042B5A"/>
                </a:solidFill>
                <a:latin typeface="Montserrat"/>
              </a:rPr>
              <a:t>O Hall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603504"/>
            <a:ext cx="5669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B6B6B"/>
                </a:solidFill>
                <a:latin typeface="Montserrat"/>
              </a:rPr>
              <a:t>As mesas não têm número: cada uma traz as seções que votam nela, que é o que você tem na mão.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51560"/>
            <a:ext cx="5718212" cy="5047488"/>
          </a:xfrm>
          <a:prstGeom prst="rect">
            <a:avLst/>
          </a:prstGeom>
          <a:solidFill>
            <a:srgbClr val="FFFFFF"/>
          </a:solidFill>
          <a:ln w="190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33024" y="1663170"/>
            <a:ext cx="784406" cy="3682165"/>
          </a:xfrm>
          <a:prstGeom prst="rect">
            <a:avLst/>
          </a:prstGeom>
          <a:solidFill>
            <a:srgbClr val="33507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756043" y="1517656"/>
            <a:ext cx="3713996" cy="557042"/>
          </a:xfrm>
          <a:prstGeom prst="rect">
            <a:avLst/>
          </a:prstGeom>
          <a:solidFill>
            <a:srgbClr val="E8C63A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716326" y="1898492"/>
            <a:ext cx="761670" cy="3546883"/>
          </a:xfrm>
          <a:prstGeom prst="rect">
            <a:avLst/>
          </a:prstGeom>
          <a:solidFill>
            <a:srgbClr val="C8102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48609" y="5371482"/>
            <a:ext cx="363782" cy="727565"/>
          </a:xfrm>
          <a:prstGeom prst="rect">
            <a:avLst/>
          </a:prstGeom>
          <a:solidFill>
            <a:srgbClr val="33507E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817431" y="5371482"/>
            <a:ext cx="1594960" cy="341046"/>
          </a:xfrm>
          <a:prstGeom prst="rect">
            <a:avLst/>
          </a:prstGeom>
          <a:solidFill>
            <a:srgbClr val="33507E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817431" y="1551761"/>
            <a:ext cx="341046" cy="4160767"/>
          </a:xfrm>
          <a:prstGeom prst="rect">
            <a:avLst/>
          </a:prstGeom>
          <a:solidFill>
            <a:srgbClr val="33507E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V="1">
            <a:off x="3230501" y="5246431"/>
            <a:ext cx="0" cy="738934"/>
          </a:xfrm>
          <a:prstGeom prst="line">
            <a:avLst/>
          </a:prstGeom>
          <a:ln w="25400">
            <a:solidFill>
              <a:srgbClr val="33507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613609" y="2279327"/>
            <a:ext cx="341046" cy="3819720"/>
          </a:xfrm>
          <a:prstGeom prst="rect">
            <a:avLst/>
          </a:prstGeom>
          <a:solidFill>
            <a:srgbClr val="E8C63A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3784133" y="5246431"/>
            <a:ext cx="0" cy="738934"/>
          </a:xfrm>
          <a:prstGeom prst="line">
            <a:avLst/>
          </a:prstGeom>
          <a:ln w="25400">
            <a:solidFill>
              <a:srgbClr val="E8C6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204757" y="5735265"/>
            <a:ext cx="341046" cy="363782"/>
          </a:xfrm>
          <a:prstGeom prst="rect">
            <a:avLst/>
          </a:prstGeom>
          <a:solidFill>
            <a:srgbClr val="C8102E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04757" y="5507900"/>
            <a:ext cx="511569" cy="227364"/>
          </a:xfrm>
          <a:prstGeom prst="rect">
            <a:avLst/>
          </a:prstGeom>
          <a:solidFill>
            <a:srgbClr val="C8102E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75280" y="1608602"/>
            <a:ext cx="341046" cy="3899298"/>
          </a:xfrm>
          <a:prstGeom prst="rect">
            <a:avLst/>
          </a:prstGeom>
          <a:solidFill>
            <a:srgbClr val="C8102E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V="1">
            <a:off x="4375280" y="5246431"/>
            <a:ext cx="0" cy="738934"/>
          </a:xfrm>
          <a:prstGeom prst="line">
            <a:avLst/>
          </a:prstGeom>
          <a:ln w="25400">
            <a:solidFill>
              <a:srgbClr val="C810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817431" y="2074699"/>
            <a:ext cx="2898895" cy="204627"/>
          </a:xfrm>
          <a:prstGeom prst="rect">
            <a:avLst/>
          </a:prstGeom>
          <a:solidFill>
            <a:srgbClr val="E8C63A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66928" y="5135023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" y="5135023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0513 1105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691662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4691662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1352 0522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418825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4418825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3078 2847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3975465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3975465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3179 0530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249036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3249036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3313 3889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2930726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66928" y="2930726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3309 1314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2487365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" y="2487365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3142 1278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2214528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6928" y="2214528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3161 3307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1771168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" y="1771168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3311 3913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64041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682150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0512 2855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07401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125510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1160 3845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625711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443820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3315 3778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83971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202080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3108 3422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27332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645440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3302 3181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00169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918278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3305 0521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43530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361638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3306 0518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816367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634475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3308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59727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077836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3832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77997" y="2006490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477997" y="2006490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0511 1100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77997" y="2449850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477997" y="2449850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0517 1292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77997" y="2768160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77997" y="2768160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3322 3752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77997" y="3086470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477997" y="3086470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3054 1099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77997" y="3529831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477997" y="3529831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3216 0527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77997" y="3802668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477997" y="3802668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3862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77997" y="4246028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477997" y="4246028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3245 0519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77997" y="4518865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477997" y="4518865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3229 3821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77997" y="4962226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477997" y="4962226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3688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77997" y="5235063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477997" y="5235063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3442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2073216" y="6099048"/>
            <a:ext cx="136419" cy="0"/>
          </a:xfrm>
          <a:prstGeom prst="line">
            <a:avLst/>
          </a:prstGeom>
          <a:ln w="76200">
            <a:solidFill>
              <a:srgbClr val="40404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729945" y="6153912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1">
                <a:solidFill>
                  <a:srgbClr val="6B6B6B"/>
                </a:solidFill>
                <a:latin typeface="Montserrat"/>
              </a:rPr>
              <a:t>saída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738257" y="6099048"/>
            <a:ext cx="674135" cy="0"/>
          </a:xfrm>
          <a:prstGeom prst="line">
            <a:avLst/>
          </a:prstGeom>
          <a:ln w="76200">
            <a:solidFill>
              <a:srgbClr val="3350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801004" y="614476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33507E"/>
                </a:solidFill>
                <a:latin typeface="Montserrat"/>
              </a:rPr>
              <a:t>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09564" y="63550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entrada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445360" y="6099048"/>
            <a:ext cx="674135" cy="0"/>
          </a:xfrm>
          <a:prstGeom prst="line">
            <a:avLst/>
          </a:prstGeom>
          <a:ln w="76200">
            <a:solidFill>
              <a:srgbClr val="E8C6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508107" y="614476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9A7C00"/>
                </a:solidFill>
                <a:latin typeface="Montserrat"/>
              </a:rPr>
              <a:t>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16667" y="63550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entrada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152463" y="6099048"/>
            <a:ext cx="674135" cy="0"/>
          </a:xfrm>
          <a:prstGeom prst="line">
            <a:avLst/>
          </a:prstGeom>
          <a:ln w="76200">
            <a:solidFill>
              <a:srgbClr val="C810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4215211" y="614476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C8102E"/>
                </a:solidFill>
                <a:latin typeface="Montserrat"/>
              </a:rPr>
              <a:t>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23771" y="63550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entrada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897081" y="6099048"/>
            <a:ext cx="144376" cy="0"/>
          </a:xfrm>
          <a:prstGeom prst="line">
            <a:avLst/>
          </a:prstGeom>
          <a:ln w="76200">
            <a:solidFill>
              <a:srgbClr val="1E367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4557789" y="6153912"/>
            <a:ext cx="822960" cy="262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lang="en-US" sz="750" dirty="0">
                <a:solidFill>
                  <a:srgbClr val="1E3674"/>
                </a:solidFill>
                <a:latin typeface="Montserrat"/>
              </a:rPr>
              <a:t>entrada</a:t>
            </a:r>
            <a:br>
              <a:rPr lang="en-US" sz="750" dirty="0">
                <a:solidFill>
                  <a:srgbClr val="1E3674"/>
                </a:solidFill>
                <a:latin typeface="Montserrat"/>
              </a:rPr>
            </a:br>
            <a:r>
              <a:rPr sz="750" dirty="0" err="1">
                <a:solidFill>
                  <a:srgbClr val="1E3674"/>
                </a:solidFill>
                <a:latin typeface="Montserrat"/>
              </a:rPr>
              <a:t>preferencial</a:t>
            </a:r>
            <a:endParaRPr sz="750" dirty="0">
              <a:solidFill>
                <a:srgbClr val="1E3674"/>
              </a:solidFill>
              <a:latin typeface="Montserrat"/>
            </a:endParaRPr>
          </a:p>
        </p:txBody>
      </p:sp>
      <p:cxnSp>
        <p:nvCxnSpPr>
          <p:cNvPr id="90" name="Connector 89"/>
          <p:cNvCxnSpPr/>
          <p:nvPr/>
        </p:nvCxnSpPr>
        <p:spPr>
          <a:xfrm>
            <a:off x="5355220" y="6099048"/>
            <a:ext cx="136419" cy="0"/>
          </a:xfrm>
          <a:prstGeom prst="line">
            <a:avLst/>
          </a:prstGeom>
          <a:ln w="76200">
            <a:solidFill>
              <a:srgbClr val="40404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5011949" y="6153912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1">
                <a:solidFill>
                  <a:srgbClr val="6B6B6B"/>
                </a:solidFill>
                <a:latin typeface="Montserrat"/>
              </a:rPr>
              <a:t>saída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605180" y="1051560"/>
            <a:ext cx="4846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spc="120">
                <a:solidFill>
                  <a:srgbClr val="042B5A"/>
                </a:solidFill>
                <a:latin typeface="Montserrat"/>
              </a:rPr>
              <a:t>COMO LER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605180" y="1444752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335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6897788" y="141732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042B5A"/>
                </a:solidFill>
                <a:latin typeface="Montserrat"/>
              </a:rPr>
              <a:t>Porta A → parede oeste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605180" y="1810512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E8C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897788" y="178308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042B5A"/>
                </a:solidFill>
                <a:latin typeface="Montserrat"/>
              </a:rPr>
              <a:t>Porta B → parede norte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605180" y="2176272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6897788" y="214884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042B5A"/>
                </a:solidFill>
                <a:latin typeface="Montserrat"/>
              </a:rPr>
              <a:t>Porta C → parede leste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605180" y="2542032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1E3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6897788" y="251460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042B5A"/>
                </a:solidFill>
                <a:latin typeface="Montserrat"/>
              </a:rPr>
              <a:t>Entrada preferencial, sem fila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605180" y="2907791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404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897788" y="288036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042B5A"/>
                </a:solidFill>
                <a:latin typeface="Montserrat"/>
              </a:rPr>
              <a:t>Saída — pela mesma faixa da parede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05180" y="3383279"/>
            <a:ext cx="48463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B6B"/>
                </a:solidFill>
                <a:latin typeface="Montserrat"/>
              </a:rPr>
              <a:t>Da porta, a avenida da sua cor leva até a parede. Da avenida da parede, um passo até a sua seção.</a:t>
            </a:r>
          </a:p>
          <a:p>
            <a:pPr algn="l">
              <a:lnSpc>
                <a:spcPct val="118000"/>
              </a:lnSpc>
            </a:pPr>
            <a:endParaRPr sz="1000" b="0">
              <a:solidFill>
                <a:srgbClr val="6B6B6B"/>
              </a:solidFill>
              <a:latin typeface="Montserrat"/>
            </a:endParaRPr>
          </a:p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B6B"/>
                </a:solidFill>
                <a:latin typeface="Montserrat"/>
              </a:rPr>
              <a:t>Quem votou volta pela mesma faixa da parede e sai pela fachada sul — ninguém atravessa a avenida de quem está entrando.</a:t>
            </a:r>
          </a:p>
          <a:p>
            <a:pPr algn="l">
              <a:lnSpc>
                <a:spcPct val="118000"/>
              </a:lnSpc>
            </a:pPr>
            <a:endParaRPr sz="1000" b="0">
              <a:solidFill>
                <a:srgbClr val="6B6B6B"/>
              </a:solidFill>
              <a:latin typeface="Montserrat"/>
            </a:endParaRPr>
          </a:p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B6B"/>
                </a:solidFill>
                <a:latin typeface="Montserrat"/>
              </a:rPr>
              <a:t>A faixa mais escura na frente da parede norte é a pequena avenida de 1,80 m: é ali que a fila da porta B escolhe o lado, andando.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6620256"/>
            <a:ext cx="11064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>
                <a:solidFill>
                  <a:srgbClr val="6B6B6B"/>
                </a:solidFill>
                <a:latin typeface="Montserrat"/>
              </a:rPr>
              <a:t>Planta em escala · fachada sul embaixo, como quem chega do Ring 3 · todas as formas são editáveis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FLUXO NA MESA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Quatro funções, quatro donos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etapa tem um dono. A única coisa que duas pessoas fazem é conferir o documento — e isso é de propósito.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194560"/>
            <a:ext cx="2558720" cy="2834640"/>
          </a:xfrm>
          <a:prstGeom prst="roundRect">
            <a:avLst>
              <a:gd name="adj" fmla="val 178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8" name="Shape 6"/>
          <p:cNvSpPr/>
          <p:nvPr/>
        </p:nvSpPr>
        <p:spPr>
          <a:xfrm>
            <a:off x="877824" y="2505456"/>
            <a:ext cx="548640" cy="548640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9" name="Text 7"/>
          <p:cNvSpPr txBox="1"/>
          <p:nvPr/>
        </p:nvSpPr>
        <p:spPr>
          <a:xfrm>
            <a:off x="877824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3200400"/>
            <a:ext cx="193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Secretário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621024"/>
            <a:ext cx="1936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Recebe o eleitor na frente da mesa, confere o documento, confirma a seção e aponta o mesário certo. Organiza a fila pela prioridade legal.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99968" y="2194560"/>
            <a:ext cx="2558720" cy="2834640"/>
          </a:xfrm>
          <a:prstGeom prst="roundRect">
            <a:avLst>
              <a:gd name="adj" fmla="val 178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3" name="Shape 11"/>
          <p:cNvSpPr/>
          <p:nvPr/>
        </p:nvSpPr>
        <p:spPr>
          <a:xfrm>
            <a:off x="3710864" y="2505456"/>
            <a:ext cx="548640" cy="548640"/>
          </a:xfrm>
          <a:prstGeom prst="ellipse">
            <a:avLst/>
          </a:prstGeom>
          <a:solidFill>
            <a:srgbClr val="33507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 txBox="1"/>
          <p:nvPr/>
        </p:nvSpPr>
        <p:spPr>
          <a:xfrm>
            <a:off x="3710864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1º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710864" y="3200400"/>
            <a:ext cx="193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1º mesário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710864" y="3621024"/>
            <a:ext cx="1936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Fica com um dos cadernos da mesa.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Pergunta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seção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nome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Começa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busca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pelo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nome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caderno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da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seção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correspondente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antes de o Presidente digitar.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33008" y="2194560"/>
            <a:ext cx="2558720" cy="2834640"/>
          </a:xfrm>
          <a:prstGeom prst="roundRect">
            <a:avLst>
              <a:gd name="adj" fmla="val 178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8" name="Shape 16"/>
          <p:cNvSpPr/>
          <p:nvPr/>
        </p:nvSpPr>
        <p:spPr>
          <a:xfrm>
            <a:off x="6543904" y="2505456"/>
            <a:ext cx="548640" cy="548640"/>
          </a:xfrm>
          <a:prstGeom prst="ellipse">
            <a:avLst/>
          </a:prstGeom>
          <a:solidFill>
            <a:srgbClr val="33507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9" name="Text 17"/>
          <p:cNvSpPr txBox="1"/>
          <p:nvPr/>
        </p:nvSpPr>
        <p:spPr>
          <a:xfrm>
            <a:off x="6543904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2º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43904" y="3200400"/>
            <a:ext cx="193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2º mesário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543904" y="3621024"/>
            <a:ext cx="1936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Fica com o outro caderno, pela mesma regra. Quem tem o caderno do eleitor marca e entrega o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comprovante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b="1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apenas</a:t>
            </a:r>
            <a:r>
              <a:rPr lang="en-US" sz="10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após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votação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66047" y="2194560"/>
            <a:ext cx="2558720" cy="2834640"/>
          </a:xfrm>
          <a:prstGeom prst="roundRect">
            <a:avLst>
              <a:gd name="adj" fmla="val 178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3" name="Shape 21"/>
          <p:cNvSpPr/>
          <p:nvPr/>
        </p:nvSpPr>
        <p:spPr>
          <a:xfrm>
            <a:off x="9376943" y="2505456"/>
            <a:ext cx="548640" cy="548640"/>
          </a:xfrm>
          <a:prstGeom prst="ellipse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4" name="Text 22"/>
          <p:cNvSpPr txBox="1"/>
          <p:nvPr/>
        </p:nvSpPr>
        <p:spPr>
          <a:xfrm>
            <a:off x="9376943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376943" y="3200400"/>
            <a:ext cx="193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Presidente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376943" y="3621024"/>
            <a:ext cx="1936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CPF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título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terminal de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votação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autoriza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se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dirigir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à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urna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Opera, para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situações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extraordinárias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o terminal.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5358384"/>
            <a:ext cx="11057839" cy="877824"/>
          </a:xfrm>
          <a:prstGeom prst="roundRect">
            <a:avLst>
              <a:gd name="adj" fmla="val 5208"/>
            </a:avLst>
          </a:prstGeom>
          <a:solidFill>
            <a:srgbClr val="EDEADB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82296" cy="877824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9" name="Text 27"/>
          <p:cNvSpPr txBox="1"/>
          <p:nvPr/>
        </p:nvSpPr>
        <p:spPr>
          <a:xfrm>
            <a:off x="932688" y="5358384"/>
            <a:ext cx="1032631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Funções</a:t>
            </a: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20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podem</a:t>
            </a: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– e </a:t>
            </a:r>
            <a:r>
              <a:rPr lang="en-US" sz="120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devem</a:t>
            </a: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– ser </a:t>
            </a:r>
            <a:r>
              <a:rPr lang="en-US" sz="120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revezadas</a:t>
            </a: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entre </a:t>
            </a:r>
            <a:r>
              <a:rPr lang="en-US" sz="120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</a:t>
            </a: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20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integrantes</a:t>
            </a: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da mesa.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FLUXO NA MESA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Seis passos, dois eleitores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705813" cy="2340864"/>
          </a:xfrm>
          <a:prstGeom prst="roundRect">
            <a:avLst>
              <a:gd name="adj" fmla="val 2680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7" name="Shape 5"/>
          <p:cNvSpPr/>
          <p:nvPr/>
        </p:nvSpPr>
        <p:spPr>
          <a:xfrm>
            <a:off x="786384" y="1554480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8" name="Text 6"/>
          <p:cNvSpPr txBox="1"/>
          <p:nvPr/>
        </p:nvSpPr>
        <p:spPr>
          <a:xfrm>
            <a:off x="78638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1975104"/>
            <a:ext cx="1266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Recepção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560320"/>
            <a:ext cx="12669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00" b="1" kern="0" spc="8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SECRETÁRIO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2889504"/>
            <a:ext cx="12669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Confere o documento, confirma a seção e aponta o mesário.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437333" y="1335024"/>
            <a:ext cx="1705813" cy="2340864"/>
          </a:xfrm>
          <a:prstGeom prst="roundRect">
            <a:avLst>
              <a:gd name="adj" fmla="val 2680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3" name="Shape 11"/>
          <p:cNvSpPr/>
          <p:nvPr/>
        </p:nvSpPr>
        <p:spPr>
          <a:xfrm>
            <a:off x="2656789" y="1554480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 txBox="1"/>
          <p:nvPr/>
        </p:nvSpPr>
        <p:spPr>
          <a:xfrm>
            <a:off x="2656789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56789" y="1975104"/>
            <a:ext cx="1266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Busca antecipada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656789" y="2560320"/>
            <a:ext cx="12669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00" b="1" kern="0" spc="8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MESÁRIO DO CADERNO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2656789" y="2889504"/>
            <a:ext cx="12669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Procura o nome antes da digitação começar.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07738" y="1335024"/>
            <a:ext cx="1705813" cy="2340864"/>
          </a:xfrm>
          <a:prstGeom prst="roundRect">
            <a:avLst>
              <a:gd name="adj" fmla="val 2680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9" name="Shape 17"/>
          <p:cNvSpPr/>
          <p:nvPr/>
        </p:nvSpPr>
        <p:spPr>
          <a:xfrm>
            <a:off x="4527194" y="1554480"/>
            <a:ext cx="310896" cy="310896"/>
          </a:xfrm>
          <a:prstGeom prst="ellipse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0" name="Text 18"/>
          <p:cNvSpPr txBox="1"/>
          <p:nvPr/>
        </p:nvSpPr>
        <p:spPr>
          <a:xfrm>
            <a:off x="452719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27194" y="1975104"/>
            <a:ext cx="1266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Habilitação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527194" y="2560320"/>
            <a:ext cx="12669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00" b="1" kern="0" spc="8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PRESIDENTE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4527194" y="2889504"/>
            <a:ext cx="12669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CPF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título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terminal.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178144" y="1335024"/>
            <a:ext cx="1705813" cy="2340864"/>
          </a:xfrm>
          <a:prstGeom prst="roundRect">
            <a:avLst>
              <a:gd name="adj" fmla="val 2680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5" name="Shape 23"/>
          <p:cNvSpPr/>
          <p:nvPr/>
        </p:nvSpPr>
        <p:spPr>
          <a:xfrm>
            <a:off x="6397600" y="1554480"/>
            <a:ext cx="310896" cy="310896"/>
          </a:xfrm>
          <a:prstGeom prst="ellipse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6" name="Text 24"/>
          <p:cNvSpPr txBox="1"/>
          <p:nvPr/>
        </p:nvSpPr>
        <p:spPr>
          <a:xfrm>
            <a:off x="639760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97600" y="1975104"/>
            <a:ext cx="1266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Nome e número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397600" y="2560320"/>
            <a:ext cx="12669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00" b="1" kern="0" spc="8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PRESIDENTE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6397600" y="2889504"/>
            <a:ext cx="12669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00"/>
              </a:lnSpc>
            </a:pPr>
            <a:r>
              <a:rPr lang="pt-BR" sz="850" dirty="0">
                <a:solidFill>
                  <a:srgbClr val="6B6B6B"/>
                </a:solidFill>
                <a:latin typeface="Montserrat" pitchFamily="34" charset="0"/>
              </a:rPr>
              <a:t>Ao serem exibidos os dados no Terminal do</a:t>
            </a:r>
          </a:p>
          <a:p>
            <a:pPr>
              <a:lnSpc>
                <a:spcPts val="1200"/>
              </a:lnSpc>
            </a:pPr>
            <a:r>
              <a:rPr lang="pt-BR" sz="850" dirty="0">
                <a:solidFill>
                  <a:srgbClr val="6B6B6B"/>
                </a:solidFill>
                <a:latin typeface="Montserrat" pitchFamily="34" charset="0"/>
              </a:rPr>
              <a:t>Mesário, lê em voz alta e confirma o nome com eleitor.</a:t>
            </a:r>
            <a:endParaRPr lang="en-US" sz="850" dirty="0">
              <a:solidFill>
                <a:srgbClr val="6B6B6B"/>
              </a:solidFill>
              <a:latin typeface="Montserrat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048549" y="1335024"/>
            <a:ext cx="1705813" cy="2340864"/>
          </a:xfrm>
          <a:prstGeom prst="roundRect">
            <a:avLst>
              <a:gd name="adj" fmla="val 2680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1" name="Shape 29"/>
          <p:cNvSpPr/>
          <p:nvPr/>
        </p:nvSpPr>
        <p:spPr>
          <a:xfrm>
            <a:off x="8268005" y="1554480"/>
            <a:ext cx="310896" cy="310896"/>
          </a:xfrm>
          <a:prstGeom prst="ellipse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2" name="Text 30"/>
          <p:cNvSpPr txBox="1"/>
          <p:nvPr/>
        </p:nvSpPr>
        <p:spPr>
          <a:xfrm>
            <a:off x="8268005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268005" y="1975104"/>
            <a:ext cx="1266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Confirmação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268005" y="2560320"/>
            <a:ext cx="12669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00" b="1" kern="0" spc="8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MESÁRIO DO CADERNO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8268005" y="2889504"/>
            <a:ext cx="12669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Confere que é a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mesma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pessoa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Assinala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caderno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 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retira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comprovante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918954" y="1335024"/>
            <a:ext cx="1705813" cy="2340864"/>
          </a:xfrm>
          <a:prstGeom prst="roundRect">
            <a:avLst>
              <a:gd name="adj" fmla="val 2680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7" name="Shape 35"/>
          <p:cNvSpPr/>
          <p:nvPr/>
        </p:nvSpPr>
        <p:spPr>
          <a:xfrm>
            <a:off x="10138410" y="1554480"/>
            <a:ext cx="310896" cy="310896"/>
          </a:xfrm>
          <a:prstGeom prst="ellipse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8" name="Text 36"/>
          <p:cNvSpPr txBox="1"/>
          <p:nvPr/>
        </p:nvSpPr>
        <p:spPr>
          <a:xfrm>
            <a:off x="1013841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0138410" y="1975104"/>
            <a:ext cx="1266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Voto e comprovante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10138410" y="2560320"/>
            <a:ext cx="12669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00" b="1" kern="0" spc="8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10138410" y="2889504"/>
            <a:ext cx="12669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Vota, recolhe o próprio celular e recebe o comprovante.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3895344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A MESA RÁPIDA FAZ DE DIFERENTE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442384" y="4041648"/>
            <a:ext cx="4788256" cy="1335024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4" name="Text 42"/>
          <p:cNvSpPr txBox="1"/>
          <p:nvPr/>
        </p:nvSpPr>
        <p:spPr>
          <a:xfrm>
            <a:off x="566928" y="418795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 N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066544" y="4187952"/>
            <a:ext cx="1160488" cy="420624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6" name="Text 44"/>
          <p:cNvSpPr txBox="1"/>
          <p:nvPr/>
        </p:nvSpPr>
        <p:spPr>
          <a:xfrm>
            <a:off x="2066544" y="4187952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263608" y="4187952"/>
            <a:ext cx="1160488" cy="420624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8" name="Text 46"/>
          <p:cNvSpPr txBox="1"/>
          <p:nvPr/>
        </p:nvSpPr>
        <p:spPr>
          <a:xfrm>
            <a:off x="3263608" y="4187952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460672" y="4187952"/>
            <a:ext cx="1160488" cy="420624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50" name="Text 48"/>
          <p:cNvSpPr txBox="1"/>
          <p:nvPr/>
        </p:nvSpPr>
        <p:spPr>
          <a:xfrm>
            <a:off x="4460672" y="4187952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657736" y="4187952"/>
            <a:ext cx="1160488" cy="420624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52" name="Text 50"/>
          <p:cNvSpPr txBox="1"/>
          <p:nvPr/>
        </p:nvSpPr>
        <p:spPr>
          <a:xfrm>
            <a:off x="5657736" y="4187952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854800" y="4187952"/>
            <a:ext cx="1160488" cy="420624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54" name="Text 52"/>
          <p:cNvSpPr txBox="1"/>
          <p:nvPr/>
        </p:nvSpPr>
        <p:spPr>
          <a:xfrm>
            <a:off x="6854800" y="4187952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051863" y="4187952"/>
            <a:ext cx="1160488" cy="420624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56" name="Text 54"/>
          <p:cNvSpPr txBox="1"/>
          <p:nvPr/>
        </p:nvSpPr>
        <p:spPr>
          <a:xfrm>
            <a:off x="8051863" y="4187952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566928" y="4809744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 N+1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460672" y="4809744"/>
            <a:ext cx="1160488" cy="420624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59" name="Text 57"/>
          <p:cNvSpPr txBox="1"/>
          <p:nvPr/>
        </p:nvSpPr>
        <p:spPr>
          <a:xfrm>
            <a:off x="4460672" y="4809744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657736" y="4809744"/>
            <a:ext cx="1160488" cy="420624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61" name="Text 59"/>
          <p:cNvSpPr txBox="1"/>
          <p:nvPr/>
        </p:nvSpPr>
        <p:spPr>
          <a:xfrm>
            <a:off x="5657736" y="4809744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854800" y="4809744"/>
            <a:ext cx="1160488" cy="420624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63" name="Text 61"/>
          <p:cNvSpPr txBox="1"/>
          <p:nvPr/>
        </p:nvSpPr>
        <p:spPr>
          <a:xfrm>
            <a:off x="6854800" y="4809744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051863" y="4809744"/>
            <a:ext cx="1160488" cy="420624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65" name="Text 63"/>
          <p:cNvSpPr txBox="1"/>
          <p:nvPr/>
        </p:nvSpPr>
        <p:spPr>
          <a:xfrm>
            <a:off x="8051863" y="4809744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9248927" y="4809744"/>
            <a:ext cx="1160488" cy="420624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67" name="Text 65"/>
          <p:cNvSpPr txBox="1"/>
          <p:nvPr/>
        </p:nvSpPr>
        <p:spPr>
          <a:xfrm>
            <a:off x="9248927" y="4809744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10445991" y="4809744"/>
            <a:ext cx="1160488" cy="420624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69" name="Text 67"/>
          <p:cNvSpPr txBox="1"/>
          <p:nvPr/>
        </p:nvSpPr>
        <p:spPr>
          <a:xfrm>
            <a:off x="10445991" y="4809744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4442384" y="5358384"/>
            <a:ext cx="478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sobreposição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566928" y="5632704"/>
            <a:ext cx="11057839" cy="713232"/>
          </a:xfrm>
          <a:prstGeom prst="roundRect">
            <a:avLst>
              <a:gd name="adj" fmla="val 6410"/>
            </a:avLst>
          </a:prstGeom>
          <a:solidFill>
            <a:srgbClr val="042B5A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72" name="Text 70"/>
          <p:cNvSpPr txBox="1"/>
          <p:nvPr/>
        </p:nvSpPr>
        <p:spPr>
          <a:xfrm>
            <a:off x="950976" y="5632704"/>
            <a:ext cx="102897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ganho não é digitar mais rápido: é o passo 2 do próximo eleitor acontecer enquanto o atual ainda está na cabine.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IDENTIFICAÇÃO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Qualquer documento oficial, com foto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espírito da norma é simples: confirmar que é a mesma pessoa. Não importa se o documento é brasileiro, irlandês ou de outra nacionalidade.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194560"/>
            <a:ext cx="2558720" cy="2834640"/>
          </a:xfrm>
          <a:prstGeom prst="roundRect">
            <a:avLst>
              <a:gd name="adj" fmla="val 178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8" name="Shape 6"/>
          <p:cNvSpPr/>
          <p:nvPr/>
        </p:nvSpPr>
        <p:spPr>
          <a:xfrm>
            <a:off x="877824" y="2505456"/>
            <a:ext cx="548640" cy="548640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9" name="Text 7"/>
          <p:cNvSpPr txBox="1"/>
          <p:nvPr/>
        </p:nvSpPr>
        <p:spPr>
          <a:xfrm>
            <a:off x="877824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3200400"/>
            <a:ext cx="193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Documento brasileiro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621024"/>
            <a:ext cx="1936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RG, CNH, passaporte, carteira de trabalho ou funcional — qualquer documento oficial brasileiro, com foto.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99968" y="2194560"/>
            <a:ext cx="2558720" cy="2834640"/>
          </a:xfrm>
          <a:prstGeom prst="roundRect">
            <a:avLst>
              <a:gd name="adj" fmla="val 178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3" name="Shape 11"/>
          <p:cNvSpPr/>
          <p:nvPr/>
        </p:nvSpPr>
        <p:spPr>
          <a:xfrm>
            <a:off x="3710864" y="2505456"/>
            <a:ext cx="548640" cy="548640"/>
          </a:xfrm>
          <a:prstGeom prst="ellipse">
            <a:avLst/>
          </a:prstGeom>
          <a:solidFill>
            <a:srgbClr val="33507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 txBox="1"/>
          <p:nvPr/>
        </p:nvSpPr>
        <p:spPr>
          <a:xfrm>
            <a:off x="3710864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710864" y="3200400"/>
            <a:ext cx="193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Documento irlandês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710864" y="3621024"/>
            <a:ext cx="1936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Passport card, driving licence ou outro documento oficial irlandês, com foto.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33008" y="2194560"/>
            <a:ext cx="2558720" cy="2834640"/>
          </a:xfrm>
          <a:prstGeom prst="roundRect">
            <a:avLst>
              <a:gd name="adj" fmla="val 178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8" name="Shape 16"/>
          <p:cNvSpPr/>
          <p:nvPr/>
        </p:nvSpPr>
        <p:spPr>
          <a:xfrm>
            <a:off x="6543904" y="2505456"/>
            <a:ext cx="548640" cy="548640"/>
          </a:xfrm>
          <a:prstGeom prst="ellipse">
            <a:avLst/>
          </a:prstGeom>
          <a:solidFill>
            <a:srgbClr val="33507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9" name="Text 17"/>
          <p:cNvSpPr txBox="1"/>
          <p:nvPr/>
        </p:nvSpPr>
        <p:spPr>
          <a:xfrm>
            <a:off x="6543904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43904" y="3200400"/>
            <a:ext cx="193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Documento de outro país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543904" y="3621024"/>
            <a:ext cx="1936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Vale também o passaporte de um terceiro país — por exemplo, o italiano de um binacional. Basta ser oficial e ter foto.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66047" y="2194560"/>
            <a:ext cx="2558720" cy="2834640"/>
          </a:xfrm>
          <a:prstGeom prst="roundRect">
            <a:avLst>
              <a:gd name="adj" fmla="val 178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3" name="Shape 21"/>
          <p:cNvSpPr/>
          <p:nvPr/>
        </p:nvSpPr>
        <p:spPr>
          <a:xfrm>
            <a:off x="9376943" y="2505456"/>
            <a:ext cx="548640" cy="548640"/>
          </a:xfrm>
          <a:prstGeom prst="ellipse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4" name="Text 22"/>
          <p:cNvSpPr txBox="1"/>
          <p:nvPr/>
        </p:nvSpPr>
        <p:spPr>
          <a:xfrm>
            <a:off x="9376943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OK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376943" y="3200400"/>
            <a:ext cx="193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importa sempre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376943" y="3621024"/>
            <a:ext cx="1936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Confirmar que é a mesma pessoa. Documento oficial e com foto — a nacionalidade não importa.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5358384"/>
            <a:ext cx="11057839" cy="877824"/>
          </a:xfrm>
          <a:prstGeom prst="roundRect">
            <a:avLst>
              <a:gd name="adj" fmla="val 5208"/>
            </a:avLst>
          </a:prstGeom>
          <a:solidFill>
            <a:srgbClr val="EDEADB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82296" cy="877824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9" name="Text 27"/>
          <p:cNvSpPr txBox="1"/>
          <p:nvPr/>
        </p:nvSpPr>
        <p:spPr>
          <a:xfrm>
            <a:off x="932688" y="5358384"/>
            <a:ext cx="1032631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dúvida, não é sobre a nacionalidade do documento — é sobre reconhecer a pessoa que está na sua frente.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 CADERNOS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caderno cheio, um imprevisível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urna atende uma ou duas seções. A principal é sempre grande; a agregada pode ter 400 nomes ou 29.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73936"/>
            <a:ext cx="2581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212848"/>
            <a:ext cx="25815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MESAS · UMA URNA CADA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331388" y="1773936"/>
            <a:ext cx="2581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331388" y="2212848"/>
            <a:ext cx="25815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MESAS COM DOIS CADERNOS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95848" y="1773936"/>
            <a:ext cx="2581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095848" y="2212848"/>
            <a:ext cx="25815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MESAS COM UM CADERNO SÓ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860307" y="1773936"/>
            <a:ext cx="2581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398–797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860307" y="2212848"/>
            <a:ext cx="25815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ELEITORES POR MESA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958998" y="2798064"/>
            <a:ext cx="7315" cy="1481328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6" name="Text 14"/>
          <p:cNvSpPr txBox="1"/>
          <p:nvPr/>
        </p:nvSpPr>
        <p:spPr>
          <a:xfrm>
            <a:off x="2642616" y="43159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461586" y="2798064"/>
            <a:ext cx="7315" cy="1481328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8" name="Text 16"/>
          <p:cNvSpPr txBox="1"/>
          <p:nvPr/>
        </p:nvSpPr>
        <p:spPr>
          <a:xfrm>
            <a:off x="4145204" y="43159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64174" y="2798064"/>
            <a:ext cx="7315" cy="1481328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0" name="Text 18"/>
          <p:cNvSpPr txBox="1"/>
          <p:nvPr/>
        </p:nvSpPr>
        <p:spPr>
          <a:xfrm>
            <a:off x="5647792" y="43159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466762" y="2798064"/>
            <a:ext cx="7315" cy="1481328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2" name="Text 20"/>
          <p:cNvSpPr txBox="1"/>
          <p:nvPr/>
        </p:nvSpPr>
        <p:spPr>
          <a:xfrm>
            <a:off x="7150379" y="43159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8969350" y="2798064"/>
            <a:ext cx="7315" cy="1481328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4" name="Text 22"/>
          <p:cNvSpPr txBox="1"/>
          <p:nvPr/>
        </p:nvSpPr>
        <p:spPr>
          <a:xfrm>
            <a:off x="8652967" y="43159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400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2962656" y="45171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NOMES NO CADERNO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298094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Caderno principal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321868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sempre de Dublin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843014" y="2944368"/>
            <a:ext cx="184857" cy="384048"/>
          </a:xfrm>
          <a:prstGeom prst="roundRect">
            <a:avLst>
              <a:gd name="adj" fmla="val 29679"/>
            </a:avLst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9" name="Text 27"/>
          <p:cNvSpPr txBox="1"/>
          <p:nvPr/>
        </p:nvSpPr>
        <p:spPr>
          <a:xfrm>
            <a:off x="9174175" y="2944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395–400 nomes, nas 28 mesas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36758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Caderno agregado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39136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quase sempre de outro condado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311538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3" name="Shape 31"/>
          <p:cNvSpPr/>
          <p:nvPr/>
        </p:nvSpPr>
        <p:spPr>
          <a:xfrm>
            <a:off x="3687185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4" name="Shape 32"/>
          <p:cNvSpPr/>
          <p:nvPr/>
        </p:nvSpPr>
        <p:spPr>
          <a:xfrm>
            <a:off x="3807392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5" name="Shape 33"/>
          <p:cNvSpPr/>
          <p:nvPr/>
        </p:nvSpPr>
        <p:spPr>
          <a:xfrm>
            <a:off x="3972677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6" name="Shape 34"/>
          <p:cNvSpPr/>
          <p:nvPr/>
        </p:nvSpPr>
        <p:spPr>
          <a:xfrm>
            <a:off x="4017755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7" name="Shape 35"/>
          <p:cNvSpPr/>
          <p:nvPr/>
        </p:nvSpPr>
        <p:spPr>
          <a:xfrm>
            <a:off x="4408428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8" name="Shape 36"/>
          <p:cNvSpPr/>
          <p:nvPr/>
        </p:nvSpPr>
        <p:spPr>
          <a:xfrm>
            <a:off x="4573712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9" name="Shape 37"/>
          <p:cNvSpPr/>
          <p:nvPr/>
        </p:nvSpPr>
        <p:spPr>
          <a:xfrm>
            <a:off x="5475265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0" name="Shape 38"/>
          <p:cNvSpPr/>
          <p:nvPr/>
        </p:nvSpPr>
        <p:spPr>
          <a:xfrm>
            <a:off x="5610498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1" name="Shape 39"/>
          <p:cNvSpPr/>
          <p:nvPr/>
        </p:nvSpPr>
        <p:spPr>
          <a:xfrm>
            <a:off x="6001171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2" name="Shape 40"/>
          <p:cNvSpPr/>
          <p:nvPr/>
        </p:nvSpPr>
        <p:spPr>
          <a:xfrm>
            <a:off x="6136404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3" name="Shape 41"/>
          <p:cNvSpPr/>
          <p:nvPr/>
        </p:nvSpPr>
        <p:spPr>
          <a:xfrm>
            <a:off x="6376818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4" name="Shape 42"/>
          <p:cNvSpPr/>
          <p:nvPr/>
        </p:nvSpPr>
        <p:spPr>
          <a:xfrm>
            <a:off x="7052982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5" name="Shape 43"/>
          <p:cNvSpPr/>
          <p:nvPr/>
        </p:nvSpPr>
        <p:spPr>
          <a:xfrm>
            <a:off x="8255052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6" name="Shape 44"/>
          <p:cNvSpPr/>
          <p:nvPr/>
        </p:nvSpPr>
        <p:spPr>
          <a:xfrm>
            <a:off x="8435363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7" name="Shape 45"/>
          <p:cNvSpPr/>
          <p:nvPr/>
        </p:nvSpPr>
        <p:spPr>
          <a:xfrm>
            <a:off x="8435363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8" name="Shape 46"/>
          <p:cNvSpPr/>
          <p:nvPr/>
        </p:nvSpPr>
        <p:spPr>
          <a:xfrm>
            <a:off x="8510492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9" name="Shape 47"/>
          <p:cNvSpPr/>
          <p:nvPr/>
        </p:nvSpPr>
        <p:spPr>
          <a:xfrm>
            <a:off x="8645725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0" name="Shape 48"/>
          <p:cNvSpPr/>
          <p:nvPr/>
        </p:nvSpPr>
        <p:spPr>
          <a:xfrm>
            <a:off x="8795984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1" name="Shape 49"/>
          <p:cNvSpPr/>
          <p:nvPr/>
        </p:nvSpPr>
        <p:spPr>
          <a:xfrm>
            <a:off x="8811010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2" name="Shape 50"/>
          <p:cNvSpPr/>
          <p:nvPr/>
        </p:nvSpPr>
        <p:spPr>
          <a:xfrm>
            <a:off x="8826036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3" name="Shape 51"/>
          <p:cNvSpPr/>
          <p:nvPr/>
        </p:nvSpPr>
        <p:spPr>
          <a:xfrm>
            <a:off x="8841062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4" name="Shape 52"/>
          <p:cNvSpPr/>
          <p:nvPr/>
        </p:nvSpPr>
        <p:spPr>
          <a:xfrm>
            <a:off x="8886139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5" name="Text 53"/>
          <p:cNvSpPr txBox="1"/>
          <p:nvPr/>
        </p:nvSpPr>
        <p:spPr>
          <a:xfrm>
            <a:off x="9174175" y="373075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ponto é uma mesa · de 29 a 400 nomes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974336"/>
            <a:ext cx="3503066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7" name="Text 55"/>
          <p:cNvSpPr txBox="1"/>
          <p:nvPr/>
        </p:nvSpPr>
        <p:spPr>
          <a:xfrm>
            <a:off x="841248" y="51572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 err="1">
                <a:solidFill>
                  <a:srgbClr val="042B5A"/>
                </a:solidFill>
                <a:latin typeface="Montserrat" pitchFamily="34" charset="0"/>
              </a:rPr>
              <a:t>Cadernos</a:t>
            </a:r>
            <a:r>
              <a:rPr lang="en-US" sz="1150" b="1" dirty="0">
                <a:solidFill>
                  <a:srgbClr val="042B5A"/>
                </a:solidFill>
                <a:latin typeface="Montserrat" pitchFamily="34" charset="0"/>
              </a:rPr>
              <a:t> de </a:t>
            </a:r>
            <a:r>
              <a:rPr lang="en-US" sz="1150" b="1" dirty="0" err="1">
                <a:solidFill>
                  <a:srgbClr val="042B5A"/>
                </a:solidFill>
                <a:latin typeface="Montserrat" pitchFamily="34" charset="0"/>
              </a:rPr>
              <a:t>uma</a:t>
            </a:r>
            <a:r>
              <a:rPr lang="en-US" sz="1150" b="1" dirty="0">
                <a:solidFill>
                  <a:srgbClr val="042B5A"/>
                </a:solidFill>
                <a:latin typeface="Montserrat" pitchFamily="34" charset="0"/>
              </a:rPr>
              <a:t> </a:t>
            </a:r>
            <a:r>
              <a:rPr lang="en-US" sz="1150" b="1" dirty="0" err="1">
                <a:solidFill>
                  <a:srgbClr val="042B5A"/>
                </a:solidFill>
                <a:latin typeface="Montserrat" pitchFamily="34" charset="0"/>
              </a:rPr>
              <a:t>seção</a:t>
            </a:r>
            <a:r>
              <a:rPr lang="en-US" sz="1150" b="1" dirty="0">
                <a:solidFill>
                  <a:srgbClr val="042B5A"/>
                </a:solidFill>
                <a:latin typeface="Montserrat" pitchFamily="34" charset="0"/>
              </a:rPr>
              <a:t> </a:t>
            </a:r>
            <a:r>
              <a:rPr lang="en-US" sz="1150" b="1" dirty="0" err="1">
                <a:solidFill>
                  <a:srgbClr val="042B5A"/>
                </a:solidFill>
                <a:latin typeface="Montserrat" pitchFamily="34" charset="0"/>
              </a:rPr>
              <a:t>por</a:t>
            </a:r>
            <a:r>
              <a:rPr lang="en-US" sz="1150" b="1" dirty="0">
                <a:solidFill>
                  <a:srgbClr val="042B5A"/>
                </a:solidFill>
                <a:latin typeface="Montserrat" pitchFamily="34" charset="0"/>
              </a:rPr>
              <a:t> </a:t>
            </a:r>
            <a:r>
              <a:rPr lang="en-US" sz="1150" b="1" dirty="0" err="1">
                <a:solidFill>
                  <a:srgbClr val="042B5A"/>
                </a:solidFill>
                <a:latin typeface="Montserrat" pitchFamily="34" charset="0"/>
              </a:rPr>
              <a:t>mesário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841248" y="5449824"/>
            <a:ext cx="29544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50"/>
              </a:lnSpc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Mas, se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quiser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mudar,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pode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b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</a:br>
            <a:r>
              <a:rPr lang="en-US" sz="9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</a:t>
            </a:r>
            <a:r>
              <a:rPr lang="en-US" sz="900" b="1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importante</a:t>
            </a:r>
            <a:r>
              <a:rPr lang="en-US" sz="9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é achar o </a:t>
            </a:r>
            <a:r>
              <a:rPr lang="en-US" sz="900" b="1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jeito</a:t>
            </a:r>
            <a:r>
              <a:rPr lang="en-US" sz="9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900" b="1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mais</a:t>
            </a:r>
            <a:r>
              <a:rPr lang="en-US" sz="9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900" b="1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rápido</a:t>
            </a:r>
            <a:r>
              <a:rPr lang="en-US" sz="9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para </a:t>
            </a:r>
            <a:r>
              <a:rPr lang="en-US" sz="900" b="1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</a:t>
            </a:r>
            <a:r>
              <a:rPr lang="en-US" sz="9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mesa.</a:t>
            </a:r>
            <a:endParaRPr lang="en-US" sz="900" b="1" dirty="0"/>
          </a:p>
        </p:txBody>
      </p:sp>
      <p:sp>
        <p:nvSpPr>
          <p:cNvPr id="59" name="Shape 57"/>
          <p:cNvSpPr/>
          <p:nvPr/>
        </p:nvSpPr>
        <p:spPr>
          <a:xfrm>
            <a:off x="4344314" y="4974336"/>
            <a:ext cx="3503066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60" name="Text 58"/>
          <p:cNvSpPr txBox="1"/>
          <p:nvPr/>
        </p:nvSpPr>
        <p:spPr>
          <a:xfrm>
            <a:off x="4618634" y="5157216"/>
            <a:ext cx="295442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Nome e </a:t>
            </a:r>
            <a:r>
              <a:rPr lang="en-US" sz="115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número</a:t>
            </a: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da </a:t>
            </a:r>
            <a:r>
              <a:rPr lang="en-US" sz="115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seção</a:t>
            </a: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sempre os dois</a:t>
            </a:r>
            <a:endParaRPr lang="en-US" sz="1150" dirty="0"/>
          </a:p>
        </p:txBody>
      </p:sp>
      <p:sp>
        <p:nvSpPr>
          <p:cNvPr id="61" name="Text 59"/>
          <p:cNvSpPr txBox="1"/>
          <p:nvPr/>
        </p:nvSpPr>
        <p:spPr>
          <a:xfrm>
            <a:off x="4618634" y="5449824"/>
            <a:ext cx="29544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br>
              <a:rPr lang="en-US" sz="900" dirty="0">
                <a:solidFill>
                  <a:srgbClr val="6B6B6B"/>
                </a:solidFill>
                <a:latin typeface="Montserrat" pitchFamily="34" charset="0"/>
              </a:rPr>
            </a:b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O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eleitor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só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poderá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ser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localizado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no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caderno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da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Seção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em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que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votará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. Por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isso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,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temos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que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saber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os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dois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.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121701" y="4974336"/>
            <a:ext cx="3503066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63" name="Text 61"/>
          <p:cNvSpPr txBox="1"/>
          <p:nvPr/>
        </p:nvSpPr>
        <p:spPr>
          <a:xfrm>
            <a:off x="8396021" y="51572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Mesa de um caderno só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8396021" y="5449824"/>
            <a:ext cx="29544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mesário busca; o outro entrega o comprovante e cuida da fila. Não se divide o caderno em dois.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566928" y="6473952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Tamanhos de caderno calculados de saidas/dados.json, dos CSVs oficiais do TSE.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MAIS IMPORTA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primeiras horas decidem o dia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maior fila do dia chega quando a mesa ainda está encontrando o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seu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ritmo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É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importante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identificar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processo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funciona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para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mesa logo no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começo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286000"/>
            <a:ext cx="3685946" cy="475488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8" name="Text 6"/>
          <p:cNvSpPr txBox="1"/>
          <p:nvPr/>
        </p:nvSpPr>
        <p:spPr>
          <a:xfrm>
            <a:off x="566928" y="2286000"/>
            <a:ext cx="36859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PRIMEIRAS HORAS · MAIOR FILA DO DIA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2874" y="2286000"/>
            <a:ext cx="3685946" cy="475488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0" name="Text 8"/>
          <p:cNvSpPr txBox="1"/>
          <p:nvPr/>
        </p:nvSpPr>
        <p:spPr>
          <a:xfrm>
            <a:off x="4252874" y="2286000"/>
            <a:ext cx="36859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janela de almoço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38821" y="2286000"/>
            <a:ext cx="3685946" cy="475488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2" name="Text 10"/>
          <p:cNvSpPr txBox="1"/>
          <p:nvPr/>
        </p:nvSpPr>
        <p:spPr>
          <a:xfrm>
            <a:off x="7938821" y="2286000"/>
            <a:ext cx="36859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retomada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3270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 txBox="1"/>
          <p:nvPr/>
        </p:nvSpPr>
        <p:spPr>
          <a:xfrm>
            <a:off x="246888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8h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791919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6" name="Text 14"/>
          <p:cNvSpPr txBox="1"/>
          <p:nvPr/>
        </p:nvSpPr>
        <p:spPr>
          <a:xfrm>
            <a:off x="1475537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9h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020568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8" name="Text 16"/>
          <p:cNvSpPr txBox="1"/>
          <p:nvPr/>
        </p:nvSpPr>
        <p:spPr>
          <a:xfrm>
            <a:off x="2704186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10h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49217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0" name="Text 18"/>
          <p:cNvSpPr txBox="1"/>
          <p:nvPr/>
        </p:nvSpPr>
        <p:spPr>
          <a:xfrm>
            <a:off x="3932834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11h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477866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2" name="Text 20"/>
          <p:cNvSpPr txBox="1"/>
          <p:nvPr/>
        </p:nvSpPr>
        <p:spPr>
          <a:xfrm>
            <a:off x="5161483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06514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4" name="Text 22"/>
          <p:cNvSpPr txBox="1"/>
          <p:nvPr/>
        </p:nvSpPr>
        <p:spPr>
          <a:xfrm>
            <a:off x="6390132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935163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6" name="Text 24"/>
          <p:cNvSpPr txBox="1"/>
          <p:nvPr/>
        </p:nvSpPr>
        <p:spPr>
          <a:xfrm>
            <a:off x="7618781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14h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163812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8" name="Text 26"/>
          <p:cNvSpPr txBox="1"/>
          <p:nvPr/>
        </p:nvSpPr>
        <p:spPr>
          <a:xfrm>
            <a:off x="8847430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15h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0392461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0" name="Text 28"/>
          <p:cNvSpPr txBox="1"/>
          <p:nvPr/>
        </p:nvSpPr>
        <p:spPr>
          <a:xfrm>
            <a:off x="10076078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16h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1621110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2" name="Text 30"/>
          <p:cNvSpPr txBox="1"/>
          <p:nvPr/>
        </p:nvSpPr>
        <p:spPr>
          <a:xfrm>
            <a:off x="11304727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17h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66928" y="4005072"/>
            <a:ext cx="3478682" cy="1792224"/>
          </a:xfrm>
          <a:prstGeom prst="roundRect">
            <a:avLst>
              <a:gd name="adj" fmla="val 2551"/>
            </a:avLst>
          </a:prstGeom>
          <a:solidFill>
            <a:srgbClr val="042B5A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4" name="Shape 32"/>
          <p:cNvSpPr/>
          <p:nvPr/>
        </p:nvSpPr>
        <p:spPr>
          <a:xfrm>
            <a:off x="877824" y="4315968"/>
            <a:ext cx="384048" cy="41148"/>
          </a:xfrm>
          <a:prstGeom prst="rect">
            <a:avLst/>
          </a:prstGeom>
          <a:solidFill>
            <a:srgbClr val="E8C63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5" name="Text 33"/>
          <p:cNvSpPr txBox="1"/>
          <p:nvPr/>
        </p:nvSpPr>
        <p:spPr>
          <a:xfrm>
            <a:off x="877824" y="4517136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procure o processo perfeito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877824" y="5120640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E4E0C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Procure, nos primeiros trinta ou quarenta eleitores, o arranjo que funciona naquela mesa. Depois repita sem mudar.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356506" y="4005072"/>
            <a:ext cx="3478682" cy="1792224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8" name="Shape 36"/>
          <p:cNvSpPr/>
          <p:nvPr/>
        </p:nvSpPr>
        <p:spPr>
          <a:xfrm>
            <a:off x="4667402" y="4315968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9" name="Text 37"/>
          <p:cNvSpPr txBox="1"/>
          <p:nvPr/>
        </p:nvSpPr>
        <p:spPr>
          <a:xfrm>
            <a:off x="4667402" y="4517136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Ajuste nos primeiros minutos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4667402" y="5120640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a busca no caderno está atrasando a mesa, troque a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divisão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agora. O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atraso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pode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virar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fila.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146085" y="4005072"/>
            <a:ext cx="3478682" cy="1792224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2" name="Shape 40"/>
          <p:cNvSpPr/>
          <p:nvPr/>
        </p:nvSpPr>
        <p:spPr>
          <a:xfrm>
            <a:off x="8456981" y="4315968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3" name="Text 41"/>
          <p:cNvSpPr txBox="1"/>
          <p:nvPr/>
        </p:nvSpPr>
        <p:spPr>
          <a:xfrm>
            <a:off x="8456981" y="4517136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fila da primeira hora acompanha o dia</a:t>
            </a:r>
            <a:endParaRPr lang="en-US" sz="1450" dirty="0"/>
          </a:p>
        </p:txBody>
      </p:sp>
      <p:sp>
        <p:nvSpPr>
          <p:cNvPr id="44" name="Text 42"/>
          <p:cNvSpPr txBox="1"/>
          <p:nvPr/>
        </p:nvSpPr>
        <p:spPr>
          <a:xfrm>
            <a:off x="8456981" y="5120640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fila que se forma às 8h não desaparece sozinha: ela anda com a mesa até a tarde.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DE ABRIR A URNA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Checklist da mesa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7" name="Text 5"/>
          <p:cNvSpPr txBox="1"/>
          <p:nvPr/>
        </p:nvSpPr>
        <p:spPr>
          <a:xfrm>
            <a:off x="1243584" y="1572768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equipe na mesa às 6h30. Zerésima emitida e assinada às 7h00.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93976"/>
            <a:ext cx="11057839" cy="7315"/>
          </a:xfrm>
          <a:prstGeom prst="rect">
            <a:avLst/>
          </a:prstGeom>
          <a:solidFill>
            <a:srgbClr val="E4DFC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9" name="Shape 7"/>
          <p:cNvSpPr/>
          <p:nvPr/>
        </p:nvSpPr>
        <p:spPr>
          <a:xfrm>
            <a:off x="566928" y="224942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0" name="Text 8"/>
          <p:cNvSpPr txBox="1"/>
          <p:nvPr/>
        </p:nvSpPr>
        <p:spPr>
          <a:xfrm>
            <a:off x="1243584" y="224942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Cadernos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distribuídos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: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dividos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mesários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770632"/>
            <a:ext cx="11057839" cy="7315"/>
          </a:xfrm>
          <a:prstGeom prst="rect">
            <a:avLst/>
          </a:prstGeom>
          <a:solidFill>
            <a:srgbClr val="E4DFC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2" name="Shape 10"/>
          <p:cNvSpPr/>
          <p:nvPr/>
        </p:nvSpPr>
        <p:spPr>
          <a:xfrm>
            <a:off x="566928" y="29260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3" name="Text 11"/>
          <p:cNvSpPr txBox="1"/>
          <p:nvPr/>
        </p:nvSpPr>
        <p:spPr>
          <a:xfrm>
            <a:off x="1243584" y="2926080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Quem tem o caderno começa a busca pelo nome antes da digitação.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447288"/>
            <a:ext cx="11057839" cy="7315"/>
          </a:xfrm>
          <a:prstGeom prst="rect">
            <a:avLst/>
          </a:prstGeom>
          <a:solidFill>
            <a:srgbClr val="E4DFC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5" name="Shape 13"/>
          <p:cNvSpPr/>
          <p:nvPr/>
        </p:nvSpPr>
        <p:spPr>
          <a:xfrm>
            <a:off x="566928" y="36027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6" name="Text 14"/>
          <p:cNvSpPr txBox="1"/>
          <p:nvPr/>
        </p:nvSpPr>
        <p:spPr>
          <a:xfrm>
            <a:off x="1243584" y="3602736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Presidente,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após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digitar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terminal,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lê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nome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do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voz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alta.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4123944"/>
            <a:ext cx="11057839" cy="7315"/>
          </a:xfrm>
          <a:prstGeom prst="rect">
            <a:avLst/>
          </a:prstGeom>
          <a:solidFill>
            <a:srgbClr val="E4DFC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8" name="Shape 16"/>
          <p:cNvSpPr/>
          <p:nvPr/>
        </p:nvSpPr>
        <p:spPr>
          <a:xfrm>
            <a:off x="566928" y="42793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9" name="Text 17"/>
          <p:cNvSpPr txBox="1"/>
          <p:nvPr/>
        </p:nvSpPr>
        <p:spPr>
          <a:xfrm>
            <a:off x="1243584" y="4279392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Mesa dos celulares visível ao eleitor e à mesa receptora.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00600"/>
            <a:ext cx="11057839" cy="7315"/>
          </a:xfrm>
          <a:prstGeom prst="rect">
            <a:avLst/>
          </a:prstGeom>
          <a:solidFill>
            <a:srgbClr val="E4DFC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1" name="Shape 19"/>
          <p:cNvSpPr/>
          <p:nvPr/>
        </p:nvSpPr>
        <p:spPr>
          <a:xfrm>
            <a:off x="566928" y="495604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2" name="Text 20"/>
          <p:cNvSpPr txBox="1"/>
          <p:nvPr/>
        </p:nvSpPr>
        <p:spPr>
          <a:xfrm>
            <a:off x="1243584" y="4956048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Almoço combinado dentro da mesa: um de cada vez, na janela de 11h às 14h.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88873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Bom trabalho no dia 4 — e obrigado por representar o Brasil nesta seção.</a:t>
            </a:r>
            <a:endParaRPr lang="en-US" sz="1500" dirty="0"/>
          </a:p>
        </p:txBody>
      </p:sp>
      <p:pic>
        <p:nvPicPr>
          <p:cNvPr id="2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5632704"/>
            <a:ext cx="1463040" cy="8695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2399</Words>
  <Application>Microsoft Office PowerPoint</Application>
  <PresentationFormat>Widescreen</PresentationFormat>
  <Paragraphs>383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Eleições 2026 · Briefing da equipe</dc:title>
  <dc:subject>PptxGenJS Presentation</dc:subject>
  <dc:creator>Posto de Dublin</dc:creator>
  <cp:lastModifiedBy>Hamad Mota Kalaf</cp:lastModifiedBy>
  <cp:revision>2</cp:revision>
  <dcterms:created xsi:type="dcterms:W3CDTF">2026-09-23T06:00:18Z</dcterms:created>
  <dcterms:modified xsi:type="dcterms:W3CDTF">2026-09-23T12:43:36Z</dcterms:modified>
</cp:coreProperties>
</file>