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3" r:id="rId9"/>
    <p:sldId id="269" r:id="rId10"/>
    <p:sldId id="270" r:id="rId11"/>
    <p:sldId id="264" r:id="rId12"/>
    <p:sldId id="265" r:id="rId13"/>
    <p:sldId id="271" r:id="rId14"/>
    <p:sldId id="272" r:id="rId15"/>
    <p:sldId id="273" r:id="rId16"/>
    <p:sldId id="266" r:id="rId17"/>
    <p:sldId id="267" r:id="rId18"/>
    <p:sldId id="274" r:id="rId25"/>
    <p:sldId id="275" r:id="rId26"/>
    <p:sldId id="268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6.xml"/><Relationship Id="rId26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21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ELEIÇÕES 2026 · 1º TURNO · DOMINGO, 4 DE OUTUBRO · 8H ÀS 17H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73936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Briefing da equipe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926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Mesários e apoio do Posto de Dublin. O que muda no dia, quem faz o quê, como a mesa trabalha — e como se fala com quem está do outro lado do salão.</a:t>
            </a:r>
            <a:endParaRPr lang="en-US" sz="1350" dirty="0"/>
          </a:p>
        </p:txBody>
      </p:sp>
      <p:pic>
        <p:nvPicPr>
          <p:cNvPr id="7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10512"/>
            <a:ext cx="2743200" cy="16312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51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SEÇÕES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3331388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331388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· UMA URNA CADA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095848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16.794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6095848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ELEITORES APTOS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8860307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6h30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8860307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HORÁRIO DE CHEGADA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Embaixada do Brasil em Dublin · RDS, Hall 2, Merrion Road, Ballsbridge, Dublin 4 · 2º turno, se houver: domingo, 25 de outubro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opBar 3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4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NESTA REUNIÃO</a:t>
            </a:r>
            <a:endParaRPr lang="en-US" sz="900" dirty="0"/>
          </a:p>
        </p:txBody>
      </p:sp>
      <p:sp>
        <p:nvSpPr>
          <p:cNvPr id="5" name="Text 5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vamos ver</a:t>
            </a:r>
            <a:endParaRPr lang="en-US" sz="3000" dirty="0"/>
          </a:p>
        </p:txBody>
      </p:sp>
      <p:sp>
        <p:nvSpPr>
          <p:cNvPr id="6" name="Text 6"/>
          <p:cNvSpPr txBox="1"/>
          <p:nvPr/>
        </p:nvSpPr>
        <p:spPr>
          <a:xfrm>
            <a:off x="566928" y="115214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Sete assuntos. Os dois primeiros são sobre você; os quatro seguintes, sobre o eleitor; o último, sobre o fim do dia.</a:t>
            </a:r>
            <a:endParaRPr lang="en-US" sz="1200" dirty="0"/>
          </a:p>
        </p:txBody>
      </p:sp>
      <p:sp>
        <p:nvSpPr>
          <p:cNvPr id="7" name="Card 7"/>
          <p:cNvSpPr/>
          <p:nvPr/>
        </p:nvSpPr>
        <p:spPr>
          <a:xfrm>
            <a:off x="566928" y="1920240"/>
            <a:ext cx="2558034" cy="201168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Num 8"/>
          <p:cNvSpPr/>
          <p:nvPr/>
        </p:nvSpPr>
        <p:spPr>
          <a:xfrm>
            <a:off x="877824" y="2231136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9"/>
          <p:cNvSpPr txBox="1"/>
          <p:nvPr/>
        </p:nvSpPr>
        <p:spPr>
          <a:xfrm>
            <a:off x="877824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10"/>
          <p:cNvSpPr txBox="1"/>
          <p:nvPr/>
        </p:nvSpPr>
        <p:spPr>
          <a:xfrm>
            <a:off x="877824" y="2706624"/>
            <a:ext cx="19362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Horários</a:t>
            </a:r>
            <a:endParaRPr lang="en-US" sz="1300" dirty="0"/>
          </a:p>
        </p:txBody>
      </p:sp>
      <p:sp>
        <p:nvSpPr>
          <p:cNvPr id="11" name="Text 11"/>
          <p:cNvSpPr txBox="1"/>
          <p:nvPr/>
        </p:nvSpPr>
        <p:spPr>
          <a:xfrm>
            <a:off x="877824" y="3054096"/>
            <a:ext cx="19362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Montagem, chegada, zerésima, encerramento — e a segunda-feira.</a:t>
            </a:r>
            <a:endParaRPr lang="en-US" sz="1150" dirty="0"/>
          </a:p>
        </p:txBody>
      </p:sp>
      <p:sp>
        <p:nvSpPr>
          <p:cNvPr id="12" name="Card 12"/>
          <p:cNvSpPr/>
          <p:nvPr/>
        </p:nvSpPr>
        <p:spPr>
          <a:xfrm>
            <a:off x="3399282" y="1920240"/>
            <a:ext cx="2558034" cy="201168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3" name="Num 13"/>
          <p:cNvSpPr/>
          <p:nvPr/>
        </p:nvSpPr>
        <p:spPr>
          <a:xfrm>
            <a:off x="3710178" y="2231136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4"/>
          <p:cNvSpPr txBox="1"/>
          <p:nvPr/>
        </p:nvSpPr>
        <p:spPr>
          <a:xfrm>
            <a:off x="3710178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5"/>
          <p:cNvSpPr txBox="1"/>
          <p:nvPr/>
        </p:nvSpPr>
        <p:spPr>
          <a:xfrm>
            <a:off x="3710178" y="2706624"/>
            <a:ext cx="19362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Almoço</a:t>
            </a:r>
            <a:endParaRPr lang="en-US" sz="1300" dirty="0"/>
          </a:p>
        </p:txBody>
      </p:sp>
      <p:sp>
        <p:nvSpPr>
          <p:cNvPr id="16" name="Text 16"/>
          <p:cNvSpPr txBox="1"/>
          <p:nvPr/>
        </p:nvSpPr>
        <p:spPr>
          <a:xfrm>
            <a:off x="3710178" y="3054096"/>
            <a:ext cx="19362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sair, quem cobre, e por que a janela é 11h–14h.</a:t>
            </a:r>
            <a:endParaRPr lang="en-US" sz="1150" dirty="0"/>
          </a:p>
        </p:txBody>
      </p:sp>
      <p:sp>
        <p:nvSpPr>
          <p:cNvPr id="17" name="Card 17"/>
          <p:cNvSpPr/>
          <p:nvPr/>
        </p:nvSpPr>
        <p:spPr>
          <a:xfrm>
            <a:off x="6231636" y="1920240"/>
            <a:ext cx="2558034" cy="201168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Num 18"/>
          <p:cNvSpPr/>
          <p:nvPr/>
        </p:nvSpPr>
        <p:spPr>
          <a:xfrm>
            <a:off x="6542531" y="2231136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9"/>
          <p:cNvSpPr txBox="1"/>
          <p:nvPr/>
        </p:nvSpPr>
        <p:spPr>
          <a:xfrm>
            <a:off x="6542531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20"/>
          <p:cNvSpPr txBox="1"/>
          <p:nvPr/>
        </p:nvSpPr>
        <p:spPr>
          <a:xfrm>
            <a:off x="6542531" y="2706624"/>
            <a:ext cx="19362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Comunicação</a:t>
            </a:r>
            <a:endParaRPr lang="en-US" sz="1300" dirty="0"/>
          </a:p>
        </p:txBody>
      </p:sp>
      <p:sp>
        <p:nvSpPr>
          <p:cNvPr id="21" name="Text 21"/>
          <p:cNvSpPr txBox="1"/>
          <p:nvPr/>
        </p:nvSpPr>
        <p:spPr>
          <a:xfrm>
            <a:off x="6542531" y="3054096"/>
            <a:ext cx="19362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 com os Presidentes de Mesa; walkie-talkie entre os líderes do apoio.</a:t>
            </a:r>
            <a:endParaRPr lang="en-US" sz="1150" dirty="0"/>
          </a:p>
        </p:txBody>
      </p:sp>
      <p:sp>
        <p:nvSpPr>
          <p:cNvPr id="22" name="Card 22"/>
          <p:cNvSpPr/>
          <p:nvPr/>
        </p:nvSpPr>
        <p:spPr>
          <a:xfrm>
            <a:off x="9063989" y="1920240"/>
            <a:ext cx="2558034" cy="201168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3" name="Num 23"/>
          <p:cNvSpPr/>
          <p:nvPr/>
        </p:nvSpPr>
        <p:spPr>
          <a:xfrm>
            <a:off x="9374885" y="2231136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4"/>
          <p:cNvSpPr txBox="1"/>
          <p:nvPr/>
        </p:nvSpPr>
        <p:spPr>
          <a:xfrm>
            <a:off x="9374885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5"/>
          <p:cNvSpPr txBox="1"/>
          <p:nvPr/>
        </p:nvSpPr>
        <p:spPr>
          <a:xfrm>
            <a:off x="9374885" y="2706624"/>
            <a:ext cx="19362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</a:t>
            </a:r>
            <a:endParaRPr lang="en-US" sz="1300" dirty="0"/>
          </a:p>
        </p:txBody>
      </p:sp>
      <p:sp>
        <p:nvSpPr>
          <p:cNvPr id="26" name="Text 26"/>
          <p:cNvSpPr txBox="1"/>
          <p:nvPr/>
        </p:nvSpPr>
        <p:spPr>
          <a:xfrm>
            <a:off x="9374885" y="3054096"/>
            <a:ext cx="19362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portão até a urna, e o que acontece dentro da mesa.</a:t>
            </a:r>
            <a:endParaRPr lang="en-US" sz="1150" dirty="0"/>
          </a:p>
        </p:txBody>
      </p:sp>
      <p:sp>
        <p:nvSpPr>
          <p:cNvPr id="27" name="Card 27"/>
          <p:cNvSpPr/>
          <p:nvPr/>
        </p:nvSpPr>
        <p:spPr>
          <a:xfrm>
            <a:off x="566928" y="4206240"/>
            <a:ext cx="2558034" cy="201168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Num 28"/>
          <p:cNvSpPr/>
          <p:nvPr/>
        </p:nvSpPr>
        <p:spPr>
          <a:xfrm>
            <a:off x="877824" y="4517136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9"/>
          <p:cNvSpPr txBox="1"/>
          <p:nvPr/>
        </p:nvSpPr>
        <p:spPr>
          <a:xfrm>
            <a:off x="877824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30"/>
          <p:cNvSpPr txBox="1"/>
          <p:nvPr/>
        </p:nvSpPr>
        <p:spPr>
          <a:xfrm>
            <a:off x="877824" y="4992624"/>
            <a:ext cx="19362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Celulares</a:t>
            </a:r>
            <a:endParaRPr lang="en-US" sz="1300" dirty="0"/>
          </a:p>
        </p:txBody>
      </p:sp>
      <p:sp>
        <p:nvSpPr>
          <p:cNvPr id="31" name="Text 31"/>
          <p:cNvSpPr txBox="1"/>
          <p:nvPr/>
        </p:nvSpPr>
        <p:spPr>
          <a:xfrm>
            <a:off x="877824" y="5340096"/>
            <a:ext cx="19362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recolhe e quem confere — e o que fazer se o eleitor resistir.</a:t>
            </a:r>
            <a:endParaRPr lang="en-US" sz="1150" dirty="0"/>
          </a:p>
        </p:txBody>
      </p:sp>
      <p:sp>
        <p:nvSpPr>
          <p:cNvPr id="32" name="Card 32"/>
          <p:cNvSpPr/>
          <p:nvPr/>
        </p:nvSpPr>
        <p:spPr>
          <a:xfrm>
            <a:off x="3399282" y="4206240"/>
            <a:ext cx="2558034" cy="201168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3" name="Num 33"/>
          <p:cNvSpPr/>
          <p:nvPr/>
        </p:nvSpPr>
        <p:spPr>
          <a:xfrm>
            <a:off x="3710178" y="4517136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4" name="Text 34"/>
          <p:cNvSpPr txBox="1"/>
          <p:nvPr/>
        </p:nvSpPr>
        <p:spPr>
          <a:xfrm>
            <a:off x="3710178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5"/>
          <p:cNvSpPr txBox="1"/>
          <p:nvPr/>
        </p:nvSpPr>
        <p:spPr>
          <a:xfrm>
            <a:off x="3710178" y="4992624"/>
            <a:ext cx="19362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Justificativa</a:t>
            </a:r>
            <a:endParaRPr lang="en-US" sz="1300" dirty="0"/>
          </a:p>
        </p:txBody>
      </p:sp>
      <p:sp>
        <p:nvSpPr>
          <p:cNvPr id="36" name="Text 36"/>
          <p:cNvSpPr txBox="1"/>
          <p:nvPr/>
        </p:nvSpPr>
        <p:spPr>
          <a:xfrm>
            <a:off x="3710178" y="5340096"/>
            <a:ext cx="19362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 ser on-line; presencial só por exceção, numa mesa de menor movimento.</a:t>
            </a:r>
            <a:endParaRPr lang="en-US" sz="1150" dirty="0"/>
          </a:p>
        </p:txBody>
      </p:sp>
      <p:sp>
        <p:nvSpPr>
          <p:cNvPr id="37" name="Card 32"/>
          <p:cNvSpPr/>
          <p:nvPr/>
        </p:nvSpPr>
        <p:spPr>
          <a:xfrm>
            <a:off x="6231636" y="4206240"/>
            <a:ext cx="2558034" cy="201168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8" name="Num 33"/>
          <p:cNvSpPr/>
          <p:nvPr/>
        </p:nvSpPr>
        <p:spPr>
          <a:xfrm>
            <a:off x="6542531" y="4517136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9" name="Text 34"/>
          <p:cNvSpPr txBox="1"/>
          <p:nvPr/>
        </p:nvSpPr>
        <p:spPr>
          <a:xfrm>
            <a:off x="6542531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5"/>
          <p:cNvSpPr txBox="1"/>
          <p:nvPr/>
        </p:nvSpPr>
        <p:spPr>
          <a:xfrm>
            <a:off x="6542531" y="4992624"/>
            <a:ext cx="19362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Encerramento</a:t>
            </a:r>
            <a:endParaRPr lang="en-US" sz="1300" dirty="0"/>
          </a:p>
        </p:txBody>
      </p:sp>
      <p:sp>
        <p:nvSpPr>
          <p:cNvPr id="41" name="Text 36"/>
          <p:cNvSpPr txBox="1"/>
          <p:nvPr/>
        </p:nvSpPr>
        <p:spPr>
          <a:xfrm>
            <a:off x="6542531" y="5340096"/>
            <a:ext cx="19362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a mesa fecha a seção — e os quatro documentos que liberam a equipe.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HORÁRIOS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dias, dois relógios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hora da montagem é folgada. A hora do domingo não é: ela é ditada pela zerésima.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 DA MONTAGEM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2066544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566928" y="2066544"/>
            <a:ext cx="82296" cy="74980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877824" y="2066544"/>
            <a:ext cx="105091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partir das 9h</a:t>
            </a:r>
            <a:r>
              <a:rPr lang="en-US" sz="11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montagem do Hall 2 e do pátio do Ring 3, conferência das mesas e da </a:t>
            </a:r>
            <a:r>
              <a:rPr lang="en-US" sz="11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sinalização</a:t>
            </a:r>
            <a:r>
              <a:rPr lang="en-US" sz="11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017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DOMINGO, 4 DE OUTUBRO · DIA DA ELEIÇÃO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81328" y="4041648"/>
            <a:ext cx="9229039" cy="32004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1481328" y="4041648"/>
            <a:ext cx="3076346" cy="3200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1385316" y="3963924"/>
            <a:ext cx="192024" cy="192024"/>
          </a:xfrm>
          <a:prstGeom prst="ellipse">
            <a:avLst/>
          </a:prstGeom>
          <a:solidFill>
            <a:srgbClr val="C8102E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 txBox="1"/>
          <p:nvPr/>
        </p:nvSpPr>
        <p:spPr>
          <a:xfrm>
            <a:off x="612648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6h30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equipe na mesa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12648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chegada de todos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61662" y="3963924"/>
            <a:ext cx="192024" cy="192024"/>
          </a:xfrm>
          <a:prstGeom prst="ellipse">
            <a:avLst/>
          </a:prstGeom>
          <a:solidFill>
            <a:srgbClr val="C8102E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3688994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7h00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3688994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Zerésima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688994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emitida e assinada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38009" y="3963924"/>
            <a:ext cx="192024" cy="192024"/>
          </a:xfrm>
          <a:prstGeom prst="ellipse">
            <a:avLst/>
          </a:prstGeom>
          <a:solidFill>
            <a:srgbClr val="042B5A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 txBox="1"/>
          <p:nvPr/>
        </p:nvSpPr>
        <p:spPr>
          <a:xfrm>
            <a:off x="6765341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8h00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765341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Abertura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765341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primeiro eleitor entra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614355" y="3963924"/>
            <a:ext cx="192024" cy="192024"/>
          </a:xfrm>
          <a:prstGeom prst="ellipse">
            <a:avLst/>
          </a:prstGeom>
          <a:solidFill>
            <a:srgbClr val="042B5A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 txBox="1"/>
          <p:nvPr/>
        </p:nvSpPr>
        <p:spPr>
          <a:xfrm>
            <a:off x="9841687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17h00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841687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Encerramento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841687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fecha a fila, não a urna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4956048"/>
            <a:ext cx="6675120" cy="1170432"/>
          </a:xfrm>
          <a:prstGeom prst="roundRect">
            <a:avLst>
              <a:gd name="adj" fmla="val 3906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 txBox="1"/>
          <p:nvPr/>
        </p:nvSpPr>
        <p:spPr>
          <a:xfrm>
            <a:off x="932688" y="51389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6h30?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" y="546811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Porque às 7h00 a zerésima tem de estar emitida. É a única hora do dia que não se recupera: tudo o que vier depois depende dela ter saído no horário.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segurança contratada cobre 7h30–17h30, mais uma pessoa na véspera.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ALMOÇO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Sai um, fica o outro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há escala central de almoço. Cada mesa se organiza por dentro — o que o Posto oferece é a janela.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PICO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JANELA DE ALMOÇO · MENOR MOVIMENTO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 txBox="1"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RETOMADA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327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24688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91919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147553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20568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2704186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49217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3932834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77866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5161483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06514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6390132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35163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7618781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63812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 txBox="1"/>
          <p:nvPr/>
        </p:nvSpPr>
        <p:spPr>
          <a:xfrm>
            <a:off x="8847430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392461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 txBox="1"/>
          <p:nvPr/>
        </p:nvSpPr>
        <p:spPr>
          <a:xfrm>
            <a:off x="1007607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62111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1130472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928" y="4023360"/>
            <a:ext cx="3478682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877824" y="4334256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 txBox="1"/>
          <p:nvPr/>
        </p:nvSpPr>
        <p:spPr>
          <a:xfrm>
            <a:off x="877824" y="453542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11h às 14h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77824" y="4901184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 o vale do dia na leitura dos logs de votação de anos anteriores. Fora dessa faixa, a fila cobra.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56506" y="4023360"/>
            <a:ext cx="3478682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4667402" y="4334256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9" name="Text 37"/>
          <p:cNvSpPr txBox="1"/>
          <p:nvPr/>
        </p:nvSpPr>
        <p:spPr>
          <a:xfrm>
            <a:off x="4667402" y="453542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de cada vez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4667402" y="4901184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pessoa cobre a outra dentro da própria mesa. A mesa nunca fica sem quem busca no caderno.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46085" y="4023360"/>
            <a:ext cx="3478682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8456981" y="4334256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3" name="Text 41"/>
          <p:cNvSpPr txBox="1"/>
          <p:nvPr/>
        </p:nvSpPr>
        <p:spPr>
          <a:xfrm>
            <a:off x="8456981" y="453542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Presidente autoriza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8456981" y="4901184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saída é combinada com o Presidente da Mesa, que conhece o tamanho da fila naquele minuto.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faixa de menor movimento vem da leitura dos logs de votação de anos anteriores. É uma janela indicativa, não uma previsão medida para 2026.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COMUNICAÇÃO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canais, cada um com um dono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canal para as decisões da mesa, outro para o que acontece no chão do salão. Não se misturam.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39696"/>
            <a:ext cx="5327752" cy="2871216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950976" y="2523744"/>
            <a:ext cx="566928" cy="512064"/>
          </a:xfrm>
          <a:prstGeom prst="roundRect">
            <a:avLst>
              <a:gd name="adj" fmla="val 25000"/>
            </a:avLst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 rot="10800000">
            <a:off x="1042416" y="2990088"/>
            <a:ext cx="182880" cy="164592"/>
          </a:xfrm>
          <a:prstGeom prst="triangl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1682496" y="2560320"/>
            <a:ext cx="386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de WhatsApp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682496" y="2926080"/>
            <a:ext cx="386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decisões da mesa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" y="3383280"/>
            <a:ext cx="455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9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está no grupo
</a:t>
            </a:r>
            <a:endParaRPr lang="en-US" sz="9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Presidentes de Mesa, Hamad, João e Marcelo.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50976" y="4261104"/>
            <a:ext cx="4559656" cy="512064"/>
          </a:xfrm>
          <a:prstGeom prst="roundRect">
            <a:avLst>
              <a:gd name="adj" fmla="val 10714"/>
            </a:avLst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1225296" y="4261104"/>
            <a:ext cx="401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grupo é apagado imediatamente depois da eleição.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97016" y="2139696"/>
            <a:ext cx="5327752" cy="2871216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Shape 14"/>
          <p:cNvSpPr/>
          <p:nvPr/>
        </p:nvSpPr>
        <p:spPr>
          <a:xfrm>
            <a:off x="6717640" y="2560320"/>
            <a:ext cx="365760" cy="512064"/>
          </a:xfrm>
          <a:prstGeom prst="roundRect">
            <a:avLst>
              <a:gd name="adj" fmla="val 22500"/>
            </a:avLst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7" name="Shape 15"/>
          <p:cNvSpPr/>
          <p:nvPr/>
        </p:nvSpPr>
        <p:spPr>
          <a:xfrm>
            <a:off x="7010248" y="2395728"/>
            <a:ext cx="45720" cy="182880"/>
          </a:xfrm>
          <a:prstGeom prst="rect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6781648" y="2651760"/>
            <a:ext cx="237744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7412584" y="2560320"/>
            <a:ext cx="386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Walkie-talkie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412584" y="2926080"/>
            <a:ext cx="386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chão do salão, em tempo real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681064" y="3383280"/>
            <a:ext cx="455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9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fala
</a:t>
            </a:r>
            <a:endParaRPr lang="en-US" sz="9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líderes das equipes de apoio, entre si.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81064" y="4261104"/>
            <a:ext cx="4559656" cy="512064"/>
          </a:xfrm>
          <a:prstGeom prst="roundRect">
            <a:avLst>
              <a:gd name="adj" fmla="val 10714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 txBox="1"/>
          <p:nvPr/>
        </p:nvSpPr>
        <p:spPr>
          <a:xfrm>
            <a:off x="6955384" y="4261104"/>
            <a:ext cx="401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Percurso, filas e incidentes — não procedimento de mesa.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413248"/>
            <a:ext cx="11057839" cy="914400"/>
          </a:xfrm>
          <a:prstGeom prst="roundRect">
            <a:avLst>
              <a:gd name="adj" fmla="val 5000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 txBox="1"/>
          <p:nvPr/>
        </p:nvSpPr>
        <p:spPr>
          <a:xfrm>
            <a:off x="950976" y="5413248"/>
            <a:ext cx="102897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Dúvida de procedimento sobe pelo Presidente da Mesa. João, Marcelo e Hamad </a:t>
            </a:r>
            <a:r>
              <a:rPr lang="en-US" sz="140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estarão</a:t>
            </a: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aptos</a:t>
            </a: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responder.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396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06759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5F882E"/>
                </a:solidFill>
                <a:latin typeface="Montserrat"/>
              </a:rPr>
              <a:t>PASSO A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621792"/>
            <a:ext cx="11396459" cy="453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2700" b="1">
                <a:solidFill>
                  <a:srgbClr val="042B5A"/>
                </a:solidFill>
                <a:latin typeface="Montserrat"/>
              </a:rPr>
              <a:t>Da calçada até a urna</a:t>
            </a:r>
            <a:endParaRPr sz="2700" b="1" dirty="0">
              <a:solidFill>
                <a:srgbClr val="042B5A"/>
              </a:solidFill>
              <a:latin typeface="Montserrat"/>
            </a:endParaRPr>
          </a:p>
        </p:txBody>
      </p:sp>
      <p:sp>
        <p:nvSpPr>
          <p:cNvPr id="5" name="Rectangle 4"/>
          <p:cNvSpPr/>
          <p:nvPr/>
        </p:nvSpPr>
        <p:spPr>
          <a:xfrm rot="16200000">
            <a:off x="2285170" y="-374580"/>
            <a:ext cx="414816" cy="2816352"/>
          </a:xfrm>
          <a:prstGeom prst="rect">
            <a:avLst/>
          </a:prstGeom>
          <a:solidFill>
            <a:srgbClr val="D8D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 rot="5400000">
            <a:off x="1837021" y="988400"/>
            <a:ext cx="1280160" cy="182880"/>
          </a:xfrm>
          <a:prstGeom prst="rect">
            <a:avLst/>
          </a:prstGeom>
          <a:noFill/>
        </p:spPr>
        <p:txBody>
          <a:bodyPr rot="-5400000"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spc="140" dirty="0">
                <a:solidFill>
                  <a:srgbClr val="6B6B6B"/>
                </a:solidFill>
                <a:latin typeface="Montserrat"/>
              </a:rPr>
              <a:t>MERRION ROAD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07845" y="1258860"/>
            <a:ext cx="0" cy="2718779"/>
          </a:xfrm>
          <a:prstGeom prst="line">
            <a:avLst/>
          </a:prstGeom>
          <a:ln w="25400">
            <a:solidFill>
              <a:srgbClr val="E4DF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179684" y="1414416"/>
            <a:ext cx="2608159" cy="2302231"/>
          </a:xfrm>
          <a:prstGeom prst="rect">
            <a:avLst/>
          </a:prstGeom>
          <a:solidFill>
            <a:srgbClr val="FFFFFF"/>
          </a:solidFill>
          <a:ln w="1778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9684" y="2360000"/>
            <a:ext cx="26081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042B5A"/>
                </a:solidFill>
                <a:latin typeface="Montserrat"/>
              </a:rPr>
              <a:t>HALL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684" y="2640000"/>
            <a:ext cx="26081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6B6B6B"/>
                </a:solidFill>
                <a:latin typeface="Montserrat"/>
              </a:rPr>
              <a:t>o salão de votação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684" y="2800000"/>
            <a:ext cx="26081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>
                <a:solidFill>
                  <a:srgbClr val="6B6B6B"/>
                </a:solidFill>
                <a:latin typeface="Montserrat"/>
              </a:rPr>
              <a:t>as 28 mesas ficam nas paredes — ver o slide seguinte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5574" y="3716648"/>
            <a:ext cx="2281491" cy="725928"/>
          </a:xfrm>
          <a:prstGeom prst="rect">
            <a:avLst/>
          </a:prstGeom>
          <a:solidFill>
            <a:srgbClr val="E4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83352" y="401739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6B6B6B"/>
                </a:solidFill>
                <a:latin typeface="Montserrat"/>
              </a:rPr>
              <a:t>apron · 14,0 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5574" y="4442577"/>
            <a:ext cx="2281491" cy="1814822"/>
          </a:xfrm>
          <a:prstGeom prst="rect">
            <a:avLst/>
          </a:prstGeom>
          <a:solidFill>
            <a:srgbClr val="EDEADB"/>
          </a:solidFill>
          <a:ln w="9525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31509" y="4442577"/>
            <a:ext cx="155556" cy="1814822"/>
          </a:xfrm>
          <a:prstGeom prst="rect">
            <a:avLst/>
          </a:prstGeom>
          <a:solidFill>
            <a:srgbClr val="DBD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505574" y="6101843"/>
            <a:ext cx="2125934" cy="155556"/>
          </a:xfrm>
          <a:prstGeom prst="rect">
            <a:avLst/>
          </a:prstGeom>
          <a:solidFill>
            <a:srgbClr val="DBD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05574" y="6132954"/>
            <a:ext cx="212593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o corredor distribui: C, depois B, depois 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5574" y="4442577"/>
            <a:ext cx="667336" cy="1659266"/>
          </a:xfrm>
          <a:prstGeom prst="rect">
            <a:avLst/>
          </a:prstGeom>
          <a:solidFill>
            <a:srgbClr val="33507E">
              <a:alpha val="21999"/>
            </a:srgbClr>
          </a:solidFill>
          <a:ln w="9525">
            <a:solidFill>
              <a:srgbClr val="335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05574" y="4980000"/>
            <a:ext cx="6673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5574" y="5390000"/>
            <a:ext cx="6673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05574" y="6101843"/>
            <a:ext cx="148815" cy="0"/>
          </a:xfrm>
          <a:prstGeom prst="line">
            <a:avLst/>
          </a:prstGeom>
          <a:ln w="381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069206" y="4442577"/>
            <a:ext cx="103704" cy="0"/>
          </a:xfrm>
          <a:prstGeom prst="line">
            <a:avLst/>
          </a:prstGeom>
          <a:ln w="381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121058" y="3716648"/>
            <a:ext cx="202742" cy="725929"/>
          </a:xfrm>
          <a:prstGeom prst="line">
            <a:avLst/>
          </a:prstGeom>
          <a:ln w="20320">
            <a:solidFill>
              <a:srgbClr val="3350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235133" y="4442577"/>
            <a:ext cx="666817" cy="1659266"/>
          </a:xfrm>
          <a:prstGeom prst="rect">
            <a:avLst/>
          </a:prstGeom>
          <a:solidFill>
            <a:srgbClr val="E8C63A">
              <a:alpha val="21999"/>
            </a:srgbClr>
          </a:solidFill>
          <a:ln w="9525">
            <a:solidFill>
              <a:srgbClr val="E8C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35133" y="4980000"/>
            <a:ext cx="66681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5133" y="5390000"/>
            <a:ext cx="66681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53653" y="6101843"/>
            <a:ext cx="148297" cy="0"/>
          </a:xfrm>
          <a:prstGeom prst="line">
            <a:avLst/>
          </a:prstGeom>
          <a:ln w="381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516689" y="4442577"/>
            <a:ext cx="103705" cy="0"/>
          </a:xfrm>
          <a:prstGeom prst="line">
            <a:avLst/>
          </a:prstGeom>
          <a:ln w="381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568541" y="3716648"/>
            <a:ext cx="77779" cy="725929"/>
          </a:xfrm>
          <a:prstGeom prst="line">
            <a:avLst/>
          </a:prstGeom>
          <a:ln w="20320">
            <a:solidFill>
              <a:srgbClr val="E8C6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964173" y="4442577"/>
            <a:ext cx="667336" cy="1659266"/>
          </a:xfrm>
          <a:prstGeom prst="rect">
            <a:avLst/>
          </a:prstGeom>
          <a:solidFill>
            <a:srgbClr val="C8102E">
              <a:alpha val="21999"/>
            </a:srgbClr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64173" y="4980000"/>
            <a:ext cx="6673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64173" y="5390000"/>
            <a:ext cx="6673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482693" y="6101843"/>
            <a:ext cx="148816" cy="0"/>
          </a:xfrm>
          <a:prstGeom prst="line">
            <a:avLst/>
          </a:prstGeom>
          <a:ln w="381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964173" y="4442577"/>
            <a:ext cx="103704" cy="0"/>
          </a:xfrm>
          <a:prstGeom prst="line">
            <a:avLst/>
          </a:prstGeom>
          <a:ln w="381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2968839" y="3716648"/>
            <a:ext cx="47186" cy="725929"/>
          </a:xfrm>
          <a:prstGeom prst="line">
            <a:avLst/>
          </a:prstGeom>
          <a:ln w="20320">
            <a:solidFill>
              <a:srgbClr val="C810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866724" y="3716648"/>
            <a:ext cx="62222" cy="0"/>
          </a:xfrm>
          <a:prstGeom prst="line">
            <a:avLst/>
          </a:prstGeom>
          <a:ln w="5715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69235" y="374408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170058" y="3716648"/>
            <a:ext cx="307483" cy="0"/>
          </a:xfrm>
          <a:prstGeom prst="line">
            <a:avLst/>
          </a:prstGeom>
          <a:ln w="5715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140920" y="34971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492578" y="3716648"/>
            <a:ext cx="307483" cy="0"/>
          </a:xfrm>
          <a:prstGeom prst="line">
            <a:avLst/>
          </a:prstGeom>
          <a:ln w="5715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463440" y="34971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815098" y="3716648"/>
            <a:ext cx="307483" cy="0"/>
          </a:xfrm>
          <a:prstGeom prst="line">
            <a:avLst/>
          </a:prstGeom>
          <a:ln w="5715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785959" y="34971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154729" y="3716648"/>
            <a:ext cx="65852" cy="0"/>
          </a:xfrm>
          <a:prstGeom prst="line">
            <a:avLst/>
          </a:prstGeom>
          <a:ln w="57150">
            <a:solidFill>
              <a:srgbClr val="1E36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248013" y="3515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>
                <a:solidFill>
                  <a:srgbClr val="1E3674"/>
                </a:solidFill>
                <a:latin typeface="Montserrat"/>
              </a:rPr>
              <a:t>preferencial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363693" y="3716648"/>
            <a:ext cx="62222" cy="0"/>
          </a:xfrm>
          <a:prstGeom prst="line">
            <a:avLst/>
          </a:prstGeom>
          <a:ln w="5715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166204" y="374408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49" name="Connector 48"/>
          <p:cNvCxnSpPr>
            <a:cxnSpLocks/>
          </p:cNvCxnSpPr>
          <p:nvPr/>
        </p:nvCxnSpPr>
        <p:spPr>
          <a:xfrm>
            <a:off x="3995251" y="1343717"/>
            <a:ext cx="0" cy="3021082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709287" y="4364799"/>
            <a:ext cx="285964" cy="0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709287" y="4364799"/>
            <a:ext cx="0" cy="233334"/>
          </a:xfrm>
          <a:prstGeom prst="line">
            <a:avLst/>
          </a:prstGeom>
          <a:ln w="27940">
            <a:solidFill>
              <a:srgbClr val="5F882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428323" y="2990719"/>
            <a:ext cx="1280160" cy="182880"/>
          </a:xfrm>
          <a:prstGeom prst="rect">
            <a:avLst/>
          </a:prstGeom>
          <a:noFill/>
        </p:spPr>
        <p:txBody>
          <a:bodyPr rot="-5400000"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lateral leste do Hall 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42784" y="2051249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 do eleitor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90135" y="110597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504532" y="1128422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06009" y="302740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006009" y="306855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03008" y="479037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03008" y="483152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449669" y="5697785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449669" y="5738933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27448" y="378444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527448" y="382559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127832" y="6309251"/>
            <a:ext cx="1037041" cy="0"/>
          </a:xfrm>
          <a:prstGeom prst="line">
            <a:avLst/>
          </a:prstGeom>
          <a:ln w="15240">
            <a:solidFill>
              <a:srgbClr val="042B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2210593" y="629000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20 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760720" y="122529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760720" y="125730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44768" y="120700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Portão B, na Merrion Road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44768" y="148132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É por ali que o eleitor entra. Antes do portão há uma mesa de consulta: quem não sabe o número da sua seção descobre ali, e anota a letra.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760720" y="204825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760720" y="208026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44768" y="202996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Pela lateral leste do Hall 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44768" y="230428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O caminho contorna o salão pelo lado leste e desemboca no apron, entre o Hall 2 e o pátio.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760720" y="287121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760720" y="290322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44768" y="285292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Ring 3, pelo canto nordeste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44768" y="312724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O pátio de fila fica ao ar livre, ao sul do salão. O corredor de chegada distribui para as três zonas: C primeiro, B depois, A no fim.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760720" y="369417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760720" y="372618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44768" y="367588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A sua zona, a sua fila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44768" y="395020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Cada zona é a fila de uma porta, e as três têm o mesmo tamanho. Entra-se pela boca no fundo e sai-se pela abertura da frente.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760720" y="451713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760720" y="454914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44768" y="449884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A porta A, B ou 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44768" y="477316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Atravessado o apron, cada zona entra pela sua porta. Da porta até a mesa é sempre a mesma letra.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760720" y="5431536"/>
            <a:ext cx="614476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760720" y="5431536"/>
            <a:ext cx="45720" cy="566928"/>
          </a:xfrm>
          <a:prstGeom prst="rect">
            <a:avLst/>
          </a:prstGeom>
          <a:solidFill>
            <a:srgbClr val="1E3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961888" y="5559552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42B5A"/>
                </a:solidFill>
                <a:latin typeface="Montserrat"/>
              </a:rPr>
              <a:t>Atendimento preferencial: idoso, gestante, pessoa com deficiência e quem os acompanha entram pela porta à direita da C, sem fila.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6492240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6B6B6B"/>
                </a:solidFill>
                <a:latin typeface="Montserrat"/>
              </a:rPr>
              <a:t>O Hall 2, o apron e o pátio do Ring 3 estão em escala e na posição relativa medida em planta. O trecho entre o portão e o apron é esquemático: indica o lado por onde se anda, não a distância.</a:t>
            </a:r>
          </a:p>
        </p:txBody>
      </p:sp>
      <p:pic>
        <p:nvPicPr>
          <p:cNvPr id="93" name="Imagem 92">
            <a:extLst>
              <a:ext uri="{FF2B5EF4-FFF2-40B4-BE49-F238E27FC236}">
                <a16:creationId xmlns:a16="http://schemas.microsoft.com/office/drawing/2014/main" id="{11F19504-71D1-FD48-C404-9EAC7D9C3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719" y="941396"/>
            <a:ext cx="786452" cy="249958"/>
          </a:xfrm>
          <a:prstGeom prst="rect">
            <a:avLst/>
          </a:prstGeom>
        </p:spPr>
      </p:pic>
      <p:cxnSp>
        <p:nvCxnSpPr>
          <p:cNvPr id="95" name="Connector 48">
            <a:extLst>
              <a:ext uri="{FF2B5EF4-FFF2-40B4-BE49-F238E27FC236}">
                <a16:creationId xmlns:a16="http://schemas.microsoft.com/office/drawing/2014/main" id="{14D33949-A621-3F2D-7019-94EB751ECABC}"/>
              </a:ext>
            </a:extLst>
          </p:cNvPr>
          <p:cNvCxnSpPr>
            <a:cxnSpLocks/>
          </p:cNvCxnSpPr>
          <p:nvPr/>
        </p:nvCxnSpPr>
        <p:spPr>
          <a:xfrm rot="16200000">
            <a:off x="3787843" y="1047702"/>
            <a:ext cx="0" cy="596280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5F882E"/>
                </a:solidFill>
                <a:latin typeface="Montserrat"/>
              </a:rPr>
              <a:t>DENTRO DO SALÃO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42B5A"/>
                </a:solidFill>
                <a:latin typeface="Montserrat"/>
              </a:rPr>
              <a:t>O Hall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603504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As mesas não têm número: cada uma traz as seções que votam nela, que é o que você tem na mão.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51560"/>
            <a:ext cx="5718212" cy="5047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33024" y="1663170"/>
            <a:ext cx="784406" cy="3682165"/>
          </a:xfrm>
          <a:prstGeom prst="rect">
            <a:avLst/>
          </a:prstGeom>
          <a:solidFill>
            <a:srgbClr val="33507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756043" y="1517656"/>
            <a:ext cx="3713996" cy="557042"/>
          </a:xfrm>
          <a:prstGeom prst="rect">
            <a:avLst/>
          </a:prstGeom>
          <a:solidFill>
            <a:srgbClr val="E8C63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16326" y="1898492"/>
            <a:ext cx="761670" cy="3546883"/>
          </a:xfrm>
          <a:prstGeom prst="rect">
            <a:avLst/>
          </a:prstGeom>
          <a:solidFill>
            <a:srgbClr val="C8102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48609" y="5371482"/>
            <a:ext cx="363782" cy="727565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17431" y="5371482"/>
            <a:ext cx="1594960" cy="341046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17431" y="1551761"/>
            <a:ext cx="341046" cy="4160767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 flipV="1">
            <a:off x="3230501" y="5246431"/>
            <a:ext cx="0" cy="738934"/>
          </a:xfrm>
          <a:prstGeom prst="line">
            <a:avLst/>
          </a:prstGeom>
          <a:ln w="25400">
            <a:solidFill>
              <a:srgbClr val="3350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613609" y="2279327"/>
            <a:ext cx="341046" cy="3819720"/>
          </a:xfrm>
          <a:prstGeom prst="rect">
            <a:avLst/>
          </a:prstGeom>
          <a:solidFill>
            <a:srgbClr val="E8C63A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 flipV="1">
            <a:off x="3784133" y="5246431"/>
            <a:ext cx="0" cy="738934"/>
          </a:xfrm>
          <a:prstGeom prst="line">
            <a:avLst/>
          </a:prstGeom>
          <a:ln w="25400">
            <a:solidFill>
              <a:srgbClr val="E8C6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204757" y="5735265"/>
            <a:ext cx="341046" cy="363782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04757" y="5507900"/>
            <a:ext cx="511569" cy="227364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75280" y="1608602"/>
            <a:ext cx="341046" cy="3899298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 flipV="1">
            <a:off x="4375280" y="5246431"/>
            <a:ext cx="0" cy="738934"/>
          </a:xfrm>
          <a:prstGeom prst="line">
            <a:avLst/>
          </a:prstGeom>
          <a:ln w="25400">
            <a:solidFill>
              <a:srgbClr val="C810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817431" y="2074699"/>
            <a:ext cx="2898895" cy="204627"/>
          </a:xfrm>
          <a:prstGeom prst="rect">
            <a:avLst/>
          </a:prstGeom>
          <a:solidFill>
            <a:srgbClr val="E8C63A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5135023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135023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0513 1105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691662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4691662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1352 0522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41882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441882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3078 2847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97546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97546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3179 0530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249036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3249036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3313 3889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2930726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2930726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3309 1314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48736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248736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3142 1278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2214528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221452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3161 3307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1771168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" y="177116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3311 3913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6404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68215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0512 2855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0740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12551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1160 3845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2571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4382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3315 3778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97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208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3108 3422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27332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4544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3302 3181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00169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918278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3305 0521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43530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61638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3306 0518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16367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634475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59727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77836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3832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77997" y="200649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77997" y="200649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0511 1100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77997" y="244985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477997" y="244985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0517 1292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77997" y="276816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77997" y="276816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3322 3752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77997" y="308647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477997" y="308647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3054 1099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77997" y="3529831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77997" y="3529831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3216 0527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77997" y="3802668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477997" y="380266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3862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77997" y="4246028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77997" y="424602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3245 0519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77997" y="4518865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477997" y="451886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3229 3821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77997" y="4962226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477997" y="4962226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3688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77997" y="5235063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77997" y="5235063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3442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073216" y="6099048"/>
            <a:ext cx="136419" cy="0"/>
          </a:xfrm>
          <a:prstGeom prst="line">
            <a:avLst/>
          </a:prstGeom>
          <a:ln w="7620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729945" y="615391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738257" y="6099048"/>
            <a:ext cx="674135" cy="0"/>
          </a:xfrm>
          <a:prstGeom prst="line">
            <a:avLst/>
          </a:prstGeom>
          <a:ln w="762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801004" y="614476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09564" y="63550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445360" y="6099048"/>
            <a:ext cx="674135" cy="0"/>
          </a:xfrm>
          <a:prstGeom prst="line">
            <a:avLst/>
          </a:prstGeom>
          <a:ln w="762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508107" y="614476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16667" y="63550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152463" y="6099048"/>
            <a:ext cx="674135" cy="0"/>
          </a:xfrm>
          <a:prstGeom prst="line">
            <a:avLst/>
          </a:prstGeom>
          <a:ln w="762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215211" y="614476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23771" y="63550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4897081" y="6099048"/>
            <a:ext cx="144376" cy="0"/>
          </a:xfrm>
          <a:prstGeom prst="line">
            <a:avLst/>
          </a:prstGeom>
          <a:ln w="76200">
            <a:solidFill>
              <a:srgbClr val="1E36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557789" y="6153912"/>
            <a:ext cx="822960" cy="262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lang="en-US" sz="750" dirty="0">
                <a:solidFill>
                  <a:srgbClr val="1E3674"/>
                </a:solidFill>
                <a:latin typeface="Montserrat"/>
              </a:rPr>
              <a:t>entrada</a:t>
            </a:r>
            <a:br>
              <a:rPr lang="en-US" sz="750" dirty="0">
                <a:solidFill>
                  <a:srgbClr val="1E3674"/>
                </a:solidFill>
                <a:latin typeface="Montserrat"/>
              </a:rPr>
            </a:br>
            <a:r>
              <a:rPr sz="750" dirty="0" err="1">
                <a:solidFill>
                  <a:srgbClr val="1E3674"/>
                </a:solidFill>
                <a:latin typeface="Montserrat"/>
              </a:rPr>
              <a:t>preferencial</a:t>
            </a:r>
            <a:endParaRPr sz="750" dirty="0">
              <a:solidFill>
                <a:srgbClr val="1E3674"/>
              </a:solidFill>
              <a:latin typeface="Montserrat"/>
            </a:endParaRPr>
          </a:p>
        </p:txBody>
      </p:sp>
      <p:cxnSp>
        <p:nvCxnSpPr>
          <p:cNvPr id="90" name="Connector 89"/>
          <p:cNvCxnSpPr/>
          <p:nvPr/>
        </p:nvCxnSpPr>
        <p:spPr>
          <a:xfrm>
            <a:off x="5355220" y="6099048"/>
            <a:ext cx="136419" cy="0"/>
          </a:xfrm>
          <a:prstGeom prst="line">
            <a:avLst/>
          </a:prstGeom>
          <a:ln w="7620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011949" y="615391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05180" y="1051560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spc="120">
                <a:solidFill>
                  <a:srgbClr val="042B5A"/>
                </a:solidFill>
                <a:latin typeface="Montserrat"/>
              </a:rPr>
              <a:t>COMO LER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605180" y="144475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897788" y="14173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A → parede oeste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605180" y="181051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897788" y="17830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B → parede norte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605180" y="217627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897788" y="214884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C → parede leste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605180" y="254203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1E3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897788" y="25146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Entrada preferencial, sem fila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605180" y="2907791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404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897788" y="28803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Saída — pela mesma faixa da parede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05180" y="3383279"/>
            <a:ext cx="48463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Da porta, a avenida da sua cor leva até a parede. Da avenida da parede, um passo até a sua seção.</a:t>
            </a:r>
          </a:p>
          <a:p>
            <a:pPr algn="l">
              <a:lnSpc>
                <a:spcPct val="118000"/>
              </a:lnSpc>
            </a:pPr>
            <a:endParaRPr sz="1000" b="0">
              <a:solidFill>
                <a:srgbClr val="6B6B6B"/>
              </a:solidFill>
              <a:latin typeface="Montserrat"/>
            </a:endParaRP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Quem votou volta pela mesma faixa da parede e sai pela fachada sul — ninguém atravessa a avenida de quem está entrando.</a:t>
            </a:r>
          </a:p>
          <a:p>
            <a:pPr algn="l">
              <a:lnSpc>
                <a:spcPct val="118000"/>
              </a:lnSpc>
            </a:pPr>
            <a:endParaRPr sz="1000" b="0">
              <a:solidFill>
                <a:srgbClr val="6B6B6B"/>
              </a:solidFill>
              <a:latin typeface="Montserrat"/>
            </a:endParaRP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A faixa mais escura na frente da parede norte é a pequena avenida de 1,80 m: é ali que a fila da porta B escolhe o lado, andando.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6620256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6B6B6B"/>
                </a:solidFill>
                <a:latin typeface="Montserrat"/>
              </a:rPr>
              <a:t>Planta em escala · fachada sul embaixo, como quem chega do Ring 3 · todas as formas são editáveis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 NA MESA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Quatro funções, quatro donos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etapa tem um dono. A única coisa que duas pessoas fazem é conferir o documento — e isso é de propósito.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877824" y="2505456"/>
            <a:ext cx="548640" cy="54864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 txBox="1"/>
          <p:nvPr/>
        </p:nvSpPr>
        <p:spPr>
          <a:xfrm>
            <a:off x="87782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Recebe o eleitor na frente da mesa, confere o documento, confirma a seção e aponta o mesário certo. Organiza a fila pela prioridade legal.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996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371086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371086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1º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1086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1º mesário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71086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Fica com um dos cadernos da mesa.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Começa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busca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pelo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correspondente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antes de o Presidente digitar.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300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654390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654390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2º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4390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2º mesário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4390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Fica com o outro caderno, pela mesma regra. Quem tem o caderno do eleitor marca e entrega 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comprovante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apenas</a:t>
            </a:r>
            <a:r>
              <a:rPr lang="en-US" sz="10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após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66047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Shape 21"/>
          <p:cNvSpPr/>
          <p:nvPr/>
        </p:nvSpPr>
        <p:spPr>
          <a:xfrm>
            <a:off x="9376943" y="2505456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9376943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76943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376943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CPF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título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terminal de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autoriza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se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dirigir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à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urna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Opera, para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situações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extraordinárias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o terminal.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5358384"/>
            <a:ext cx="11057839" cy="877824"/>
          </a:xfrm>
          <a:prstGeom prst="roundRect">
            <a:avLst>
              <a:gd name="adj" fmla="val 5208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566928" y="5358384"/>
            <a:ext cx="82296" cy="87782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932688" y="5358384"/>
            <a:ext cx="1032631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Funções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podem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e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devem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ser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revezadas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entre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integrantes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mesa.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 NA MESA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Seis passos, dois eleitores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Shape 5"/>
          <p:cNvSpPr/>
          <p:nvPr/>
        </p:nvSpPr>
        <p:spPr>
          <a:xfrm>
            <a:off x="786384" y="1554480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786384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Recepção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Confere o documento, confirma a seção e aponta o mesário.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37333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2656789" y="1554480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2656789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56789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Busca antecipada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656789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 DO CADERNO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2656789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Procura o nome antes da digitação começar.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07738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Shape 17"/>
          <p:cNvSpPr/>
          <p:nvPr/>
        </p:nvSpPr>
        <p:spPr>
          <a:xfrm>
            <a:off x="4527194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4527194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27194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Habilitação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27194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4527194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CPF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título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terminal.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78144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Shape 23"/>
          <p:cNvSpPr/>
          <p:nvPr/>
        </p:nvSpPr>
        <p:spPr>
          <a:xfrm>
            <a:off x="6397600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639760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97600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 e número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397600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6397600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pt-BR" sz="850" dirty="0">
                <a:solidFill>
                  <a:srgbClr val="6B6B6B"/>
                </a:solidFill>
                <a:latin typeface="Montserrat" pitchFamily="34" charset="0"/>
              </a:rPr>
              <a:t>Ao serem exibidos os dados no Terminal do</a:t>
            </a:r>
          </a:p>
          <a:p>
            <a:pPr>
              <a:lnSpc>
                <a:spcPts val="1200"/>
              </a:lnSpc>
            </a:pPr>
            <a:r>
              <a:rPr lang="pt-BR" sz="850" dirty="0">
                <a:solidFill>
                  <a:srgbClr val="6B6B6B"/>
                </a:solidFill>
                <a:latin typeface="Montserrat" pitchFamily="34" charset="0"/>
              </a:rPr>
              <a:t>Mesário, lê em voz alta e confirma o nome com eleitor.</a:t>
            </a:r>
            <a:endParaRPr lang="en-US" sz="850" dirty="0">
              <a:solidFill>
                <a:srgbClr val="6B6B6B"/>
              </a:solidFill>
              <a:latin typeface="Montserrat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048549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1" name="Shape 29"/>
          <p:cNvSpPr/>
          <p:nvPr/>
        </p:nvSpPr>
        <p:spPr>
          <a:xfrm>
            <a:off x="8268005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8268005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268005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Confirmação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268005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 DO CADERNO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8268005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Confere que é a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mesma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pessoa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Assinala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comprovante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918954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7" name="Shape 35"/>
          <p:cNvSpPr/>
          <p:nvPr/>
        </p:nvSpPr>
        <p:spPr>
          <a:xfrm>
            <a:off x="10138410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8" name="Text 36"/>
          <p:cNvSpPr txBox="1"/>
          <p:nvPr/>
        </p:nvSpPr>
        <p:spPr>
          <a:xfrm>
            <a:off x="1013841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138410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Voto e comprovante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138410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10138410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Vota, recolhe o próprio celular e recebe o comprovante.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389534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A MESA RÁPIDA FAZ DE DIFERENTE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442384" y="4041648"/>
            <a:ext cx="4788256" cy="1335024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4" name="Text 42"/>
          <p:cNvSpPr txBox="1"/>
          <p:nvPr/>
        </p:nvSpPr>
        <p:spPr>
          <a:xfrm>
            <a:off x="566928" y="418795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 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066544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6" name="Text 44"/>
          <p:cNvSpPr txBox="1"/>
          <p:nvPr/>
        </p:nvSpPr>
        <p:spPr>
          <a:xfrm>
            <a:off x="2066544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63608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8" name="Text 46"/>
          <p:cNvSpPr txBox="1"/>
          <p:nvPr/>
        </p:nvSpPr>
        <p:spPr>
          <a:xfrm>
            <a:off x="3263608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460672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0" name="Text 48"/>
          <p:cNvSpPr txBox="1"/>
          <p:nvPr/>
        </p:nvSpPr>
        <p:spPr>
          <a:xfrm>
            <a:off x="4460672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657736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2" name="Text 50"/>
          <p:cNvSpPr txBox="1"/>
          <p:nvPr/>
        </p:nvSpPr>
        <p:spPr>
          <a:xfrm>
            <a:off x="5657736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854800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4" name="Text 52"/>
          <p:cNvSpPr txBox="1"/>
          <p:nvPr/>
        </p:nvSpPr>
        <p:spPr>
          <a:xfrm>
            <a:off x="6854800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051863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6" name="Text 54"/>
          <p:cNvSpPr txBox="1"/>
          <p:nvPr/>
        </p:nvSpPr>
        <p:spPr>
          <a:xfrm>
            <a:off x="8051863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66928" y="48097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 N+1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460672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9" name="Text 57"/>
          <p:cNvSpPr txBox="1"/>
          <p:nvPr/>
        </p:nvSpPr>
        <p:spPr>
          <a:xfrm>
            <a:off x="4460672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657736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1" name="Text 59"/>
          <p:cNvSpPr txBox="1"/>
          <p:nvPr/>
        </p:nvSpPr>
        <p:spPr>
          <a:xfrm>
            <a:off x="5657736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854800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3" name="Text 61"/>
          <p:cNvSpPr txBox="1"/>
          <p:nvPr/>
        </p:nvSpPr>
        <p:spPr>
          <a:xfrm>
            <a:off x="6854800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051863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5" name="Text 63"/>
          <p:cNvSpPr txBox="1"/>
          <p:nvPr/>
        </p:nvSpPr>
        <p:spPr>
          <a:xfrm>
            <a:off x="8051863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248927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7" name="Text 65"/>
          <p:cNvSpPr txBox="1"/>
          <p:nvPr/>
        </p:nvSpPr>
        <p:spPr>
          <a:xfrm>
            <a:off x="9248927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10445991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9" name="Text 67"/>
          <p:cNvSpPr txBox="1"/>
          <p:nvPr/>
        </p:nvSpPr>
        <p:spPr>
          <a:xfrm>
            <a:off x="10445991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4442384" y="5358384"/>
            <a:ext cx="478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sobreposição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66928" y="5632704"/>
            <a:ext cx="11057839" cy="713232"/>
          </a:xfrm>
          <a:prstGeom prst="roundRect">
            <a:avLst>
              <a:gd name="adj" fmla="val 6410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2" name="Text 70"/>
          <p:cNvSpPr txBox="1"/>
          <p:nvPr/>
        </p:nvSpPr>
        <p:spPr>
          <a:xfrm>
            <a:off x="950976" y="5632704"/>
            <a:ext cx="102897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ganho não é digitar mais rápido: é o passo 2 do próximo eleitor acontecer enquanto o atual ainda está na cabine.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IDENTIFICAÇÃO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Qualquer documento oficial, com foto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espírito da norma é simples: confirmar que é a mesma pessoa. Não importa se o documento é brasileiro, irlandês ou de outra nacionalidade.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877824" y="2505456"/>
            <a:ext cx="548640" cy="54864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 txBox="1"/>
          <p:nvPr/>
        </p:nvSpPr>
        <p:spPr>
          <a:xfrm>
            <a:off x="87782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 brasileiro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b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RG, CNH, passaporte, carteira de trabalho ou funcional — qualquer documento oficial brasileiro, com foto.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996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371086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371086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1086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 irlandês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71086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b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Passport card, driving licence ou outro documento oficial irlandês, com foto.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300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654390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654390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4390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 de outro país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4390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b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Vale também o passaporte de um terceiro país — por exemplo, o italiano de um binacional. Basta ser oficial e ter foto.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66047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Shape 21"/>
          <p:cNvSpPr/>
          <p:nvPr/>
        </p:nvSpPr>
        <p:spPr>
          <a:xfrm>
            <a:off x="9376943" y="2505456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9376943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OK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76943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importa sempre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376943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b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Confirmar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é 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mesma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pessoa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 oficial e com foto — a nacionalidade não importa.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5358384"/>
            <a:ext cx="11057839" cy="877824"/>
          </a:xfrm>
          <a:prstGeom prst="roundRect">
            <a:avLst>
              <a:gd name="adj" fmla="val 5208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566928" y="5358384"/>
            <a:ext cx="82296" cy="87782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932688" y="5358384"/>
            <a:ext cx="1032631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dúvida, não é sobre a nacionalidade do documento — é sobre reconhecer a pessoa que está na sua frente.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elulares e equipamentos eletron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opBar 3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4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CELULARES E EQUIPAMENTOS</a:t>
            </a:r>
            <a:endParaRPr lang="en-US" sz="900" dirty="0"/>
          </a:p>
        </p:txBody>
      </p:sp>
      <p:sp>
        <p:nvSpPr>
          <p:cNvPr id="5" name="Text 5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pedidos, um procedimento</a:t>
            </a:r>
            <a:endParaRPr lang="en-US" sz="3000" dirty="0"/>
          </a:p>
        </p:txBody>
      </p:sp>
      <p:sp>
        <p:nvSpPr>
          <p:cNvPr id="6" name="Text 6"/>
          <p:cNvSpPr txBox="1"/>
          <p:nvPr/>
        </p:nvSpPr>
        <p:spPr>
          <a:xfrm>
            <a:off x="566928" y="1152144"/>
            <a:ext cx="98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 recolhe na entrada; Presidente confere na mesa. Quem resistir, vota mesmo assim — mas fica registrado.</a:t>
            </a:r>
            <a:endParaRPr lang="en-US" sz="1200" dirty="0"/>
          </a:p>
        </p:txBody>
      </p:sp>
      <p:sp>
        <p:nvSpPr>
          <p:cNvPr id="7" name="Card 7"/>
          <p:cNvSpPr/>
          <p:nvPr/>
        </p:nvSpPr>
        <p:spPr>
          <a:xfrm>
            <a:off x="566928" y="1750000"/>
            <a:ext cx="5380000" cy="1700000"/>
          </a:xfrm>
          <a:prstGeom prst="roundRect">
            <a:avLst/>
          </a:prstGeom>
          <a:solidFill>
            <a:srgbClr val="FFFFFF"/>
          </a:solidFill>
          <a:ln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Circle 8"/>
          <p:cNvSpPr/>
          <p:nvPr/>
        </p:nvSpPr>
        <p:spPr>
          <a:xfrm>
            <a:off x="846928" y="2030000"/>
            <a:ext cx="480000" cy="48000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9"/>
          <p:cNvSpPr txBox="1"/>
          <p:nvPr/>
        </p:nvSpPr>
        <p:spPr>
          <a:xfrm>
            <a:off x="846928" y="2030000"/>
            <a:ext cx="48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</a:t>
            </a:r>
            <a:endParaRPr lang="en-US" sz="1300" dirty="0"/>
          </a:p>
        </p:txBody>
      </p:sp>
      <p:sp>
        <p:nvSpPr>
          <p:cNvPr id="10" name="Text 10"/>
          <p:cNvSpPr txBox="1"/>
          <p:nvPr/>
        </p:nvSpPr>
        <p:spPr>
          <a:xfrm>
            <a:off x="1476928" y="2010000"/>
            <a:ext cx="419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</a:t>
            </a:r>
            <a:endParaRPr lang="en-US" sz="1500" dirty="0"/>
          </a:p>
        </p:txBody>
      </p:sp>
      <p:sp>
        <p:nvSpPr>
          <p:cNvPr id="11" name="Text 11"/>
          <p:cNvSpPr txBox="1"/>
          <p:nvPr/>
        </p:nvSpPr>
        <p:spPr>
          <a:xfrm>
            <a:off x="846928" y="2590000"/>
            <a:ext cx="482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pede na entrada</a:t>
            </a:r>
            <a:endParaRPr lang="en-US" sz="1000" dirty="0"/>
          </a:p>
        </p:txBody>
      </p:sp>
      <p:sp>
        <p:nvSpPr>
          <p:cNvPr id="12" name="Text 12"/>
          <p:cNvSpPr txBox="1"/>
          <p:nvPr/>
        </p:nvSpPr>
        <p:spPr>
          <a:xfrm>
            <a:off x="846928" y="2850000"/>
            <a:ext cx="482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 pedir para as pessoas já deixarem o celular em mãos — ele será recolhido.</a:t>
            </a:r>
            <a:endParaRPr lang="en-US" sz="1050" dirty="0"/>
          </a:p>
        </p:txBody>
      </p:sp>
      <p:sp>
        <p:nvSpPr>
          <p:cNvPr id="13" name="Card 13"/>
          <p:cNvSpPr/>
          <p:nvPr/>
        </p:nvSpPr>
        <p:spPr>
          <a:xfrm>
            <a:off x="6244767" y="1750000"/>
            <a:ext cx="5380000" cy="1700000"/>
          </a:xfrm>
          <a:prstGeom prst="roundRect">
            <a:avLst/>
          </a:prstGeom>
          <a:solidFill>
            <a:srgbClr val="FFFFFF"/>
          </a:solidFill>
          <a:ln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Circle 14"/>
          <p:cNvSpPr/>
          <p:nvPr/>
        </p:nvSpPr>
        <p:spPr>
          <a:xfrm>
            <a:off x="6524767" y="2030000"/>
            <a:ext cx="480000" cy="48000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Text 15"/>
          <p:cNvSpPr txBox="1"/>
          <p:nvPr/>
        </p:nvSpPr>
        <p:spPr>
          <a:xfrm>
            <a:off x="6524767" y="2030000"/>
            <a:ext cx="48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</a:t>
            </a:r>
            <a:endParaRPr lang="en-US" sz="1300" dirty="0"/>
          </a:p>
        </p:txBody>
      </p:sp>
      <p:sp>
        <p:nvSpPr>
          <p:cNvPr id="16" name="Text 16"/>
          <p:cNvSpPr txBox="1"/>
          <p:nvPr/>
        </p:nvSpPr>
        <p:spPr>
          <a:xfrm>
            <a:off x="7154767" y="2010000"/>
            <a:ext cx="419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1500" dirty="0"/>
          </a:p>
        </p:txBody>
      </p:sp>
      <p:sp>
        <p:nvSpPr>
          <p:cNvPr id="17" name="Text 17"/>
          <p:cNvSpPr txBox="1"/>
          <p:nvPr/>
        </p:nvSpPr>
        <p:spPr>
          <a:xfrm>
            <a:off x="6524767" y="2590000"/>
            <a:ext cx="482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confere na mesa</a:t>
            </a:r>
            <a:endParaRPr lang="en-US" sz="1000" dirty="0"/>
          </a:p>
        </p:txBody>
      </p:sp>
      <p:sp>
        <p:nvSpPr>
          <p:cNvPr id="18" name="Text 18"/>
          <p:cNvSpPr txBox="1"/>
          <p:nvPr/>
        </p:nvSpPr>
        <p:spPr>
          <a:xfrm>
            <a:off x="6524767" y="2850000"/>
            <a:ext cx="482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Pede para o eleitor deixar o celular na mesa, junto com outros equipamentos eletrônicos — óculos da Meta, smartwatch.</a:t>
            </a:r>
            <a:endParaRPr lang="en-US" sz="1050" dirty="0"/>
          </a:p>
        </p:txBody>
      </p:sp>
      <p:sp>
        <p:nvSpPr>
          <p:cNvPr id="19" name="Text 19"/>
          <p:cNvSpPr txBox="1"/>
          <p:nvPr/>
        </p:nvSpPr>
        <p:spPr>
          <a:xfrm>
            <a:off x="566928" y="36000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PROCEDIMENTO</a:t>
            </a:r>
            <a:endParaRPr lang="en-US" sz="900" dirty="0"/>
          </a:p>
        </p:txBody>
      </p:sp>
      <p:sp>
        <p:nvSpPr>
          <p:cNvPr id="20" name="Circle 20"/>
          <p:cNvSpPr/>
          <p:nvPr/>
        </p:nvSpPr>
        <p:spPr>
          <a:xfrm>
            <a:off x="566928" y="3884000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1" name="Text 21"/>
          <p:cNvSpPr txBox="1"/>
          <p:nvPr/>
        </p:nvSpPr>
        <p:spPr>
          <a:xfrm>
            <a:off x="566928" y="3884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2"/>
          <p:cNvSpPr txBox="1"/>
          <p:nvPr/>
        </p:nvSpPr>
        <p:spPr>
          <a:xfrm>
            <a:off x="1000000" y="3880000"/>
            <a:ext cx="1005776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Pergunte ao eleitor se está portando celular ou algum equipamento eletrônico.</a:t>
            </a:r>
            <a:endParaRPr lang="en-US" sz="1050" dirty="0"/>
          </a:p>
        </p:txBody>
      </p:sp>
      <p:sp>
        <p:nvSpPr>
          <p:cNvPr id="23" name="Divider 23"/>
          <p:cNvSpPr/>
          <p:nvPr/>
        </p:nvSpPr>
        <p:spPr>
          <a:xfrm>
            <a:off x="566928" y="422434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Circle 24"/>
          <p:cNvSpPr/>
          <p:nvPr/>
        </p:nvSpPr>
        <p:spPr>
          <a:xfrm>
            <a:off x="566928" y="4232000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5" name="Text 25"/>
          <p:cNvSpPr txBox="1"/>
          <p:nvPr/>
        </p:nvSpPr>
        <p:spPr>
          <a:xfrm>
            <a:off x="566928" y="4232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6"/>
          <p:cNvSpPr txBox="1"/>
          <p:nvPr/>
        </p:nvSpPr>
        <p:spPr>
          <a:xfrm>
            <a:off x="1000000" y="4228000"/>
            <a:ext cx="1005776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disser que não, avise que usar o celular dentro da cabine também conta como equipamento eletrônico — e também não é permitido.</a:t>
            </a:r>
            <a:endParaRPr lang="en-US" sz="1050" dirty="0"/>
          </a:p>
        </p:txBody>
      </p:sp>
      <p:sp>
        <p:nvSpPr>
          <p:cNvPr id="27" name="Divider 27"/>
          <p:cNvSpPr/>
          <p:nvPr/>
        </p:nvSpPr>
        <p:spPr>
          <a:xfrm>
            <a:off x="566928" y="457234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Circle 28"/>
          <p:cNvSpPr/>
          <p:nvPr/>
        </p:nvSpPr>
        <p:spPr>
          <a:xfrm>
            <a:off x="566928" y="4580000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9"/>
          <p:cNvSpPr txBox="1"/>
          <p:nvPr/>
        </p:nvSpPr>
        <p:spPr>
          <a:xfrm>
            <a:off x="566928" y="4580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30"/>
          <p:cNvSpPr txBox="1"/>
          <p:nvPr/>
        </p:nvSpPr>
        <p:spPr>
          <a:xfrm>
            <a:off x="1000000" y="4576000"/>
            <a:ext cx="1005776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o eleitor resistir, deixe-o votar: não impeça a votação por causa disso.</a:t>
            </a:r>
            <a:endParaRPr lang="en-US" sz="1050" dirty="0"/>
          </a:p>
        </p:txBody>
      </p:sp>
      <p:sp>
        <p:nvSpPr>
          <p:cNvPr id="31" name="Divider 31"/>
          <p:cNvSpPr/>
          <p:nvPr/>
        </p:nvSpPr>
        <p:spPr>
          <a:xfrm>
            <a:off x="566928" y="492034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Circle 32"/>
          <p:cNvSpPr/>
          <p:nvPr/>
        </p:nvSpPr>
        <p:spPr>
          <a:xfrm>
            <a:off x="566928" y="4928000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3" name="Text 33"/>
          <p:cNvSpPr txBox="1"/>
          <p:nvPr/>
        </p:nvSpPr>
        <p:spPr>
          <a:xfrm>
            <a:off x="566928" y="4928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4"/>
          <p:cNvSpPr txBox="1"/>
          <p:nvPr/>
        </p:nvSpPr>
        <p:spPr>
          <a:xfrm>
            <a:off x="1000000" y="4924000"/>
            <a:ext cx="1005776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Faça a marcação no caderno.</a:t>
            </a:r>
            <a:endParaRPr lang="en-US" sz="1050" dirty="0"/>
          </a:p>
        </p:txBody>
      </p:sp>
      <p:sp>
        <p:nvSpPr>
          <p:cNvPr id="35" name="Divider 35"/>
          <p:cNvSpPr/>
          <p:nvPr/>
        </p:nvSpPr>
        <p:spPr>
          <a:xfrm>
            <a:off x="566928" y="526834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6" name="Circle 36"/>
          <p:cNvSpPr/>
          <p:nvPr/>
        </p:nvSpPr>
        <p:spPr>
          <a:xfrm>
            <a:off x="566928" y="5276000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7" name="Text 37"/>
          <p:cNvSpPr txBox="1"/>
          <p:nvPr/>
        </p:nvSpPr>
        <p:spPr>
          <a:xfrm>
            <a:off x="566928" y="5276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8"/>
          <p:cNvSpPr txBox="1"/>
          <p:nvPr/>
        </p:nvSpPr>
        <p:spPr>
          <a:xfrm>
            <a:off x="1000000" y="5272000"/>
            <a:ext cx="1005776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Registre em ata quando houver tempo hábil — mesa vazia ou depois da votação.</a:t>
            </a:r>
            <a:endParaRPr lang="en-US" sz="1050" dirty="0"/>
          </a:p>
        </p:txBody>
      </p:sp>
      <p:sp>
        <p:nvSpPr>
          <p:cNvPr id="39" name="Banner 39"/>
          <p:cNvSpPr/>
          <p:nvPr/>
        </p:nvSpPr>
        <p:spPr>
          <a:xfrm>
            <a:off x="566928" y="5770000"/>
            <a:ext cx="11057839" cy="750000"/>
          </a:xfrm>
          <a:prstGeom prst="round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0" name="BannerText 40"/>
          <p:cNvSpPr txBox="1"/>
          <p:nvPr/>
        </p:nvSpPr>
        <p:spPr>
          <a:xfrm>
            <a:off x="908423" y="5770000"/>
            <a:ext cx="10289743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DEIXE ELEITOR QUE ESTEJA CRIANDO CASO IMPEDIR O FLUXO DE VOTAÇÃO.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100" i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“O tumulto de um não pode virar o tumulto de todos.”</a:t>
            </a:r>
            <a:endParaRPr lang="en-US" sz="1100" i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Justificati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opBar 3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4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JUSTIFICATIVA</a:t>
            </a:r>
            <a:endParaRPr lang="en-US" sz="900" dirty="0"/>
          </a:p>
        </p:txBody>
      </p:sp>
      <p:sp>
        <p:nvSpPr>
          <p:cNvPr id="5" name="Text 5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 primeiro, presencial por exceção</a:t>
            </a:r>
            <a:endParaRPr lang="en-US" sz="3000" dirty="0"/>
          </a:p>
        </p:txBody>
      </p:sp>
      <p:sp>
        <p:nvSpPr>
          <p:cNvPr id="6" name="Text 6"/>
          <p:cNvSpPr txBox="1"/>
          <p:nvPr/>
        </p:nvSpPr>
        <p:spPr>
          <a:xfrm>
            <a:off x="566928" y="1152144"/>
            <a:ext cx="98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justificativa pode ser feita pelo site do TSE, sem comparecer. Quem insistir em ser justificado presencialmente segue outro caminho.</a:t>
            </a:r>
            <a:endParaRPr lang="en-US" sz="1200" dirty="0"/>
          </a:p>
        </p:txBody>
      </p:sp>
      <p:sp>
        <p:nvSpPr>
          <p:cNvPr id="7" name="StepCard 7"/>
          <p:cNvSpPr/>
          <p:nvPr/>
        </p:nvSpPr>
        <p:spPr>
          <a:xfrm>
            <a:off x="566928" y="2011680"/>
            <a:ext cx="2568576" cy="1481328"/>
          </a:xfrm>
          <a:prstGeom prst="round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8"/>
          <p:cNvSpPr txBox="1"/>
          <p:nvPr/>
        </p:nvSpPr>
        <p:spPr>
          <a:xfrm>
            <a:off x="786928" y="2231680"/>
            <a:ext cx="2128576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Informar</a:t>
            </a:r>
            <a:endParaRPr lang="en-US" sz="1700" dirty="0"/>
          </a:p>
        </p:txBody>
      </p:sp>
      <p:sp>
        <p:nvSpPr>
          <p:cNvPr id="9" name="Text 9"/>
          <p:cNvSpPr txBox="1"/>
          <p:nvPr/>
        </p:nvSpPr>
        <p:spPr>
          <a:xfrm>
            <a:off x="786928" y="2791680"/>
            <a:ext cx="2128576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TSE, on-line</a:t>
            </a:r>
            <a:endParaRPr lang="en-US" sz="1000" dirty="0"/>
          </a:p>
        </p:txBody>
      </p:sp>
      <p:sp>
        <p:nvSpPr>
          <p:cNvPr id="10" name="Arrow 10"/>
          <p:cNvSpPr/>
          <p:nvPr/>
        </p:nvSpPr>
        <p:spPr>
          <a:xfrm rot="5400000">
            <a:off x="3162936" y="2569464"/>
            <a:ext cx="310896" cy="365760"/>
          </a:xfrm>
          <a:prstGeom prst="triangl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1" name="StepCard 11"/>
          <p:cNvSpPr/>
          <p:nvPr/>
        </p:nvSpPr>
        <p:spPr>
          <a:xfrm>
            <a:off x="3822192" y="2011680"/>
            <a:ext cx="2027596" cy="1481328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2"/>
          <p:cNvSpPr txBox="1"/>
          <p:nvPr/>
        </p:nvSpPr>
        <p:spPr>
          <a:xfrm>
            <a:off x="4042192" y="2231680"/>
            <a:ext cx="1587596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Insistiu</a:t>
            </a:r>
            <a:endParaRPr lang="en-US" sz="1700" dirty="0"/>
          </a:p>
        </p:txBody>
      </p:sp>
      <p:sp>
        <p:nvSpPr>
          <p:cNvPr id="13" name="Text 13"/>
          <p:cNvSpPr txBox="1"/>
          <p:nvPr/>
        </p:nvSpPr>
        <p:spPr>
          <a:xfrm>
            <a:off x="4042192" y="2791680"/>
            <a:ext cx="1587596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vai ao apoio</a:t>
            </a:r>
            <a:endParaRPr lang="en-US" sz="1000" dirty="0"/>
          </a:p>
        </p:txBody>
      </p:sp>
      <p:sp>
        <p:nvSpPr>
          <p:cNvPr id="14" name="Arrow 14"/>
          <p:cNvSpPr/>
          <p:nvPr/>
        </p:nvSpPr>
        <p:spPr>
          <a:xfrm rot="5400000">
            <a:off x="5877220" y="2569464"/>
            <a:ext cx="310896" cy="365760"/>
          </a:xfrm>
          <a:prstGeom prst="triangl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StepCard 15"/>
          <p:cNvSpPr/>
          <p:nvPr/>
        </p:nvSpPr>
        <p:spPr>
          <a:xfrm>
            <a:off x="6636382" y="2011680"/>
            <a:ext cx="2027596" cy="1481328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6"/>
          <p:cNvSpPr txBox="1"/>
          <p:nvPr/>
        </p:nvSpPr>
        <p:spPr>
          <a:xfrm>
            <a:off x="6856382" y="2231680"/>
            <a:ext cx="1587596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Encaminhar</a:t>
            </a:r>
            <a:endParaRPr lang="en-US" sz="1700" dirty="0"/>
          </a:p>
        </p:txBody>
      </p:sp>
      <p:sp>
        <p:nvSpPr>
          <p:cNvPr id="17" name="Text 17"/>
          <p:cNvSpPr txBox="1"/>
          <p:nvPr/>
        </p:nvSpPr>
        <p:spPr>
          <a:xfrm>
            <a:off x="6856382" y="2791680"/>
            <a:ext cx="1587596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menor movimento</a:t>
            </a:r>
            <a:endParaRPr lang="en-US" sz="1000" dirty="0"/>
          </a:p>
        </p:txBody>
      </p:sp>
      <p:sp>
        <p:nvSpPr>
          <p:cNvPr id="18" name="InfoBox 18"/>
          <p:cNvSpPr/>
          <p:nvPr/>
        </p:nvSpPr>
        <p:spPr>
          <a:xfrm>
            <a:off x="8873204" y="2011680"/>
            <a:ext cx="2751563" cy="1481328"/>
          </a:xfrm>
          <a:prstGeom prst="round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9"/>
          <p:cNvSpPr txBox="1"/>
          <p:nvPr/>
        </p:nvSpPr>
        <p:spPr>
          <a:xfrm>
            <a:off x="9133204" y="2211680"/>
            <a:ext cx="2251563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quê</a:t>
            </a:r>
            <a:endParaRPr lang="en-US" sz="1150" dirty="0"/>
          </a:p>
        </p:txBody>
      </p:sp>
      <p:sp>
        <p:nvSpPr>
          <p:cNvPr id="20" name="Text 20"/>
          <p:cNvSpPr txBox="1"/>
          <p:nvPr/>
        </p:nvSpPr>
        <p:spPr>
          <a:xfrm>
            <a:off x="9133204" y="2491680"/>
            <a:ext cx="2251563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Preserva o fluxo: quem só confirma ausência não compete pela fila de quem vai votar.</a:t>
            </a:r>
            <a:endParaRPr lang="en-US" sz="1050" dirty="0"/>
          </a:p>
        </p:txBody>
      </p:sp>
      <p:sp>
        <p:nvSpPr>
          <p:cNvPr id="21" name="Text 21"/>
          <p:cNvSpPr txBox="1"/>
          <p:nvPr/>
        </p:nvSpPr>
        <p:spPr>
          <a:xfrm>
            <a:off x="566928" y="374300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22" name="Bullet 22"/>
          <p:cNvSpPr/>
          <p:nvPr/>
        </p:nvSpPr>
        <p:spPr>
          <a:xfrm>
            <a:off x="566928" y="4063008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3" name="Text 23"/>
          <p:cNvSpPr txBox="1"/>
          <p:nvPr/>
        </p:nvSpPr>
        <p:spPr>
          <a:xfrm>
            <a:off x="566928" y="4063008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4"/>
          <p:cNvSpPr txBox="1"/>
          <p:nvPr/>
        </p:nvSpPr>
        <p:spPr>
          <a:xfrm>
            <a:off x="1000000" y="4023008"/>
            <a:ext cx="10057767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Secretário ou os Mesários informam o eleitor de que a justificativa pode ser feita on-line, no site do TSE, sem comparecer — e pedem que ele faça assim, para não prejudicar o fluxo de votação.</a:t>
            </a:r>
            <a:endParaRPr lang="en-US" sz="1050" dirty="0"/>
          </a:p>
        </p:txBody>
      </p:sp>
      <p:sp>
        <p:nvSpPr>
          <p:cNvPr id="25" name="Bullet 25"/>
          <p:cNvSpPr/>
          <p:nvPr/>
        </p:nvSpPr>
        <p:spPr>
          <a:xfrm>
            <a:off x="566928" y="4683008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6"/>
          <p:cNvSpPr txBox="1"/>
          <p:nvPr/>
        </p:nvSpPr>
        <p:spPr>
          <a:xfrm>
            <a:off x="566928" y="4683008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7"/>
          <p:cNvSpPr txBox="1"/>
          <p:nvPr/>
        </p:nvSpPr>
        <p:spPr>
          <a:xfrm>
            <a:off x="1000000" y="4643008"/>
            <a:ext cx="10057767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mesmo assim o eleitor insistir em ser justificado presencialmente, o Secretário o direciona ao pessoal de apoio, que estará no centro do salão.</a:t>
            </a:r>
            <a:endParaRPr lang="en-US" sz="1050" dirty="0"/>
          </a:p>
        </p:txBody>
      </p:sp>
      <p:sp>
        <p:nvSpPr>
          <p:cNvPr id="28" name="Bullet 28"/>
          <p:cNvSpPr/>
          <p:nvPr/>
        </p:nvSpPr>
        <p:spPr>
          <a:xfrm>
            <a:off x="566928" y="5303008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9"/>
          <p:cNvSpPr txBox="1"/>
          <p:nvPr/>
        </p:nvSpPr>
        <p:spPr>
          <a:xfrm>
            <a:off x="566928" y="5303008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30"/>
          <p:cNvSpPr txBox="1"/>
          <p:nvPr/>
        </p:nvSpPr>
        <p:spPr>
          <a:xfrm>
            <a:off x="1000000" y="5263008"/>
            <a:ext cx="10057767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apoio encaminha o eleitor a uma das mesas com menor número de eleitores esperados — a de menor movimento.</a:t>
            </a:r>
            <a:endParaRPr lang="en-US" sz="1050" dirty="0"/>
          </a:p>
        </p:txBody>
      </p:sp>
      <p:sp>
        <p:nvSpPr>
          <p:cNvPr id="31" name="Banner 31"/>
          <p:cNvSpPr/>
          <p:nvPr/>
        </p:nvSpPr>
        <p:spPr>
          <a:xfrm>
            <a:off x="566928" y="5983008"/>
            <a:ext cx="11057839" cy="640000"/>
          </a:xfrm>
          <a:prstGeom prst="round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2"/>
          <p:cNvSpPr txBox="1"/>
          <p:nvPr/>
        </p:nvSpPr>
        <p:spPr>
          <a:xfrm>
            <a:off x="908423" y="5983008"/>
            <a:ext cx="10289743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objetivo é simples: quem só vai justificar não deve competir pela fila de quem vai votar.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CADERNOS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caderno cheio, um imprevisível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urna atende uma ou duas seções. A principal é sempre grande; a agregada pode ter 400 nomes ou 29.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· UMA URNA CADA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31388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31388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COM DOIS CADERNOS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095848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095848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COM UM CADERNO SÓ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860307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398–797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860307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ELEITORES POR MESA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58998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2642616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61586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4145204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64174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5647792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66762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7150379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969350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8652967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400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2962656" y="45171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NOMES NO CADERNO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29809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 principal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3218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sempre de Dublin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843014" y="2944368"/>
            <a:ext cx="184857" cy="384048"/>
          </a:xfrm>
          <a:prstGeom prst="roundRect">
            <a:avLst>
              <a:gd name="adj" fmla="val 29679"/>
            </a:avLst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9174175" y="2944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395–400 nomes, nas 28 mesas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36758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 agregado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3913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quase sempre de outro condado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1538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3" name="Shape 31"/>
          <p:cNvSpPr/>
          <p:nvPr/>
        </p:nvSpPr>
        <p:spPr>
          <a:xfrm>
            <a:off x="3687185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380739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5" name="Shape 33"/>
          <p:cNvSpPr/>
          <p:nvPr/>
        </p:nvSpPr>
        <p:spPr>
          <a:xfrm>
            <a:off x="3972677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6" name="Shape 34"/>
          <p:cNvSpPr/>
          <p:nvPr/>
        </p:nvSpPr>
        <p:spPr>
          <a:xfrm>
            <a:off x="4017755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7" name="Shape 35"/>
          <p:cNvSpPr/>
          <p:nvPr/>
        </p:nvSpPr>
        <p:spPr>
          <a:xfrm>
            <a:off x="4408428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457371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9" name="Shape 37"/>
          <p:cNvSpPr/>
          <p:nvPr/>
        </p:nvSpPr>
        <p:spPr>
          <a:xfrm>
            <a:off x="5475265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0" name="Shape 38"/>
          <p:cNvSpPr/>
          <p:nvPr/>
        </p:nvSpPr>
        <p:spPr>
          <a:xfrm>
            <a:off x="5610498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1" name="Shape 39"/>
          <p:cNvSpPr/>
          <p:nvPr/>
        </p:nvSpPr>
        <p:spPr>
          <a:xfrm>
            <a:off x="6001171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6136404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3" name="Shape 41"/>
          <p:cNvSpPr/>
          <p:nvPr/>
        </p:nvSpPr>
        <p:spPr>
          <a:xfrm>
            <a:off x="6376818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4" name="Shape 42"/>
          <p:cNvSpPr/>
          <p:nvPr/>
        </p:nvSpPr>
        <p:spPr>
          <a:xfrm>
            <a:off x="705298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5" name="Shape 43"/>
          <p:cNvSpPr/>
          <p:nvPr/>
        </p:nvSpPr>
        <p:spPr>
          <a:xfrm>
            <a:off x="8255052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6" name="Shape 44"/>
          <p:cNvSpPr/>
          <p:nvPr/>
        </p:nvSpPr>
        <p:spPr>
          <a:xfrm>
            <a:off x="8435363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7" name="Shape 45"/>
          <p:cNvSpPr/>
          <p:nvPr/>
        </p:nvSpPr>
        <p:spPr>
          <a:xfrm>
            <a:off x="8435363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8" name="Shape 46"/>
          <p:cNvSpPr/>
          <p:nvPr/>
        </p:nvSpPr>
        <p:spPr>
          <a:xfrm>
            <a:off x="851049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9" name="Shape 47"/>
          <p:cNvSpPr/>
          <p:nvPr/>
        </p:nvSpPr>
        <p:spPr>
          <a:xfrm>
            <a:off x="8645725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0" name="Shape 48"/>
          <p:cNvSpPr/>
          <p:nvPr/>
        </p:nvSpPr>
        <p:spPr>
          <a:xfrm>
            <a:off x="8795984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1" name="Shape 49"/>
          <p:cNvSpPr/>
          <p:nvPr/>
        </p:nvSpPr>
        <p:spPr>
          <a:xfrm>
            <a:off x="8811010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2" name="Shape 50"/>
          <p:cNvSpPr/>
          <p:nvPr/>
        </p:nvSpPr>
        <p:spPr>
          <a:xfrm>
            <a:off x="8826036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3" name="Shape 51"/>
          <p:cNvSpPr/>
          <p:nvPr/>
        </p:nvSpPr>
        <p:spPr>
          <a:xfrm>
            <a:off x="8841062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4" name="Shape 52"/>
          <p:cNvSpPr/>
          <p:nvPr/>
        </p:nvSpPr>
        <p:spPr>
          <a:xfrm>
            <a:off x="8886139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5" name="Text 53"/>
          <p:cNvSpPr txBox="1"/>
          <p:nvPr/>
        </p:nvSpPr>
        <p:spPr>
          <a:xfrm>
            <a:off x="9174175" y="37307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ponto é uma mesa · de 29 a 400 nomes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6928" y="4974336"/>
            <a:ext cx="3503066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7" name="Text 55"/>
          <p:cNvSpPr txBox="1"/>
          <p:nvPr/>
        </p:nvSpPr>
        <p:spPr>
          <a:xfrm>
            <a:off x="841248" y="5157216"/>
            <a:ext cx="29544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Cadernos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de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uma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seção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por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mesário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841248" y="5449824"/>
            <a:ext cx="29544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Mas, se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quiser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mudar,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b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importante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é achar o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jeito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rápido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mesa.</a:t>
            </a:r>
            <a:endParaRPr lang="en-US" sz="900" b="1" dirty="0"/>
          </a:p>
        </p:txBody>
      </p:sp>
      <p:sp>
        <p:nvSpPr>
          <p:cNvPr id="59" name="Shape 57"/>
          <p:cNvSpPr/>
          <p:nvPr/>
        </p:nvSpPr>
        <p:spPr>
          <a:xfrm>
            <a:off x="4344314" y="4974336"/>
            <a:ext cx="3503066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0" name="Text 58"/>
          <p:cNvSpPr txBox="1"/>
          <p:nvPr/>
        </p:nvSpPr>
        <p:spPr>
          <a:xfrm>
            <a:off x="4618634" y="5157216"/>
            <a:ext cx="295442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 e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número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sempre os dois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4618634" y="5449824"/>
            <a:ext cx="29544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br>
              <a:rPr lang="en-US" sz="900" dirty="0">
                <a:solidFill>
                  <a:srgbClr val="6B6B6B"/>
                </a:solidFill>
                <a:latin typeface="Montserrat" pitchFamily="34" charset="0"/>
              </a:rPr>
            </a:b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O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eleitor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só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poderá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ser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localizado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no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caderno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da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Seção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em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que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votará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. Por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isso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,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temos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que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saber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os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dois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.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121701" y="4974336"/>
            <a:ext cx="3503066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3" name="Text 61"/>
          <p:cNvSpPr txBox="1"/>
          <p:nvPr/>
        </p:nvSpPr>
        <p:spPr>
          <a:xfrm>
            <a:off x="8396021" y="5157216"/>
            <a:ext cx="29544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 de um caderno só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8396021" y="5449824"/>
            <a:ext cx="29544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mesário busca; o outro entrega o comprovante e cuida da fila. Não se divide o caderno em dois.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Tamanhos de caderno calculados de saidas/dados.json, dos CSVs oficiais do TSE.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MAIS IMPORTA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primeiras horas decidem o dia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maior fila do dia chega quando a mesa ainda está encontrando o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seu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ritmo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É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importante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identificar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processo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mesa logo no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começo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PRIMEIRAS HORAS · MAIOR FILA DO DIA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janela de almoço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 txBox="1"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retomada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327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24688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91919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147553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20568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2704186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49217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3932834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77866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5161483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06514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6390132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35163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7618781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63812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 txBox="1"/>
          <p:nvPr/>
        </p:nvSpPr>
        <p:spPr>
          <a:xfrm>
            <a:off x="8847430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392461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 txBox="1"/>
          <p:nvPr/>
        </p:nvSpPr>
        <p:spPr>
          <a:xfrm>
            <a:off x="1007607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62111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1130472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928" y="4005072"/>
            <a:ext cx="3478682" cy="1792224"/>
          </a:xfrm>
          <a:prstGeom prst="roundRect">
            <a:avLst>
              <a:gd name="adj" fmla="val 2551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877824" y="4315968"/>
            <a:ext cx="384048" cy="41148"/>
          </a:xfrm>
          <a:prstGeom prst="rect">
            <a:avLst/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 txBox="1"/>
          <p:nvPr/>
        </p:nvSpPr>
        <p:spPr>
          <a:xfrm>
            <a:off x="877824" y="4517136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procure o processo perfeito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77824" y="51206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E4E0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Procure, nos primeiros trinta ou quarenta eleitores, o arranjo que funciona naquela mesa. Depois repita sem mudar.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56506" y="4005072"/>
            <a:ext cx="3478682" cy="1792224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4667402" y="4315968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9" name="Text 37"/>
          <p:cNvSpPr txBox="1"/>
          <p:nvPr/>
        </p:nvSpPr>
        <p:spPr>
          <a:xfrm>
            <a:off x="4667402" y="4517136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Ajuste nos primeiros minutos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4667402" y="51206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a busca no caderno está atrasando a mesa, troque 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divisão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agora. 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atraso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virar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fila.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46085" y="4005072"/>
            <a:ext cx="3478682" cy="1792224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8456981" y="4315968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3" name="Text 41"/>
          <p:cNvSpPr txBox="1"/>
          <p:nvPr/>
        </p:nvSpPr>
        <p:spPr>
          <a:xfrm>
            <a:off x="8456981" y="4517136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fila da primeira hora acompanha o dia</a:t>
            </a:r>
            <a:endParaRPr lang="en-US" sz="1450" dirty="0"/>
          </a:p>
        </p:txBody>
      </p:sp>
      <p:sp>
        <p:nvSpPr>
          <p:cNvPr id="44" name="Text 42"/>
          <p:cNvSpPr txBox="1"/>
          <p:nvPr/>
        </p:nvSpPr>
        <p:spPr>
          <a:xfrm>
            <a:off x="8456981" y="51206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fila que se forma às 8h não desaparece sozinha: ela anda com a mesa até a tarde.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DE ABRIR A URNA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da mesa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 txBox="1"/>
          <p:nvPr/>
        </p:nvSpPr>
        <p:spPr>
          <a:xfrm>
            <a:off x="1243584" y="1572768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equipe na mesa às 6h30. Zerésima emitida e assinada às 7h00.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93976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566928" y="22494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1243584" y="2249424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Cadernos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distribuídos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dividos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77063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566928" y="29260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 txBox="1"/>
          <p:nvPr/>
        </p:nvSpPr>
        <p:spPr>
          <a:xfrm>
            <a:off x="1243584" y="2926080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tem o caderno começa a busca pelo nome antes da digitação.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3447288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Shape 13"/>
          <p:cNvSpPr/>
          <p:nvPr/>
        </p:nvSpPr>
        <p:spPr>
          <a:xfrm>
            <a:off x="566928" y="360273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1243584" y="3602736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Presidente,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após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digitar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terminal,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lê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voz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4123944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566928" y="42793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1243584" y="4279392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 dos celulares visível ao eleitor e à mesa receptora.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00600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1" name="Shape 19"/>
          <p:cNvSpPr/>
          <p:nvPr/>
        </p:nvSpPr>
        <p:spPr>
          <a:xfrm>
            <a:off x="566928" y="495604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1243584" y="4956048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Almoço combinado dentro da mesa: um de cada vez, na janela de 11h às 14h.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8887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Bom trabalho no dia 4 — e obrigado por representar o Brasil nesta seção.</a:t>
            </a:r>
            <a:endParaRPr lang="en-US" sz="1500" dirty="0"/>
          </a:p>
        </p:txBody>
      </p:sp>
      <p:pic>
        <p:nvPicPr>
          <p:cNvPr id="2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632704"/>
            <a:ext cx="1463040" cy="86959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>
                <a:solidFill>
                  <a:srgbClr val="5F882E"/>
                </a:solidFill>
                <a:latin typeface="Montserrat"/>
              </a:rPr>
              <a:t>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5156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042B5A"/>
                </a:solidFill>
                <a:latin typeface="Montserrat"/>
              </a:rPr>
              <a:t>Cinco passos para fechar a seção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Montserrat"/>
              </a:rPr>
              <a:t>A votação só pode ser encerrada a partir das 17h, no horário de Dublin, e com a fila vazia. Quem já estava na fila às 17h vota.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00784"/>
            <a:ext cx="2079345" cy="23957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1901952"/>
            <a:ext cx="310896" cy="310896"/>
          </a:xfrm>
          <a:prstGeom prst="ellipse">
            <a:avLst/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22576"/>
            <a:ext cx="16770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rgbClr val="042B5A"/>
                </a:solidFill>
                <a:latin typeface="Montserrat"/>
              </a:rPr>
              <a:t>Senhas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651760"/>
            <a:ext cx="167700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1">
                <a:solidFill>
                  <a:srgbClr val="5F882E"/>
                </a:solidFill>
                <a:latin typeface="Montserrat"/>
              </a:rPr>
              <a:t>SECRETÁRIO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889504"/>
            <a:ext cx="1677009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0">
                <a:solidFill>
                  <a:srgbClr val="6B6B6B"/>
                </a:solidFill>
                <a:latin typeface="Montserrat"/>
              </a:rPr>
              <a:t>Às 17h, entrega senhas a quem está na fila, da última pessoa até a primeira. Quem chegar depois não entra.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0865" y="1700784"/>
            <a:ext cx="2079345" cy="23957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30321" y="1901952"/>
            <a:ext cx="310896" cy="310896"/>
          </a:xfrm>
          <a:prstGeom prst="ellipse">
            <a:avLst/>
          </a:prstGeom>
          <a:solidFill>
            <a:srgbClr val="042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0321" y="19019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0321" y="2322576"/>
            <a:ext cx="16770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rgbClr val="042B5A"/>
                </a:solidFill>
                <a:latin typeface="Montserrat"/>
              </a:rPr>
              <a:t>Encerrar a votação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0321" y="2651760"/>
            <a:ext cx="167700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1">
                <a:solidFill>
                  <a:srgbClr val="5F882E"/>
                </a:solidFill>
                <a:latin typeface="Montserrat"/>
              </a:rPr>
              <a:t>PRESIDENTE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0321" y="2889504"/>
            <a:ext cx="1677009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0">
                <a:solidFill>
                  <a:srgbClr val="6B6B6B"/>
                </a:solidFill>
                <a:latin typeface="Montserrat"/>
              </a:rPr>
              <a:t>No Terminal do Mesário: CORRIGE › outras opções › 2 – Encerrar votação. Digita o próprio título, CONFIRMA e registra de novo os mesários presentes.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54803" y="1700784"/>
            <a:ext cx="2079345" cy="23957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74259" y="1901952"/>
            <a:ext cx="310896" cy="310896"/>
          </a:xfrm>
          <a:prstGeom prst="ellipse">
            <a:avLst/>
          </a:prstGeom>
          <a:solidFill>
            <a:srgbClr val="042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74259" y="19019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4259" y="2322576"/>
            <a:ext cx="16770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rgbClr val="042B5A"/>
                </a:solidFill>
                <a:latin typeface="Montserrat"/>
              </a:rPr>
              <a:t>Boletins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4259" y="2651760"/>
            <a:ext cx="167700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1">
                <a:solidFill>
                  <a:srgbClr val="5F882E"/>
                </a:solidFill>
                <a:latin typeface="Montserrat"/>
              </a:rPr>
              <a:t>A URNA IMPRIME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4259" y="2889504"/>
            <a:ext cx="1677009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0">
                <a:solidFill>
                  <a:srgbClr val="6B6B6B"/>
                </a:solidFill>
                <a:latin typeface="Montserrat"/>
              </a:rPr>
              <a:t>Confere a 1ª via do BU e, se legível, CONFIRMA. Saem a 2ª à 5ª via do BU, o BUJ e o BIM. Até 5 vias extras do BU, se pedidas.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8740" y="1700784"/>
            <a:ext cx="2079345" cy="23957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18196" y="1901952"/>
            <a:ext cx="310896" cy="310896"/>
          </a:xfrm>
          <a:prstGeom prst="ellipse">
            <a:avLst/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8196" y="19019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8196" y="2322576"/>
            <a:ext cx="16770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rgbClr val="042B5A"/>
                </a:solidFill>
                <a:latin typeface="Montserrat"/>
              </a:rPr>
              <a:t>Assinaturas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8196" y="2651760"/>
            <a:ext cx="167700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1">
                <a:solidFill>
                  <a:srgbClr val="5F882E"/>
                </a:solidFill>
                <a:latin typeface="Montserrat"/>
              </a:rPr>
              <a:t>TODA A MESA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8196" y="2889504"/>
            <a:ext cx="1677009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0">
                <a:solidFill>
                  <a:srgbClr val="6B6B6B"/>
                </a:solidFill>
                <a:latin typeface="Montserrat"/>
              </a:rPr>
              <a:t>BU e BUJ: todas as vias, pela mesa e pelos fiscais presentes. BIM: só pela mesa.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42678" y="1700784"/>
            <a:ext cx="2079345" cy="23957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62134" y="1901952"/>
            <a:ext cx="310896" cy="31089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2134" y="19019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2134" y="2322576"/>
            <a:ext cx="16770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rgbClr val="042B5A"/>
                </a:solidFill>
                <a:latin typeface="Montserrat"/>
              </a:rPr>
              <a:t>Mídia de Resultado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2134" y="2651760"/>
            <a:ext cx="167700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1">
                <a:solidFill>
                  <a:srgbClr val="5F882E"/>
                </a:solidFill>
                <a:latin typeface="Montserrat"/>
              </a:rPr>
              <a:t>PRESIDENTE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2134" y="2889504"/>
            <a:ext cx="1677009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0">
                <a:solidFill>
                  <a:srgbClr val="6B6B6B"/>
                </a:solidFill>
                <a:latin typeface="Montserrat"/>
              </a:rPr>
              <a:t>Só retira a MR depois da mensagem na tela. Entrega à equipe de transmissão, recoloca o lacre e desliga a urna.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315968"/>
            <a:ext cx="6675120" cy="18105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4462272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5F882E"/>
                </a:solidFill>
                <a:latin typeface="Montserrat"/>
              </a:rPr>
              <a:t>AS 5 VIAS OBRIGATÓRIAS DO BOLETIM DE URNA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" y="47548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rgbClr val="042B5A"/>
                </a:solidFill>
                <a:latin typeface="Montserrat"/>
              </a:rPr>
              <a:t>2 vias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4773168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6B6B6B"/>
                </a:solidFill>
                <a:latin typeface="Montserrat"/>
              </a:rPr>
              <a:t>no envelope, entregues à Embaixada para a Justiça Eleitoral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" y="508406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rgbClr val="042B5A"/>
                </a:solidFill>
                <a:latin typeface="Montserrat"/>
              </a:rPr>
              <a:t>1 via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72768" y="5102352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6B6B6B"/>
                </a:solidFill>
                <a:latin typeface="Montserrat"/>
              </a:rPr>
              <a:t>afixada em local visível, na entrada da seção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" y="54132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rgbClr val="042B5A"/>
                </a:solidFill>
                <a:latin typeface="Montserrat"/>
              </a:rPr>
              <a:t>1 via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72768" y="5431536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6B6B6B"/>
                </a:solidFill>
                <a:latin typeface="Montserrat"/>
              </a:rPr>
              <a:t>com o Presidente, para conferir o resultado no portal do TSE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" y="574243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rgbClr val="042B5A"/>
                </a:solidFill>
                <a:latin typeface="Montserrat"/>
              </a:rPr>
              <a:t>1 via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72768" y="5760720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6B6B6B"/>
                </a:solidFill>
                <a:latin typeface="Montserrat"/>
              </a:rPr>
              <a:t>às duas últimas pessoas a votar; as extras, a fiscais, MP e imprensa, se pedirem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79" y="4315968"/>
            <a:ext cx="4123944" cy="1810512"/>
          </a:xfrm>
          <a:prstGeom prst="roundRect">
            <a:avLst>
              <a:gd name="adj" fmla="val 3000"/>
            </a:avLst>
          </a:prstGeom>
          <a:solidFill>
            <a:srgbClr val="042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54112" y="44988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E8C63A"/>
                </a:solidFill>
                <a:latin typeface="Montserrat"/>
              </a:rPr>
              <a:t>Porta aberta, duas testemunhas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54112" y="4864608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FFFFFF"/>
                </a:solidFill>
                <a:latin typeface="Montserrat"/>
              </a:rPr>
              <a:t>O encerramento é público. As duas últimas pessoas a votar são convidadas a acompanhar e recebem uma via do BU. A participação ou a recusa vai para a ata.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272784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 b="0">
                <a:solidFill>
                  <a:srgbClr val="6B6B6B"/>
                </a:solidFill>
                <a:latin typeface="Montserrat"/>
              </a:rPr>
              <a:t>Manual do Mesário TSE 2026, p. 24–26; Manual do Representante Diplomático TSE 2026, p. 7 e 18–20. O Manual do Mesário fala em 17h de Brasília; no exterior vale o horário local. O BEHB citado no manual nacional não se aplica: no exterior não há identificação biométrica.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>
                <a:solidFill>
                  <a:srgbClr val="5F882E"/>
                </a:solidFill>
                <a:latin typeface="Montserrat"/>
              </a:rPr>
              <a:t>ANTES DE IR EMBORA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5156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042B5A"/>
                </a:solidFill>
                <a:latin typeface="Montserrat"/>
              </a:rPr>
              <a:t>Ninguém sai antes da conferência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Montserrat"/>
              </a:rPr>
              <a:t>A mesa só é liberada depois que a equipe da Embaixada confere o fechamento da seção e recebe, em mãos, estes quatro documentos.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00784"/>
            <a:ext cx="2558034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7" y="1901952"/>
            <a:ext cx="548640" cy="548640"/>
          </a:xfrm>
          <a:prstGeom prst="ellipse">
            <a:avLst/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019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96896"/>
            <a:ext cx="2045969" cy="51206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300" b="1">
                <a:solidFill>
                  <a:srgbClr val="042B5A"/>
                </a:solidFill>
                <a:latin typeface="Montserrat"/>
              </a:rPr>
              <a:t>Ata da Mesa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163824"/>
            <a:ext cx="20459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1">
                <a:solidFill>
                  <a:srgbClr val="5F882E"/>
                </a:solidFill>
                <a:latin typeface="Montserrat"/>
              </a:rPr>
              <a:t>VIA ÚNICA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401568"/>
            <a:ext cx="204596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Montserrat"/>
              </a:rPr>
              <a:t>Completa, com todas as ocorrências do dia. Assinada pelos mesários e pelos fiscais presentes.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9282" y="1700784"/>
            <a:ext cx="2558034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73602" y="1901952"/>
            <a:ext cx="548640" cy="548640"/>
          </a:xfrm>
          <a:prstGeom prst="ellipse">
            <a:avLst/>
          </a:prstGeom>
          <a:solidFill>
            <a:srgbClr val="042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3602" y="19019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BIM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3602" y="2596896"/>
            <a:ext cx="2045969" cy="51206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300" b="1">
                <a:solidFill>
                  <a:srgbClr val="042B5A"/>
                </a:solidFill>
                <a:latin typeface="Montserrat"/>
              </a:rPr>
              <a:t>Boletim de Identificação de Mesários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3602" y="3163824"/>
            <a:ext cx="20459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1">
                <a:solidFill>
                  <a:srgbClr val="5F882E"/>
                </a:solidFill>
                <a:latin typeface="Montserrat"/>
              </a:rPr>
              <a:t>VIA ÚNICA · IMPRESSO PELA URNA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3602" y="3401568"/>
            <a:ext cx="204596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Montserrat"/>
              </a:rPr>
              <a:t>Traz os mesários registrados no terminal. Assinado só pela mesa.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1700784"/>
            <a:ext cx="2558034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05955" y="1901952"/>
            <a:ext cx="548640" cy="548640"/>
          </a:xfrm>
          <a:prstGeom prst="ellipse">
            <a:avLst/>
          </a:prstGeom>
          <a:solidFill>
            <a:srgbClr val="042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5" y="19019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BU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5" y="2596896"/>
            <a:ext cx="2045969" cy="51206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300" b="1">
                <a:solidFill>
                  <a:srgbClr val="042B5A"/>
                </a:solidFill>
                <a:latin typeface="Montserrat"/>
              </a:rPr>
              <a:t>Boletins de Urna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5" y="3163824"/>
            <a:ext cx="20459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1">
                <a:solidFill>
                  <a:srgbClr val="5F882E"/>
                </a:solidFill>
                <a:latin typeface="Montserrat"/>
              </a:rPr>
              <a:t>AS 2 VIAS DO ENVELOPE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5955" y="3401568"/>
            <a:ext cx="204596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Montserrat"/>
              </a:rPr>
              <a:t>As vias destinadas à Justiça Eleitoral. Assinadas pela mesa e pelos fiscais presentes.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3989" y="1700784"/>
            <a:ext cx="2558034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38309" y="1901952"/>
            <a:ext cx="548640" cy="54864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38309" y="19019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BUJ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8309" y="2596896"/>
            <a:ext cx="2045969" cy="51206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300" b="1">
                <a:solidFill>
                  <a:srgbClr val="042B5A"/>
                </a:solidFill>
                <a:latin typeface="Montserrat"/>
              </a:rPr>
              <a:t>Boletim de Justificativa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8309" y="3163824"/>
            <a:ext cx="20459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1">
                <a:solidFill>
                  <a:srgbClr val="5F882E"/>
                </a:solidFill>
                <a:latin typeface="Montserrat"/>
              </a:rPr>
              <a:t>VIA ÚNICA · IMPRESSO PELA URNA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8309" y="3401568"/>
            <a:ext cx="204596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Montserrat"/>
              </a:rPr>
              <a:t>Lista as justificativas registradas na urna. Assinado pela mesa e pelos fiscais presentes.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169663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5F882E"/>
                </a:solidFill>
                <a:latin typeface="Montserrat"/>
              </a:rPr>
              <a:t>A CONFERÊNCIA NA MESA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80559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5F8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49884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042B5A"/>
                </a:solidFill>
                <a:latin typeface="Montserrat"/>
              </a:rPr>
              <a:t>Todas as vias assinadas, por quem deve assinar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0248" y="4480559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5F8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6008" y="449884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042B5A"/>
                </a:solidFill>
                <a:latin typeface="Montserrat"/>
              </a:rPr>
              <a:t>Uma via do BU afixada na entrada da seção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864607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5F8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4882896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042B5A"/>
                </a:solidFill>
                <a:latin typeface="Montserrat"/>
              </a:rPr>
              <a:t>Mídia de Resultado entregue à transmissão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70248" y="4864607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5F8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36008" y="4882896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042B5A"/>
                </a:solidFill>
                <a:latin typeface="Montserrat"/>
              </a:rPr>
              <a:t>Urna desligada e guardada na caixa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248655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5F8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" y="5266944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042B5A"/>
                </a:solidFill>
                <a:latin typeface="Montserrat"/>
              </a:rPr>
              <a:t>“NC” no caderno, no lugar da assinatura de quem faltou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70248" y="5248655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5F8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36008" y="5266944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042B5A"/>
                </a:solidFill>
                <a:latin typeface="Montserrat"/>
              </a:rPr>
              <a:t>Comprovantes destacados por engano junto do material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8160" y="4169663"/>
            <a:ext cx="3483864" cy="1591056"/>
          </a:xfrm>
          <a:prstGeom prst="roundRect">
            <a:avLst>
              <a:gd name="adj" fmla="val 3000"/>
            </a:avLst>
          </a:prstGeom>
          <a:solidFill>
            <a:srgbClr val="ED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38160" y="4169663"/>
            <a:ext cx="82296" cy="15910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94192" y="43159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rgbClr val="042B5A"/>
                </a:solidFill>
                <a:latin typeface="Montserrat"/>
              </a:rPr>
              <a:t>Por que esperar?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94192" y="4626864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042B5A"/>
                </a:solidFill>
                <a:latin typeface="Montserrat"/>
              </a:rPr>
              <a:t>Esses papéis são a prova do resultado da seção. Uma assinatura que falte não se colhe depois que a mesa foi embora.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5943600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 b="0">
                <a:solidFill>
                  <a:srgbClr val="6B6B6B"/>
                </a:solidFill>
                <a:latin typeface="Montserrat"/>
              </a:rPr>
              <a:t>Manual do Mesário TSE 2026, p. 15 e 26–27 (envio de BU, BUJ, BIM e Ata em envelope) e p. 32 (modelo da ata: saída antecipada é a ocorrência 3.2). Manual do Representante Diplomático TSE 2026, p. 19–20 e 25. A liberação só após a conferência é regra do Posto, não do manual.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4bdb55-4e7b-47e3-9436-adc0f7275061">
      <Terms xmlns="http://schemas.microsoft.com/office/infopath/2007/PartnerControls"/>
    </lcf76f155ced4ddcb4097134ff3c332f>
    <TaxCatchAll xmlns="8c5c945d-ac42-49f9-a24e-8c666a499b2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5F954B7D72B645B4C0A5F040EF7123" ma:contentTypeVersion="9" ma:contentTypeDescription="Create a new document." ma:contentTypeScope="" ma:versionID="eccd46ee4c16371306a900a17d2ae27a">
  <xsd:schema xmlns:xsd="http://www.w3.org/2001/XMLSchema" xmlns:xs="http://www.w3.org/2001/XMLSchema" xmlns:p="http://schemas.microsoft.com/office/2006/metadata/properties" xmlns:ns2="b64bdb55-4e7b-47e3-9436-adc0f7275061" xmlns:ns3="8c5c945d-ac42-49f9-a24e-8c666a499b28" targetNamespace="http://schemas.microsoft.com/office/2006/metadata/properties" ma:root="true" ma:fieldsID="d2247af5b362f25d5c11b33e9cccca05" ns2:_="" ns3:_="">
    <xsd:import namespace="b64bdb55-4e7b-47e3-9436-adc0f7275061"/>
    <xsd:import namespace="8c5c945d-ac42-49f9-a24e-8c666a499b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4bdb55-4e7b-47e3-9436-adc0f72750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9e0c36b-dd37-4310-bc80-357b60d80e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5c945d-ac42-49f9-a24e-8c666a499b2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60b6e6b-1c61-4b8f-bc2f-989240b8838f}" ma:internalName="TaxCatchAll" ma:showField="CatchAllData" ma:web="8c5c945d-ac42-49f9-a24e-8c666a499b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11B68C-E726-49B0-87BE-32D0001010E1}">
  <ds:schemaRefs>
    <ds:schemaRef ds:uri="http://schemas.microsoft.com/office/2006/metadata/properties"/>
    <ds:schemaRef ds:uri="http://schemas.microsoft.com/office/infopath/2007/PartnerControls"/>
    <ds:schemaRef ds:uri="b64bdb55-4e7b-47e3-9436-adc0f7275061"/>
    <ds:schemaRef ds:uri="8c5c945d-ac42-49f9-a24e-8c666a499b28"/>
  </ds:schemaRefs>
</ds:datastoreItem>
</file>

<file path=customXml/itemProps2.xml><?xml version="1.0" encoding="utf-8"?>
<ds:datastoreItem xmlns:ds="http://schemas.openxmlformats.org/officeDocument/2006/customXml" ds:itemID="{9B64BC42-FC42-4E35-A878-621EE5F7A8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6230CC-E228-49FF-904E-16A7C5247E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64bdb55-4e7b-47e3-9436-adc0f7275061"/>
    <ds:schemaRef ds:uri="8c5c945d-ac42-49f9-a24e-8c666a499b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2062</Words>
  <Application>Microsoft Office PowerPoint</Application>
  <PresentationFormat>Widescreen</PresentationFormat>
  <Paragraphs>329</Paragraphs>
  <Slides>15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Eleições 2026 · Briefing da equipe</dc:title>
  <dc:subject>PptxGenJS Presentation</dc:subject>
  <dc:creator>Posto de Dublin</dc:creator>
  <cp:lastModifiedBy>Hamad Mota Kalaf</cp:lastModifiedBy>
  <cp:revision>6</cp:revision>
  <dcterms:created xsi:type="dcterms:W3CDTF">2026-09-23T06:00:18Z</dcterms:created>
  <dcterms:modified xsi:type="dcterms:W3CDTF">2026-10-21T10:44:52Z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0x010100975F954B7D72B645B4C0A5F040EF7123</vt:lpwstr>
  </property>
</Properties>
</file>