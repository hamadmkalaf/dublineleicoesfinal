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3" r:id="rId9"/>
    <p:sldId id="269" r:id="rId10"/>
    <p:sldId id="270" r:id="rId11"/>
    <p:sldId id="264" r:id="rId12"/>
    <p:sldId id="265" r:id="rId13"/>
    <p:sldId id="271" r:id="rId22"/>
    <p:sldId id="266" r:id="rId14"/>
    <p:sldId id="267" r:id="rId15"/>
    <p:sldId id="268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5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221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 txBox="1"/>
          <p:nvPr/>
        </p:nvSpPr>
        <p:spPr>
          <a:xfrm>
            <a:off x="566928" y="1481328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16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ELEIÇÕES 2026 · 1º TURNO · DOMINGO, 4 DE OUTUBRO · 8H ÀS 17H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773936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0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Briefing da equipe</a:t>
            </a:r>
            <a:endParaRPr lang="en-US" sz="5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9260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Mesários e apoio do Posto de Dublin. O que muda no dia, quem faz o quê, como a mesa trabalha — e como se fala com quem está do outro lado do salão.</a:t>
            </a:r>
            <a:endParaRPr lang="en-US" sz="1350" dirty="0"/>
          </a:p>
        </p:txBody>
      </p:sp>
      <p:pic>
        <p:nvPicPr>
          <p:cNvPr id="7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810512"/>
            <a:ext cx="2743200" cy="163129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66928" y="4983480"/>
            <a:ext cx="25815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51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566928" y="5577840"/>
            <a:ext cx="25815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11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SEÇÕES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3331388" y="4983480"/>
            <a:ext cx="25815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28</a:t>
            </a:r>
            <a:endParaRPr lang="en-US" sz="3400" dirty="0"/>
          </a:p>
        </p:txBody>
      </p:sp>
      <p:sp>
        <p:nvSpPr>
          <p:cNvPr id="11" name="Text 8"/>
          <p:cNvSpPr txBox="1"/>
          <p:nvPr/>
        </p:nvSpPr>
        <p:spPr>
          <a:xfrm>
            <a:off x="3331388" y="5577840"/>
            <a:ext cx="25815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11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MESAS · UMA URNA CADA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6095848" y="4983480"/>
            <a:ext cx="25815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16.794</a:t>
            </a:r>
            <a:endParaRPr lang="en-US" sz="3400" dirty="0"/>
          </a:p>
        </p:txBody>
      </p:sp>
      <p:sp>
        <p:nvSpPr>
          <p:cNvPr id="13" name="Text 10"/>
          <p:cNvSpPr txBox="1"/>
          <p:nvPr/>
        </p:nvSpPr>
        <p:spPr>
          <a:xfrm>
            <a:off x="6095848" y="5577840"/>
            <a:ext cx="25815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11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ELEITORES APTOS</a:t>
            </a:r>
            <a:endParaRPr lang="en-US" sz="850" dirty="0"/>
          </a:p>
        </p:txBody>
      </p:sp>
      <p:sp>
        <p:nvSpPr>
          <p:cNvPr id="14" name="Text 11"/>
          <p:cNvSpPr txBox="1"/>
          <p:nvPr/>
        </p:nvSpPr>
        <p:spPr>
          <a:xfrm>
            <a:off x="8860307" y="4983480"/>
            <a:ext cx="25815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6h30</a:t>
            </a:r>
            <a:endParaRPr lang="en-US" sz="3400" dirty="0"/>
          </a:p>
        </p:txBody>
      </p:sp>
      <p:sp>
        <p:nvSpPr>
          <p:cNvPr id="15" name="Text 12"/>
          <p:cNvSpPr txBox="1"/>
          <p:nvPr/>
        </p:nvSpPr>
        <p:spPr>
          <a:xfrm>
            <a:off x="8860307" y="5577840"/>
            <a:ext cx="25815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11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HORÁRIO DE CHEGADA</a:t>
            </a:r>
            <a:endParaRPr lang="en-US" sz="850" dirty="0"/>
          </a:p>
        </p:txBody>
      </p:sp>
      <p:sp>
        <p:nvSpPr>
          <p:cNvPr id="16" name="Text 13"/>
          <p:cNvSpPr txBox="1"/>
          <p:nvPr/>
        </p:nvSpPr>
        <p:spPr>
          <a:xfrm>
            <a:off x="566928" y="647395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Embaixada do Brasil em Dublin · RDS, Hall 2, Merrion Road, Ballsbridge, Dublin 4 · 2º turno, se houver: domingo, 25 de outubro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 txBox="1"/>
          <p:nvPr/>
        </p:nvSpPr>
        <p:spPr>
          <a:xfrm>
            <a:off x="566928" y="384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6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NESTA REUNIÃO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0350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vamos ver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5214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Quatro assuntos. Os dois primeiros são sobre você; os dois últimos, sobre o eleitor.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62022" y="2103120"/>
            <a:ext cx="3478682" cy="1883664"/>
          </a:xfrm>
          <a:prstGeom prst="roundRect">
            <a:avLst>
              <a:gd name="adj" fmla="val 2427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8" name="Shape 6"/>
          <p:cNvSpPr/>
          <p:nvPr/>
        </p:nvSpPr>
        <p:spPr>
          <a:xfrm>
            <a:off x="2772918" y="2414016"/>
            <a:ext cx="310896" cy="310896"/>
          </a:xfrm>
          <a:prstGeom prst="ellipse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9" name="Text 7"/>
          <p:cNvSpPr txBox="1"/>
          <p:nvPr/>
        </p:nvSpPr>
        <p:spPr>
          <a:xfrm>
            <a:off x="2772918" y="24140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2772918" y="2889504"/>
            <a:ext cx="28568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Horários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772918" y="3236976"/>
            <a:ext cx="28568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Montagem, chegada, zerésima, encerramento — e a segunda-feira.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51295" y="2103120"/>
            <a:ext cx="3478682" cy="1883664"/>
          </a:xfrm>
          <a:prstGeom prst="roundRect">
            <a:avLst>
              <a:gd name="adj" fmla="val 2427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3" name="Shape 11"/>
          <p:cNvSpPr/>
          <p:nvPr/>
        </p:nvSpPr>
        <p:spPr>
          <a:xfrm>
            <a:off x="6562191" y="2414016"/>
            <a:ext cx="310896" cy="310896"/>
          </a:xfrm>
          <a:prstGeom prst="ellipse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4" name="Text 12"/>
          <p:cNvSpPr txBox="1"/>
          <p:nvPr/>
        </p:nvSpPr>
        <p:spPr>
          <a:xfrm>
            <a:off x="6562191" y="24140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562191" y="2889504"/>
            <a:ext cx="28568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Almoço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562191" y="3236976"/>
            <a:ext cx="28568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Quando sair, quem cobre, e por que a janela é 11h–14h.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462022" y="4370832"/>
            <a:ext cx="3478682" cy="1883664"/>
          </a:xfrm>
          <a:prstGeom prst="roundRect">
            <a:avLst>
              <a:gd name="adj" fmla="val 2427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8" name="Shape 26"/>
          <p:cNvSpPr/>
          <p:nvPr/>
        </p:nvSpPr>
        <p:spPr>
          <a:xfrm>
            <a:off x="2772918" y="4681728"/>
            <a:ext cx="310896" cy="310896"/>
          </a:xfrm>
          <a:prstGeom prst="ellipse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9" name="Text 27"/>
          <p:cNvSpPr txBox="1"/>
          <p:nvPr/>
        </p:nvSpPr>
        <p:spPr>
          <a:xfrm>
            <a:off x="2772918" y="46817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2772918" y="5157216"/>
            <a:ext cx="28568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Comunicação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2772918" y="5504688"/>
            <a:ext cx="28568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WhatsApp com os Presidentes de Mesa; walkie-talkie entre os líderes do apoio.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51295" y="4370832"/>
            <a:ext cx="3478682" cy="1883664"/>
          </a:xfrm>
          <a:prstGeom prst="roundRect">
            <a:avLst>
              <a:gd name="adj" fmla="val 2427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3" name="Shape 31"/>
          <p:cNvSpPr/>
          <p:nvPr/>
        </p:nvSpPr>
        <p:spPr>
          <a:xfrm>
            <a:off x="6562191" y="4681728"/>
            <a:ext cx="310896" cy="310896"/>
          </a:xfrm>
          <a:prstGeom prst="ellipse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4" name="Text 32"/>
          <p:cNvSpPr txBox="1"/>
          <p:nvPr/>
        </p:nvSpPr>
        <p:spPr>
          <a:xfrm>
            <a:off x="6562191" y="46817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6562191" y="5157216"/>
            <a:ext cx="28568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Fluxo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6562191" y="5504688"/>
            <a:ext cx="28568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 portão até a urna, e o que acontece dentro da mesa.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 txBox="1"/>
          <p:nvPr/>
        </p:nvSpPr>
        <p:spPr>
          <a:xfrm>
            <a:off x="566928" y="384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6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HORÁRIOS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0350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Dois dias, dois relógios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5214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hora da montagem é folgada. A hora do domingo não é: ela é ditada pela zerésima.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828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DIA DA MONTAGEM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66928" y="2066544"/>
            <a:ext cx="11057839" cy="749808"/>
          </a:xfrm>
          <a:prstGeom prst="roundRect">
            <a:avLst>
              <a:gd name="adj" fmla="val 6098"/>
            </a:avLst>
          </a:prstGeom>
          <a:solidFill>
            <a:srgbClr val="EDEADB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9" name="Shape 7"/>
          <p:cNvSpPr/>
          <p:nvPr/>
        </p:nvSpPr>
        <p:spPr>
          <a:xfrm>
            <a:off x="566928" y="2066544"/>
            <a:ext cx="82296" cy="749808"/>
          </a:xfrm>
          <a:prstGeom prst="rect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0" name="Text 8"/>
          <p:cNvSpPr txBox="1"/>
          <p:nvPr/>
        </p:nvSpPr>
        <p:spPr>
          <a:xfrm>
            <a:off x="877824" y="2066544"/>
            <a:ext cx="1050919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partir das 9h</a:t>
            </a:r>
            <a:r>
              <a:rPr lang="en-US" sz="11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·   montagem do Hall 2 e do pátio do Ring 3, conferência das mesas e da sinalização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30175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DOMINGO, 4 DE OUTUBRO · DIA DA ELEIÇÃO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481328" y="4041648"/>
            <a:ext cx="9229039" cy="32004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3" name="Shape 11"/>
          <p:cNvSpPr/>
          <p:nvPr/>
        </p:nvSpPr>
        <p:spPr>
          <a:xfrm>
            <a:off x="1481328" y="4041648"/>
            <a:ext cx="3076346" cy="32004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4" name="Shape 12"/>
          <p:cNvSpPr/>
          <p:nvPr/>
        </p:nvSpPr>
        <p:spPr>
          <a:xfrm>
            <a:off x="1385316" y="3963924"/>
            <a:ext cx="192024" cy="192024"/>
          </a:xfrm>
          <a:prstGeom prst="ellipse">
            <a:avLst/>
          </a:prstGeom>
          <a:solidFill>
            <a:srgbClr val="C8102E"/>
          </a:solidFill>
          <a:ln w="25400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5" name="Text 13"/>
          <p:cNvSpPr txBox="1"/>
          <p:nvPr/>
        </p:nvSpPr>
        <p:spPr>
          <a:xfrm>
            <a:off x="612648" y="340156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810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6h30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12648" y="427939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equipe na mesa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12648" y="451713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chegada de todos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461662" y="3963924"/>
            <a:ext cx="192024" cy="192024"/>
          </a:xfrm>
          <a:prstGeom prst="ellipse">
            <a:avLst/>
          </a:prstGeom>
          <a:solidFill>
            <a:srgbClr val="C8102E"/>
          </a:solidFill>
          <a:ln w="25400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9" name="Text 17"/>
          <p:cNvSpPr txBox="1"/>
          <p:nvPr/>
        </p:nvSpPr>
        <p:spPr>
          <a:xfrm>
            <a:off x="3688994" y="340156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810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7h00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3688994" y="427939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Zerésima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3688994" y="451713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emitida e assinada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538009" y="3963924"/>
            <a:ext cx="192024" cy="192024"/>
          </a:xfrm>
          <a:prstGeom prst="ellipse">
            <a:avLst/>
          </a:prstGeom>
          <a:solidFill>
            <a:srgbClr val="042B5A"/>
          </a:solidFill>
          <a:ln w="25400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3" name="Text 21"/>
          <p:cNvSpPr txBox="1"/>
          <p:nvPr/>
        </p:nvSpPr>
        <p:spPr>
          <a:xfrm>
            <a:off x="6765341" y="340156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8h00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6765341" y="427939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Abertura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765341" y="451713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primeiro eleitor entra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0614355" y="3963924"/>
            <a:ext cx="192024" cy="192024"/>
          </a:xfrm>
          <a:prstGeom prst="ellipse">
            <a:avLst/>
          </a:prstGeom>
          <a:solidFill>
            <a:srgbClr val="042B5A"/>
          </a:solidFill>
          <a:ln w="25400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7" name="Text 25"/>
          <p:cNvSpPr txBox="1"/>
          <p:nvPr/>
        </p:nvSpPr>
        <p:spPr>
          <a:xfrm>
            <a:off x="9841687" y="340156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17h00</a:t>
            </a:r>
            <a:endParaRPr lang="en-US" sz="2200" dirty="0"/>
          </a:p>
        </p:txBody>
      </p:sp>
      <p:sp>
        <p:nvSpPr>
          <p:cNvPr id="28" name="Text 26"/>
          <p:cNvSpPr txBox="1"/>
          <p:nvPr/>
        </p:nvSpPr>
        <p:spPr>
          <a:xfrm>
            <a:off x="9841687" y="427939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Encerramento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9841687" y="451713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fecha a fila, não a urna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66928" y="4956048"/>
            <a:ext cx="6675120" cy="1170432"/>
          </a:xfrm>
          <a:prstGeom prst="roundRect">
            <a:avLst>
              <a:gd name="adj" fmla="val 3906"/>
            </a:avLst>
          </a:prstGeom>
          <a:solidFill>
            <a:srgbClr val="042B5A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1" name="Text 29"/>
          <p:cNvSpPr txBox="1"/>
          <p:nvPr/>
        </p:nvSpPr>
        <p:spPr>
          <a:xfrm>
            <a:off x="932688" y="513892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8C6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 que 6h30?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932688" y="5468112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Porque às 7h00 a zerésima tem de estar emitida. É a única hora do dia que não se recupera: tudo o que vier depois depende dela ter saído no horário.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589520" y="4956048"/>
            <a:ext cx="4035247" cy="1170432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6" name="Text 34"/>
          <p:cNvSpPr txBox="1"/>
          <p:nvPr/>
        </p:nvSpPr>
        <p:spPr>
          <a:xfrm>
            <a:off x="7900416" y="5468112"/>
            <a:ext cx="3413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Expediente reduzido na segunda-feira, 5 de outubro: a proposta foi feita e está sob consideração do Embaixador.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566928" y="647395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segurança contratada cobre 7h30–17h30, mais uma pessoa na véspera.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 txBox="1"/>
          <p:nvPr/>
        </p:nvSpPr>
        <p:spPr>
          <a:xfrm>
            <a:off x="566928" y="384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6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ALMOÇO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0350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Sai um, fica o outro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5214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Não há escala central de almoço. Cada mesa se organiza por dentro — o que o Posto oferece é a janela.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2286000"/>
            <a:ext cx="3685946" cy="475488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8" name="Text 6"/>
          <p:cNvSpPr txBox="1"/>
          <p:nvPr/>
        </p:nvSpPr>
        <p:spPr>
          <a:xfrm>
            <a:off x="566928" y="2286000"/>
            <a:ext cx="368594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PICO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52874" y="2286000"/>
            <a:ext cx="3685946" cy="475488"/>
          </a:xfrm>
          <a:prstGeom prst="rect">
            <a:avLst/>
          </a:prstGeom>
          <a:solidFill>
            <a:srgbClr val="E8C63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0" name="Text 8"/>
          <p:cNvSpPr txBox="1"/>
          <p:nvPr/>
        </p:nvSpPr>
        <p:spPr>
          <a:xfrm>
            <a:off x="4252874" y="2286000"/>
            <a:ext cx="368594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JANELA DE ALMOÇO · MENOR MOVIMENTO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938821" y="2286000"/>
            <a:ext cx="3685946" cy="475488"/>
          </a:xfrm>
          <a:prstGeom prst="rect">
            <a:avLst/>
          </a:prstGeom>
          <a:solidFill>
            <a:srgbClr val="33507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2" name="Text 10"/>
          <p:cNvSpPr txBox="1"/>
          <p:nvPr/>
        </p:nvSpPr>
        <p:spPr>
          <a:xfrm>
            <a:off x="7938821" y="2286000"/>
            <a:ext cx="368594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RETOMADA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3270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4" name="Text 12"/>
          <p:cNvSpPr txBox="1"/>
          <p:nvPr/>
        </p:nvSpPr>
        <p:spPr>
          <a:xfrm>
            <a:off x="246888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8h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791919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6" name="Text 14"/>
          <p:cNvSpPr txBox="1"/>
          <p:nvPr/>
        </p:nvSpPr>
        <p:spPr>
          <a:xfrm>
            <a:off x="1475537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9h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020568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8" name="Text 16"/>
          <p:cNvSpPr txBox="1"/>
          <p:nvPr/>
        </p:nvSpPr>
        <p:spPr>
          <a:xfrm>
            <a:off x="2704186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10h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249217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0" name="Text 18"/>
          <p:cNvSpPr txBox="1"/>
          <p:nvPr/>
        </p:nvSpPr>
        <p:spPr>
          <a:xfrm>
            <a:off x="3932834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11h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477866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2" name="Text 20"/>
          <p:cNvSpPr txBox="1"/>
          <p:nvPr/>
        </p:nvSpPr>
        <p:spPr>
          <a:xfrm>
            <a:off x="5161483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12h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706514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4" name="Text 22"/>
          <p:cNvSpPr txBox="1"/>
          <p:nvPr/>
        </p:nvSpPr>
        <p:spPr>
          <a:xfrm>
            <a:off x="6390132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13h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935163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6" name="Text 24"/>
          <p:cNvSpPr txBox="1"/>
          <p:nvPr/>
        </p:nvSpPr>
        <p:spPr>
          <a:xfrm>
            <a:off x="7618781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14h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9163812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8" name="Text 26"/>
          <p:cNvSpPr txBox="1"/>
          <p:nvPr/>
        </p:nvSpPr>
        <p:spPr>
          <a:xfrm>
            <a:off x="8847430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15h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0392461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0" name="Text 28"/>
          <p:cNvSpPr txBox="1"/>
          <p:nvPr/>
        </p:nvSpPr>
        <p:spPr>
          <a:xfrm>
            <a:off x="10076078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16h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1621110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2" name="Text 30"/>
          <p:cNvSpPr txBox="1"/>
          <p:nvPr/>
        </p:nvSpPr>
        <p:spPr>
          <a:xfrm>
            <a:off x="11304727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17h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66928" y="4023360"/>
            <a:ext cx="3478682" cy="1700784"/>
          </a:xfrm>
          <a:prstGeom prst="roundRect">
            <a:avLst>
              <a:gd name="adj" fmla="val 2688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4" name="Shape 32"/>
          <p:cNvSpPr/>
          <p:nvPr/>
        </p:nvSpPr>
        <p:spPr>
          <a:xfrm>
            <a:off x="877824" y="4334256"/>
            <a:ext cx="384048" cy="41148"/>
          </a:xfrm>
          <a:prstGeom prst="rect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5" name="Text 33"/>
          <p:cNvSpPr txBox="1"/>
          <p:nvPr/>
        </p:nvSpPr>
        <p:spPr>
          <a:xfrm>
            <a:off x="877824" y="4535424"/>
            <a:ext cx="28568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11h às 14h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877824" y="4901184"/>
            <a:ext cx="28568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É o vale do dia na leitura dos logs de votação de anos anteriores. Fora dessa faixa, a fila cobra.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356506" y="4023360"/>
            <a:ext cx="3478682" cy="1700784"/>
          </a:xfrm>
          <a:prstGeom prst="roundRect">
            <a:avLst>
              <a:gd name="adj" fmla="val 2688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8" name="Shape 36"/>
          <p:cNvSpPr/>
          <p:nvPr/>
        </p:nvSpPr>
        <p:spPr>
          <a:xfrm>
            <a:off x="4667402" y="4334256"/>
            <a:ext cx="384048" cy="41148"/>
          </a:xfrm>
          <a:prstGeom prst="rect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9" name="Text 37"/>
          <p:cNvSpPr txBox="1"/>
          <p:nvPr/>
        </p:nvSpPr>
        <p:spPr>
          <a:xfrm>
            <a:off x="4667402" y="4535424"/>
            <a:ext cx="28568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 de cada vez</a:t>
            </a:r>
            <a:endParaRPr lang="en-US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4667402" y="4901184"/>
            <a:ext cx="28568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Cada pessoa cobre a outra dentro da própria mesa. A mesa nunca fica sem quem busca no caderno.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146085" y="4023360"/>
            <a:ext cx="3478682" cy="1700784"/>
          </a:xfrm>
          <a:prstGeom prst="roundRect">
            <a:avLst>
              <a:gd name="adj" fmla="val 2688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2" name="Shape 40"/>
          <p:cNvSpPr/>
          <p:nvPr/>
        </p:nvSpPr>
        <p:spPr>
          <a:xfrm>
            <a:off x="8456981" y="4334256"/>
            <a:ext cx="384048" cy="41148"/>
          </a:xfrm>
          <a:prstGeom prst="rect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3" name="Text 41"/>
          <p:cNvSpPr txBox="1"/>
          <p:nvPr/>
        </p:nvSpPr>
        <p:spPr>
          <a:xfrm>
            <a:off x="8456981" y="4535424"/>
            <a:ext cx="28568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Presidente autoriza</a:t>
            </a:r>
            <a:endParaRPr lang="en-US" sz="1600" dirty="0"/>
          </a:p>
        </p:txBody>
      </p:sp>
      <p:sp>
        <p:nvSpPr>
          <p:cNvPr id="44" name="Text 42"/>
          <p:cNvSpPr txBox="1"/>
          <p:nvPr/>
        </p:nvSpPr>
        <p:spPr>
          <a:xfrm>
            <a:off x="8456981" y="4901184"/>
            <a:ext cx="28568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saída é combinada com o Presidente da Mesa, que conhece o tamanho da fila naquele minuto.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566928" y="647395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faixa de menor movimento vem da leitura dos logs de votação de anos anteriores. É uma janela indicativa, não uma previsão medida para 2026.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 txBox="1"/>
          <p:nvPr/>
        </p:nvSpPr>
        <p:spPr>
          <a:xfrm>
            <a:off x="566928" y="384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6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COMUNICAÇÃO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0350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Dois canais, cada um com um dono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5214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 canal para as decisões da mesa, outro para o que acontece no chão do salão. Não se misturam.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2139696"/>
            <a:ext cx="5327752" cy="2871216"/>
          </a:xfrm>
          <a:prstGeom prst="roundRect">
            <a:avLst>
              <a:gd name="adj" fmla="val 1592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8" name="Shape 6"/>
          <p:cNvSpPr/>
          <p:nvPr/>
        </p:nvSpPr>
        <p:spPr>
          <a:xfrm>
            <a:off x="950976" y="2523744"/>
            <a:ext cx="566928" cy="512064"/>
          </a:xfrm>
          <a:prstGeom prst="roundRect">
            <a:avLst>
              <a:gd name="adj" fmla="val 25000"/>
            </a:avLst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9" name="Shape 7"/>
          <p:cNvSpPr/>
          <p:nvPr/>
        </p:nvSpPr>
        <p:spPr>
          <a:xfrm rot="10800000">
            <a:off x="1042416" y="2990088"/>
            <a:ext cx="182880" cy="164592"/>
          </a:xfrm>
          <a:prstGeom prst="triangle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0" name="Text 8"/>
          <p:cNvSpPr txBox="1"/>
          <p:nvPr/>
        </p:nvSpPr>
        <p:spPr>
          <a:xfrm>
            <a:off x="1682496" y="2560320"/>
            <a:ext cx="3864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Grupo de WhatsApp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682496" y="2926080"/>
            <a:ext cx="3864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 decisões da mesa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950976" y="3383280"/>
            <a:ext cx="45596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900" b="1" kern="0" spc="10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Quem está no grupo
</a:t>
            </a:r>
            <a:endParaRPr lang="en-US" sz="9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Os Presidentes de Mesa, Hamad, João e Marcelo.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50976" y="4261104"/>
            <a:ext cx="4559656" cy="512064"/>
          </a:xfrm>
          <a:prstGeom prst="roundRect">
            <a:avLst>
              <a:gd name="adj" fmla="val 10714"/>
            </a:avLst>
          </a:prstGeom>
          <a:solidFill>
            <a:srgbClr val="E8C63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4" name="Text 12"/>
          <p:cNvSpPr txBox="1"/>
          <p:nvPr/>
        </p:nvSpPr>
        <p:spPr>
          <a:xfrm>
            <a:off x="1225296" y="4261104"/>
            <a:ext cx="40110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grupo é apagado imediatamente depois da eleição.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97016" y="2139696"/>
            <a:ext cx="5327752" cy="2871216"/>
          </a:xfrm>
          <a:prstGeom prst="roundRect">
            <a:avLst>
              <a:gd name="adj" fmla="val 1592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6" name="Shape 14"/>
          <p:cNvSpPr/>
          <p:nvPr/>
        </p:nvSpPr>
        <p:spPr>
          <a:xfrm>
            <a:off x="6717640" y="2560320"/>
            <a:ext cx="365760" cy="512064"/>
          </a:xfrm>
          <a:prstGeom prst="roundRect">
            <a:avLst>
              <a:gd name="adj" fmla="val 22500"/>
            </a:avLst>
          </a:prstGeom>
          <a:solidFill>
            <a:srgbClr val="33507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7" name="Shape 15"/>
          <p:cNvSpPr/>
          <p:nvPr/>
        </p:nvSpPr>
        <p:spPr>
          <a:xfrm>
            <a:off x="7010248" y="2395728"/>
            <a:ext cx="45720" cy="182880"/>
          </a:xfrm>
          <a:prstGeom prst="rect">
            <a:avLst/>
          </a:prstGeom>
          <a:solidFill>
            <a:srgbClr val="33507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8" name="Shape 16"/>
          <p:cNvSpPr/>
          <p:nvPr/>
        </p:nvSpPr>
        <p:spPr>
          <a:xfrm>
            <a:off x="6781648" y="2651760"/>
            <a:ext cx="237744" cy="3657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9" name="Text 17"/>
          <p:cNvSpPr txBox="1"/>
          <p:nvPr/>
        </p:nvSpPr>
        <p:spPr>
          <a:xfrm>
            <a:off x="7412584" y="2560320"/>
            <a:ext cx="3864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Walkie-talkie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7412584" y="2926080"/>
            <a:ext cx="3864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chão do salão, em tempo real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6681064" y="3383280"/>
            <a:ext cx="45596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900" b="1" kern="0" spc="10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Quem fala
</a:t>
            </a:r>
            <a:endParaRPr lang="en-US" sz="9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Os líderes das equipes de apoio, entre si.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681064" y="4261104"/>
            <a:ext cx="4559656" cy="512064"/>
          </a:xfrm>
          <a:prstGeom prst="roundRect">
            <a:avLst>
              <a:gd name="adj" fmla="val 10714"/>
            </a:avLst>
          </a:prstGeom>
          <a:solidFill>
            <a:srgbClr val="EDEADB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3" name="Text 21"/>
          <p:cNvSpPr txBox="1"/>
          <p:nvPr/>
        </p:nvSpPr>
        <p:spPr>
          <a:xfrm>
            <a:off x="6955384" y="4261104"/>
            <a:ext cx="40110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Percurso, filas e incidentes — não procedimento de mesa.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5413248"/>
            <a:ext cx="11057839" cy="914400"/>
          </a:xfrm>
          <a:prstGeom prst="roundRect">
            <a:avLst>
              <a:gd name="adj" fmla="val 5000"/>
            </a:avLst>
          </a:prstGeom>
          <a:solidFill>
            <a:srgbClr val="042B5A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5" name="Text 23"/>
          <p:cNvSpPr txBox="1"/>
          <p:nvPr/>
        </p:nvSpPr>
        <p:spPr>
          <a:xfrm>
            <a:off x="950976" y="5413248"/>
            <a:ext cx="1028974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Dúvida de procedimento sobe pelo Presidente da Mesa — nunca pelo rádio, nunca pelo voluntário.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60">
                <a:solidFill>
                  <a:srgbClr val="5F882E"/>
                </a:solidFill>
                <a:latin typeface="Montserrat"/>
              </a:rPr>
              <a:t>PASSO A PASSO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700" b="1">
                <a:solidFill>
                  <a:srgbClr val="042B5A"/>
                </a:solidFill>
                <a:latin typeface="Montserrat"/>
              </a:rPr>
              <a:t>Da calçada até a urna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0808" y="1207008"/>
            <a:ext cx="414816" cy="2816352"/>
          </a:xfrm>
          <a:prstGeom prst="rect">
            <a:avLst/>
          </a:prstGeom>
          <a:solidFill>
            <a:srgbClr val="D8D3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79328" y="1725528"/>
            <a:ext cx="1280160" cy="182880"/>
          </a:xfrm>
          <a:prstGeom prst="rect">
            <a:avLst/>
          </a:prstGeom>
          <a:noFill/>
        </p:spPr>
        <p:txBody>
          <a:bodyPr rot="-5400000"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 spc="140">
                <a:solidFill>
                  <a:srgbClr val="6B6B6B"/>
                </a:solidFill>
                <a:latin typeface="Montserrat"/>
              </a:rPr>
              <a:t>MERRION ROAD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207845" y="1258860"/>
            <a:ext cx="0" cy="2718779"/>
          </a:xfrm>
          <a:prstGeom prst="line">
            <a:avLst/>
          </a:prstGeom>
          <a:ln w="25400">
            <a:solidFill>
              <a:srgbClr val="E4DF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1179684" y="1414416"/>
            <a:ext cx="2608159" cy="2302231"/>
          </a:xfrm>
          <a:prstGeom prst="rect">
            <a:avLst/>
          </a:prstGeom>
          <a:solidFill>
            <a:srgbClr val="FFFFFF"/>
          </a:solidFill>
          <a:ln w="1778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79684" y="2360000"/>
            <a:ext cx="260815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1">
                <a:solidFill>
                  <a:srgbClr val="042B5A"/>
                </a:solidFill>
                <a:latin typeface="Montserrat"/>
              </a:rPr>
              <a:t>HALL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9684" y="2640000"/>
            <a:ext cx="260815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0">
                <a:solidFill>
                  <a:srgbClr val="6B6B6B"/>
                </a:solidFill>
                <a:latin typeface="Montserrat"/>
              </a:rPr>
              <a:t>o salão de votação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9684" y="2800000"/>
            <a:ext cx="260815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0">
                <a:solidFill>
                  <a:srgbClr val="6B6B6B"/>
                </a:solidFill>
                <a:latin typeface="Montserrat"/>
              </a:rPr>
              <a:t>as 28 mesas ficam nas paredes — ver o slide seguinte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05574" y="3716648"/>
            <a:ext cx="2281491" cy="725928"/>
          </a:xfrm>
          <a:prstGeom prst="rect">
            <a:avLst/>
          </a:prstGeom>
          <a:solidFill>
            <a:srgbClr val="E4E0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583352" y="4017390"/>
            <a:ext cx="1463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0">
                <a:solidFill>
                  <a:srgbClr val="6B6B6B"/>
                </a:solidFill>
                <a:latin typeface="Montserrat"/>
              </a:rPr>
              <a:t>apron · 14,0 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05574" y="4442577"/>
            <a:ext cx="2281491" cy="1814822"/>
          </a:xfrm>
          <a:prstGeom prst="rect">
            <a:avLst/>
          </a:prstGeom>
          <a:solidFill>
            <a:srgbClr val="EDEADB"/>
          </a:solidFill>
          <a:ln w="9525">
            <a:solidFill>
              <a:srgbClr val="6B6B6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31509" y="4442577"/>
            <a:ext cx="155556" cy="1814822"/>
          </a:xfrm>
          <a:prstGeom prst="rect">
            <a:avLst/>
          </a:prstGeom>
          <a:solidFill>
            <a:srgbClr val="DBD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505574" y="6101843"/>
            <a:ext cx="2125934" cy="155556"/>
          </a:xfrm>
          <a:prstGeom prst="rect">
            <a:avLst/>
          </a:prstGeom>
          <a:solidFill>
            <a:srgbClr val="DBD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505574" y="6132954"/>
            <a:ext cx="212593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6B6B6B"/>
                </a:solidFill>
                <a:latin typeface="Montserrat"/>
              </a:rPr>
              <a:t>o corredor distribui: C, depois B, depois 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05574" y="4442577"/>
            <a:ext cx="667336" cy="1659266"/>
          </a:xfrm>
          <a:prstGeom prst="rect">
            <a:avLst/>
          </a:prstGeom>
          <a:solidFill>
            <a:srgbClr val="33507E">
              <a:alpha val="21999"/>
            </a:srgbClr>
          </a:solidFill>
          <a:ln w="9525">
            <a:solidFill>
              <a:srgbClr val="3350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505574" y="4980000"/>
            <a:ext cx="6673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2200" b="1">
                <a:solidFill>
                  <a:srgbClr val="33507E"/>
                </a:solidFill>
                <a:latin typeface="Montserrat"/>
              </a:rPr>
              <a:t>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5574" y="5390000"/>
            <a:ext cx="66733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6B6B6B"/>
                </a:solidFill>
                <a:latin typeface="Montserrat"/>
              </a:rPr>
              <a:t>fila da porta 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505574" y="6101843"/>
            <a:ext cx="148815" cy="0"/>
          </a:xfrm>
          <a:prstGeom prst="line">
            <a:avLst/>
          </a:prstGeom>
          <a:ln w="38100">
            <a:solidFill>
              <a:srgbClr val="3350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069206" y="4442577"/>
            <a:ext cx="103704" cy="0"/>
          </a:xfrm>
          <a:prstGeom prst="line">
            <a:avLst/>
          </a:prstGeom>
          <a:ln w="38100">
            <a:solidFill>
              <a:srgbClr val="3350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121058" y="3716648"/>
            <a:ext cx="202742" cy="725929"/>
          </a:xfrm>
          <a:prstGeom prst="line">
            <a:avLst/>
          </a:prstGeom>
          <a:ln w="20320">
            <a:solidFill>
              <a:srgbClr val="33507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2235133" y="4442577"/>
            <a:ext cx="666817" cy="1659266"/>
          </a:xfrm>
          <a:prstGeom prst="rect">
            <a:avLst/>
          </a:prstGeom>
          <a:solidFill>
            <a:srgbClr val="E8C63A">
              <a:alpha val="21999"/>
            </a:srgbClr>
          </a:solidFill>
          <a:ln w="9525">
            <a:solidFill>
              <a:srgbClr val="E8C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235133" y="4980000"/>
            <a:ext cx="66681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2200" b="1">
                <a:solidFill>
                  <a:srgbClr val="9A7C00"/>
                </a:solidFill>
                <a:latin typeface="Montserrat"/>
              </a:rPr>
              <a:t>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35133" y="5390000"/>
            <a:ext cx="666817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6B6B6B"/>
                </a:solidFill>
                <a:latin typeface="Montserrat"/>
              </a:rPr>
              <a:t>fila da porta B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753653" y="6101843"/>
            <a:ext cx="148297" cy="0"/>
          </a:xfrm>
          <a:prstGeom prst="line">
            <a:avLst/>
          </a:prstGeom>
          <a:ln w="38100">
            <a:solidFill>
              <a:srgbClr val="E8C6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516689" y="4442577"/>
            <a:ext cx="103705" cy="0"/>
          </a:xfrm>
          <a:prstGeom prst="line">
            <a:avLst/>
          </a:prstGeom>
          <a:ln w="38100">
            <a:solidFill>
              <a:srgbClr val="E8C6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2568541" y="3716648"/>
            <a:ext cx="77779" cy="725929"/>
          </a:xfrm>
          <a:prstGeom prst="line">
            <a:avLst/>
          </a:prstGeom>
          <a:ln w="20320">
            <a:solidFill>
              <a:srgbClr val="E8C63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2964173" y="4442577"/>
            <a:ext cx="667336" cy="1659266"/>
          </a:xfrm>
          <a:prstGeom prst="rect">
            <a:avLst/>
          </a:prstGeom>
          <a:solidFill>
            <a:srgbClr val="C8102E">
              <a:alpha val="21999"/>
            </a:srgbClr>
          </a:solidFill>
          <a:ln w="9525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964173" y="4980000"/>
            <a:ext cx="6673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2200" b="1">
                <a:solidFill>
                  <a:srgbClr val="C8102E"/>
                </a:solidFill>
                <a:latin typeface="Montserrat"/>
              </a:rPr>
              <a:t>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64173" y="5390000"/>
            <a:ext cx="66733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6B6B6B"/>
                </a:solidFill>
                <a:latin typeface="Montserrat"/>
              </a:rPr>
              <a:t>fila da porta C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482693" y="6101843"/>
            <a:ext cx="148816" cy="0"/>
          </a:xfrm>
          <a:prstGeom prst="line">
            <a:avLst/>
          </a:prstGeom>
          <a:ln w="38100">
            <a:solidFill>
              <a:srgbClr val="C810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964173" y="4442577"/>
            <a:ext cx="103704" cy="0"/>
          </a:xfrm>
          <a:prstGeom prst="line">
            <a:avLst/>
          </a:prstGeom>
          <a:ln w="38100">
            <a:solidFill>
              <a:srgbClr val="C810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 flipV="1">
            <a:off x="2968839" y="3716648"/>
            <a:ext cx="47186" cy="725929"/>
          </a:xfrm>
          <a:prstGeom prst="line">
            <a:avLst/>
          </a:prstGeom>
          <a:ln w="20320">
            <a:solidFill>
              <a:srgbClr val="C810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866724" y="3716648"/>
            <a:ext cx="62222" cy="0"/>
          </a:xfrm>
          <a:prstGeom prst="line">
            <a:avLst/>
          </a:prstGeom>
          <a:ln w="57150">
            <a:solidFill>
              <a:srgbClr val="4040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669235" y="3744080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0">
                <a:solidFill>
                  <a:srgbClr val="6B6B6B"/>
                </a:solidFill>
                <a:latin typeface="Montserrat"/>
              </a:rPr>
              <a:t>saída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2170058" y="3716648"/>
            <a:ext cx="307483" cy="0"/>
          </a:xfrm>
          <a:prstGeom prst="line">
            <a:avLst/>
          </a:prstGeom>
          <a:ln w="57150">
            <a:solidFill>
              <a:srgbClr val="3350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2140920" y="3497192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33507E"/>
                </a:solidFill>
                <a:latin typeface="Montserrat"/>
              </a:rPr>
              <a:t>A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2492578" y="3716648"/>
            <a:ext cx="307483" cy="0"/>
          </a:xfrm>
          <a:prstGeom prst="line">
            <a:avLst/>
          </a:prstGeom>
          <a:ln w="57150">
            <a:solidFill>
              <a:srgbClr val="E8C6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2463440" y="3497192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9A7C00"/>
                </a:solidFill>
                <a:latin typeface="Montserrat"/>
              </a:rPr>
              <a:t>B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815098" y="3716648"/>
            <a:ext cx="307483" cy="0"/>
          </a:xfrm>
          <a:prstGeom prst="line">
            <a:avLst/>
          </a:prstGeom>
          <a:ln w="57150">
            <a:solidFill>
              <a:srgbClr val="C810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2785959" y="3497192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C8102E"/>
                </a:solidFill>
                <a:latin typeface="Montserrat"/>
              </a:rPr>
              <a:t>C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3154729" y="3716648"/>
            <a:ext cx="65852" cy="0"/>
          </a:xfrm>
          <a:prstGeom prst="line">
            <a:avLst/>
          </a:prstGeom>
          <a:ln w="57150">
            <a:solidFill>
              <a:srgbClr val="1E367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3248013" y="3515480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00" b="1">
                <a:solidFill>
                  <a:srgbClr val="1E3674"/>
                </a:solidFill>
                <a:latin typeface="Montserrat"/>
              </a:rPr>
              <a:t>preferencial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3363693" y="3716648"/>
            <a:ext cx="62222" cy="0"/>
          </a:xfrm>
          <a:prstGeom prst="line">
            <a:avLst/>
          </a:prstGeom>
          <a:ln w="57150">
            <a:solidFill>
              <a:srgbClr val="4040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3166204" y="3744080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0">
                <a:solidFill>
                  <a:srgbClr val="6B6B6B"/>
                </a:solidFill>
                <a:latin typeface="Montserrat"/>
              </a:rPr>
              <a:t>saída</a:t>
            </a:r>
          </a:p>
        </p:txBody>
      </p:sp>
      <p:cxnSp>
        <p:nvCxnSpPr>
          <p:cNvPr id="48" name="Connector 47"/>
          <p:cNvCxnSpPr/>
          <p:nvPr/>
        </p:nvCxnSpPr>
        <p:spPr>
          <a:xfrm flipH="1">
            <a:off x="3995251" y="2005529"/>
            <a:ext cx="212594" cy="0"/>
          </a:xfrm>
          <a:prstGeom prst="line">
            <a:avLst/>
          </a:prstGeom>
          <a:ln w="27940">
            <a:solidFill>
              <a:srgbClr val="5F882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3995251" y="2005529"/>
            <a:ext cx="0" cy="2359270"/>
          </a:xfrm>
          <a:prstGeom prst="line">
            <a:avLst/>
          </a:prstGeom>
          <a:ln w="27940">
            <a:solidFill>
              <a:srgbClr val="5F882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3709287" y="4364799"/>
            <a:ext cx="285964" cy="0"/>
          </a:xfrm>
          <a:prstGeom prst="line">
            <a:avLst/>
          </a:prstGeom>
          <a:ln w="27940">
            <a:solidFill>
              <a:srgbClr val="5F882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3709287" y="4364799"/>
            <a:ext cx="0" cy="233334"/>
          </a:xfrm>
          <a:prstGeom prst="line">
            <a:avLst/>
          </a:prstGeom>
          <a:ln w="27940">
            <a:solidFill>
              <a:srgbClr val="5F882E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3428323" y="2990719"/>
            <a:ext cx="1280160" cy="182880"/>
          </a:xfrm>
          <a:prstGeom prst="rect">
            <a:avLst/>
          </a:prstGeom>
          <a:noFill/>
        </p:spPr>
        <p:txBody>
          <a:bodyPr rot="-5400000"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6B6B6B"/>
                </a:solidFill>
                <a:latin typeface="Montserrat"/>
              </a:rPr>
              <a:t>lateral leste do Hall 2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120977" y="1918661"/>
            <a:ext cx="173736" cy="173736"/>
          </a:xfrm>
          <a:prstGeom prst="roundRect">
            <a:avLst>
              <a:gd name="adj" fmla="val 50000"/>
            </a:avLst>
          </a:prstGeom>
          <a:solidFill>
            <a:srgbClr val="5F8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842784" y="1886657"/>
            <a:ext cx="7772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>
                <a:solidFill>
                  <a:srgbClr val="5F882E"/>
                </a:solidFill>
                <a:latin typeface="Montserrat"/>
              </a:rPr>
              <a:t>PORTÃO B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842784" y="2051249"/>
            <a:ext cx="7772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00" b="0">
                <a:solidFill>
                  <a:srgbClr val="6B6B6B"/>
                </a:solidFill>
                <a:latin typeface="Montserrat"/>
              </a:rPr>
              <a:t>entrada do eleitor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879282" y="1737360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5F8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879282" y="1778508"/>
            <a:ext cx="23774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006009" y="3027403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5F8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006009" y="3068551"/>
            <a:ext cx="23774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803008" y="4790373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5F8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3803008" y="4831521"/>
            <a:ext cx="23774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449669" y="5697785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5F8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2449669" y="5738933"/>
            <a:ext cx="23774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527448" y="3784443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5F8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2527448" y="3825591"/>
            <a:ext cx="23774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1127832" y="6309251"/>
            <a:ext cx="1037041" cy="0"/>
          </a:xfrm>
          <a:prstGeom prst="line">
            <a:avLst/>
          </a:prstGeom>
          <a:ln w="15240">
            <a:solidFill>
              <a:srgbClr val="042B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2210593" y="6290000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00" b="0">
                <a:solidFill>
                  <a:srgbClr val="6B6B6B"/>
                </a:solidFill>
                <a:latin typeface="Montserrat"/>
              </a:rPr>
              <a:t>20 m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760720" y="1225296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5F8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760720" y="1257300"/>
            <a:ext cx="23774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144768" y="1207008"/>
            <a:ext cx="5760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042B5A"/>
                </a:solidFill>
                <a:latin typeface="Montserrat"/>
              </a:rPr>
              <a:t>Portão B, na Merrion Road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144768" y="1481328"/>
            <a:ext cx="5760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6B6B6B"/>
                </a:solidFill>
                <a:latin typeface="Montserrat"/>
              </a:rPr>
              <a:t>É por ali que o eleitor entra. Antes do portão há uma mesa de consulta: quem não sabe o número da sua seção descobre ali, e anota a letra.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760720" y="2048256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5F8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5760720" y="2080260"/>
            <a:ext cx="23774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144768" y="2029968"/>
            <a:ext cx="5760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042B5A"/>
                </a:solidFill>
                <a:latin typeface="Montserrat"/>
              </a:rPr>
              <a:t>Pela lateral leste do Hall 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144768" y="2304288"/>
            <a:ext cx="5760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6B6B6B"/>
                </a:solidFill>
                <a:latin typeface="Montserrat"/>
              </a:rPr>
              <a:t>O caminho contorna o salão pelo lado leste e desemboca no apron, entre o Hall 2 e o pátio.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760720" y="2871216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5F8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5760720" y="2903220"/>
            <a:ext cx="23774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144768" y="2852928"/>
            <a:ext cx="5760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042B5A"/>
                </a:solidFill>
                <a:latin typeface="Montserrat"/>
              </a:rPr>
              <a:t>Ring 3, pelo canto nordeste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144768" y="3127248"/>
            <a:ext cx="5760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6B6B6B"/>
                </a:solidFill>
                <a:latin typeface="Montserrat"/>
              </a:rPr>
              <a:t>O pátio de fila fica ao ar livre, ao sul do salão. O corredor de chegada distribui para as três zonas: C primeiro, B depois, A no fim.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760720" y="3694176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5F8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5760720" y="3726180"/>
            <a:ext cx="23774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44768" y="3675888"/>
            <a:ext cx="5760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042B5A"/>
                </a:solidFill>
                <a:latin typeface="Montserrat"/>
              </a:rPr>
              <a:t>A sua zona, a sua fila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144768" y="3950208"/>
            <a:ext cx="5760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6B6B6B"/>
                </a:solidFill>
                <a:latin typeface="Montserrat"/>
              </a:rPr>
              <a:t>Cada zona é a fila de uma porta, e as três têm o mesmo tamanho. Entra-se pela boca no fundo e sai-se pela abertura da frente.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5760720" y="4517136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5F8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5760720" y="4549140"/>
            <a:ext cx="23774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144768" y="4498848"/>
            <a:ext cx="5760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042B5A"/>
                </a:solidFill>
                <a:latin typeface="Montserrat"/>
              </a:rPr>
              <a:t>A porta A, B ou C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144768" y="4773168"/>
            <a:ext cx="5760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6B6B6B"/>
                </a:solidFill>
                <a:latin typeface="Montserrat"/>
              </a:rPr>
              <a:t>Atravessado o apron, cada zona entra pela sua porta. Da porta até a mesa é sempre a mesma letra.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760720" y="5431536"/>
            <a:ext cx="614476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4D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5760720" y="5431536"/>
            <a:ext cx="45720" cy="566928"/>
          </a:xfrm>
          <a:prstGeom prst="rect">
            <a:avLst/>
          </a:prstGeom>
          <a:solidFill>
            <a:srgbClr val="1E36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5961888" y="5559552"/>
            <a:ext cx="5760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042B5A"/>
                </a:solidFill>
                <a:latin typeface="Montserrat"/>
              </a:rPr>
              <a:t>Atendimento preferencial: idoso, gestante, pessoa com deficiência e quem os acompanha entram pela porta à direita da C, sem fila.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66928" y="6492240"/>
            <a:ext cx="11064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>
                <a:solidFill>
                  <a:srgbClr val="6B6B6B"/>
                </a:solidFill>
                <a:latin typeface="Montserrat"/>
              </a:rPr>
              <a:t>O Hall 2, o apron e o pátio do Ring 3 estão em escala e na posição relativa medida em planta. O trecho entre o portão e o apron é esquemático: indica o lado por onde se anda, não a distância.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60">
                <a:solidFill>
                  <a:srgbClr val="5F882E"/>
                </a:solidFill>
                <a:latin typeface="Montserrat"/>
              </a:rPr>
              <a:t>DENTRO DO SALÃO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500" b="1">
                <a:solidFill>
                  <a:srgbClr val="042B5A"/>
                </a:solidFill>
                <a:latin typeface="Montserrat"/>
              </a:rPr>
              <a:t>O Hall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603504"/>
            <a:ext cx="5669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6B6B6B"/>
                </a:solidFill>
                <a:latin typeface="Montserrat"/>
              </a:rPr>
              <a:t>As mesas não têm número: cada uma traz as seções que votam nela, que é o que você tem na mão.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51560"/>
            <a:ext cx="5718212" cy="5047488"/>
          </a:xfrm>
          <a:prstGeom prst="rect">
            <a:avLst/>
          </a:prstGeom>
          <a:solidFill>
            <a:srgbClr val="FFFFFF"/>
          </a:solidFill>
          <a:ln w="190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33024" y="1663170"/>
            <a:ext cx="784406" cy="3682165"/>
          </a:xfrm>
          <a:prstGeom prst="rect">
            <a:avLst/>
          </a:prstGeom>
          <a:solidFill>
            <a:srgbClr val="33507E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756043" y="1517656"/>
            <a:ext cx="3713996" cy="557042"/>
          </a:xfrm>
          <a:prstGeom prst="rect">
            <a:avLst/>
          </a:prstGeom>
          <a:solidFill>
            <a:srgbClr val="E8C63A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716326" y="1898492"/>
            <a:ext cx="761670" cy="3546883"/>
          </a:xfrm>
          <a:prstGeom prst="rect">
            <a:avLst/>
          </a:prstGeom>
          <a:solidFill>
            <a:srgbClr val="C8102E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048609" y="5371482"/>
            <a:ext cx="363782" cy="727565"/>
          </a:xfrm>
          <a:prstGeom prst="rect">
            <a:avLst/>
          </a:prstGeom>
          <a:solidFill>
            <a:srgbClr val="33507E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817431" y="5371482"/>
            <a:ext cx="1594960" cy="341046"/>
          </a:xfrm>
          <a:prstGeom prst="rect">
            <a:avLst/>
          </a:prstGeom>
          <a:solidFill>
            <a:srgbClr val="33507E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817431" y="1551761"/>
            <a:ext cx="341046" cy="4160767"/>
          </a:xfrm>
          <a:prstGeom prst="rect">
            <a:avLst/>
          </a:prstGeom>
          <a:solidFill>
            <a:srgbClr val="33507E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3" name="Connector 12"/>
          <p:cNvCxnSpPr/>
          <p:nvPr/>
        </p:nvCxnSpPr>
        <p:spPr>
          <a:xfrm flipV="1">
            <a:off x="3230501" y="5246431"/>
            <a:ext cx="0" cy="738934"/>
          </a:xfrm>
          <a:prstGeom prst="line">
            <a:avLst/>
          </a:prstGeom>
          <a:ln w="25400">
            <a:solidFill>
              <a:srgbClr val="33507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613609" y="2279327"/>
            <a:ext cx="341046" cy="3819720"/>
          </a:xfrm>
          <a:prstGeom prst="rect">
            <a:avLst/>
          </a:prstGeom>
          <a:solidFill>
            <a:srgbClr val="E8C63A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5" name="Connector 14"/>
          <p:cNvCxnSpPr/>
          <p:nvPr/>
        </p:nvCxnSpPr>
        <p:spPr>
          <a:xfrm flipV="1">
            <a:off x="3784133" y="5246431"/>
            <a:ext cx="0" cy="738934"/>
          </a:xfrm>
          <a:prstGeom prst="line">
            <a:avLst/>
          </a:prstGeom>
          <a:ln w="25400">
            <a:solidFill>
              <a:srgbClr val="E8C63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4204757" y="5735265"/>
            <a:ext cx="341046" cy="363782"/>
          </a:xfrm>
          <a:prstGeom prst="rect">
            <a:avLst/>
          </a:prstGeom>
          <a:solidFill>
            <a:srgbClr val="C8102E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204757" y="5507900"/>
            <a:ext cx="511569" cy="227364"/>
          </a:xfrm>
          <a:prstGeom prst="rect">
            <a:avLst/>
          </a:prstGeom>
          <a:solidFill>
            <a:srgbClr val="C8102E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375280" y="1608602"/>
            <a:ext cx="341046" cy="3899298"/>
          </a:xfrm>
          <a:prstGeom prst="rect">
            <a:avLst/>
          </a:prstGeom>
          <a:solidFill>
            <a:srgbClr val="C8102E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9" name="Connector 18"/>
          <p:cNvCxnSpPr/>
          <p:nvPr/>
        </p:nvCxnSpPr>
        <p:spPr>
          <a:xfrm flipV="1">
            <a:off x="4375280" y="5246431"/>
            <a:ext cx="0" cy="738934"/>
          </a:xfrm>
          <a:prstGeom prst="line">
            <a:avLst/>
          </a:prstGeom>
          <a:ln w="25400">
            <a:solidFill>
              <a:srgbClr val="C810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817431" y="2074699"/>
            <a:ext cx="2898895" cy="204627"/>
          </a:xfrm>
          <a:prstGeom prst="rect">
            <a:avLst/>
          </a:prstGeom>
          <a:solidFill>
            <a:srgbClr val="E8C63A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66928" y="5135023"/>
            <a:ext cx="466096" cy="102313"/>
          </a:xfrm>
          <a:prstGeom prst="rect">
            <a:avLst/>
          </a:prstGeom>
          <a:solidFill>
            <a:srgbClr val="33507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6928" y="5135023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0513 1105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4691662"/>
            <a:ext cx="466096" cy="102313"/>
          </a:xfrm>
          <a:prstGeom prst="rect">
            <a:avLst/>
          </a:prstGeom>
          <a:solidFill>
            <a:srgbClr val="33507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6928" y="4691662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1352 0522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4418825"/>
            <a:ext cx="466096" cy="102313"/>
          </a:xfrm>
          <a:prstGeom prst="rect">
            <a:avLst/>
          </a:prstGeom>
          <a:solidFill>
            <a:srgbClr val="33507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66928" y="4418825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3078 2847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3975465"/>
            <a:ext cx="466096" cy="102313"/>
          </a:xfrm>
          <a:prstGeom prst="rect">
            <a:avLst/>
          </a:prstGeom>
          <a:solidFill>
            <a:srgbClr val="33507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66928" y="3975465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3179 0530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3249036"/>
            <a:ext cx="466096" cy="102313"/>
          </a:xfrm>
          <a:prstGeom prst="rect">
            <a:avLst/>
          </a:prstGeom>
          <a:solidFill>
            <a:srgbClr val="33507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66928" y="3249036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3313 3889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2930726"/>
            <a:ext cx="466096" cy="102313"/>
          </a:xfrm>
          <a:prstGeom prst="rect">
            <a:avLst/>
          </a:prstGeom>
          <a:solidFill>
            <a:srgbClr val="33507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66928" y="2930726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3309 1314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2487365"/>
            <a:ext cx="466096" cy="102313"/>
          </a:xfrm>
          <a:prstGeom prst="rect">
            <a:avLst/>
          </a:prstGeom>
          <a:solidFill>
            <a:srgbClr val="33507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66928" y="2487365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3142 1278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" y="2214528"/>
            <a:ext cx="466096" cy="102313"/>
          </a:xfrm>
          <a:prstGeom prst="rect">
            <a:avLst/>
          </a:prstGeom>
          <a:solidFill>
            <a:srgbClr val="33507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66928" y="2214528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3161 3307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" y="1771168"/>
            <a:ext cx="466096" cy="102313"/>
          </a:xfrm>
          <a:prstGeom prst="rect">
            <a:avLst/>
          </a:prstGeom>
          <a:solidFill>
            <a:srgbClr val="33507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66928" y="1771168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3311 3913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864041" y="1051560"/>
            <a:ext cx="102313" cy="466096"/>
          </a:xfrm>
          <a:prstGeom prst="rect">
            <a:avLst/>
          </a:prstGeom>
          <a:solidFill>
            <a:srgbClr val="E8C63A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682150" y="1233451"/>
            <a:ext cx="466096" cy="102313"/>
          </a:xfrm>
          <a:prstGeom prst="rect">
            <a:avLst/>
          </a:prstGeom>
          <a:noFill/>
        </p:spPr>
        <p:txBody>
          <a:bodyPr rot="-5400000"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042B5A"/>
                </a:solidFill>
                <a:latin typeface="Montserrat"/>
              </a:rPr>
              <a:t>0512 2855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307401" y="1051560"/>
            <a:ext cx="102313" cy="466096"/>
          </a:xfrm>
          <a:prstGeom prst="rect">
            <a:avLst/>
          </a:prstGeom>
          <a:solidFill>
            <a:srgbClr val="E8C63A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125510" y="1233451"/>
            <a:ext cx="466096" cy="102313"/>
          </a:xfrm>
          <a:prstGeom prst="rect">
            <a:avLst/>
          </a:prstGeom>
          <a:noFill/>
        </p:spPr>
        <p:txBody>
          <a:bodyPr rot="-5400000"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042B5A"/>
                </a:solidFill>
                <a:latin typeface="Montserrat"/>
              </a:rPr>
              <a:t>1160 3845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625711" y="1051560"/>
            <a:ext cx="102313" cy="466096"/>
          </a:xfrm>
          <a:prstGeom prst="rect">
            <a:avLst/>
          </a:prstGeom>
          <a:solidFill>
            <a:srgbClr val="E8C63A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443820" y="1233451"/>
            <a:ext cx="466096" cy="102313"/>
          </a:xfrm>
          <a:prstGeom prst="rect">
            <a:avLst/>
          </a:prstGeom>
          <a:noFill/>
        </p:spPr>
        <p:txBody>
          <a:bodyPr rot="-5400000"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042B5A"/>
                </a:solidFill>
                <a:latin typeface="Montserrat"/>
              </a:rPr>
              <a:t>3315 3778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383971" y="1051560"/>
            <a:ext cx="102313" cy="466096"/>
          </a:xfrm>
          <a:prstGeom prst="rect">
            <a:avLst/>
          </a:prstGeom>
          <a:solidFill>
            <a:srgbClr val="E8C63A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202080" y="1233451"/>
            <a:ext cx="466096" cy="102313"/>
          </a:xfrm>
          <a:prstGeom prst="rect">
            <a:avLst/>
          </a:prstGeom>
          <a:noFill/>
        </p:spPr>
        <p:txBody>
          <a:bodyPr rot="-5400000"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042B5A"/>
                </a:solidFill>
                <a:latin typeface="Montserrat"/>
              </a:rPr>
              <a:t>3108 3422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827332" y="1051560"/>
            <a:ext cx="102313" cy="466096"/>
          </a:xfrm>
          <a:prstGeom prst="rect">
            <a:avLst/>
          </a:prstGeom>
          <a:solidFill>
            <a:srgbClr val="E8C63A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645440" y="1233451"/>
            <a:ext cx="466096" cy="102313"/>
          </a:xfrm>
          <a:prstGeom prst="rect">
            <a:avLst/>
          </a:prstGeom>
          <a:noFill/>
        </p:spPr>
        <p:txBody>
          <a:bodyPr rot="-5400000"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042B5A"/>
                </a:solidFill>
                <a:latin typeface="Montserrat"/>
              </a:rPr>
              <a:t>3302 3181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00169" y="1051560"/>
            <a:ext cx="102313" cy="466096"/>
          </a:xfrm>
          <a:prstGeom prst="rect">
            <a:avLst/>
          </a:prstGeom>
          <a:solidFill>
            <a:srgbClr val="E8C63A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918278" y="1233451"/>
            <a:ext cx="466096" cy="102313"/>
          </a:xfrm>
          <a:prstGeom prst="rect">
            <a:avLst/>
          </a:prstGeom>
          <a:noFill/>
        </p:spPr>
        <p:txBody>
          <a:bodyPr rot="-5400000"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042B5A"/>
                </a:solidFill>
                <a:latin typeface="Montserrat"/>
              </a:rPr>
              <a:t>3305 0521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43530" y="1051560"/>
            <a:ext cx="102313" cy="466096"/>
          </a:xfrm>
          <a:prstGeom prst="rect">
            <a:avLst/>
          </a:prstGeom>
          <a:solidFill>
            <a:srgbClr val="E8C63A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361638" y="1233451"/>
            <a:ext cx="466096" cy="102313"/>
          </a:xfrm>
          <a:prstGeom prst="rect">
            <a:avLst/>
          </a:prstGeom>
          <a:noFill/>
        </p:spPr>
        <p:txBody>
          <a:bodyPr rot="-5400000"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042B5A"/>
                </a:solidFill>
                <a:latin typeface="Montserrat"/>
              </a:rPr>
              <a:t>3306 0518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816367" y="1051560"/>
            <a:ext cx="102313" cy="466096"/>
          </a:xfrm>
          <a:prstGeom prst="rect">
            <a:avLst/>
          </a:prstGeom>
          <a:solidFill>
            <a:srgbClr val="E8C63A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634475" y="1233451"/>
            <a:ext cx="466096" cy="102313"/>
          </a:xfrm>
          <a:prstGeom prst="rect">
            <a:avLst/>
          </a:prstGeom>
          <a:noFill/>
        </p:spPr>
        <p:txBody>
          <a:bodyPr rot="-5400000"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042B5A"/>
                </a:solidFill>
                <a:latin typeface="Montserrat"/>
              </a:rPr>
              <a:t>3308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259727" y="1051560"/>
            <a:ext cx="102313" cy="466096"/>
          </a:xfrm>
          <a:prstGeom prst="rect">
            <a:avLst/>
          </a:prstGeom>
          <a:solidFill>
            <a:srgbClr val="E8C63A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077836" y="1233451"/>
            <a:ext cx="466096" cy="102313"/>
          </a:xfrm>
          <a:prstGeom prst="rect">
            <a:avLst/>
          </a:prstGeom>
          <a:noFill/>
        </p:spPr>
        <p:txBody>
          <a:bodyPr rot="-5400000"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042B5A"/>
                </a:solidFill>
                <a:latin typeface="Montserrat"/>
              </a:rPr>
              <a:t>3832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477997" y="2006490"/>
            <a:ext cx="466096" cy="102313"/>
          </a:xfrm>
          <a:prstGeom prst="rect">
            <a:avLst/>
          </a:prstGeom>
          <a:solidFill>
            <a:srgbClr val="C8102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477997" y="2006490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0511 1100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77997" y="2449850"/>
            <a:ext cx="466096" cy="102313"/>
          </a:xfrm>
          <a:prstGeom prst="rect">
            <a:avLst/>
          </a:prstGeom>
          <a:solidFill>
            <a:srgbClr val="C8102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477997" y="2449850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0517 1292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77997" y="2768160"/>
            <a:ext cx="466096" cy="102313"/>
          </a:xfrm>
          <a:prstGeom prst="rect">
            <a:avLst/>
          </a:prstGeom>
          <a:solidFill>
            <a:srgbClr val="C8102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477997" y="2768160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3322 3752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477997" y="3086470"/>
            <a:ext cx="466096" cy="102313"/>
          </a:xfrm>
          <a:prstGeom prst="rect">
            <a:avLst/>
          </a:prstGeom>
          <a:solidFill>
            <a:srgbClr val="C8102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477997" y="3086470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3054 1099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477997" y="3529831"/>
            <a:ext cx="466096" cy="102313"/>
          </a:xfrm>
          <a:prstGeom prst="rect">
            <a:avLst/>
          </a:prstGeom>
          <a:solidFill>
            <a:srgbClr val="C8102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477997" y="3529831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3216 0527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477997" y="3802668"/>
            <a:ext cx="466096" cy="102313"/>
          </a:xfrm>
          <a:prstGeom prst="rect">
            <a:avLst/>
          </a:prstGeom>
          <a:solidFill>
            <a:srgbClr val="C8102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477997" y="3802668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3862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477997" y="4246028"/>
            <a:ext cx="466096" cy="102313"/>
          </a:xfrm>
          <a:prstGeom prst="rect">
            <a:avLst/>
          </a:prstGeom>
          <a:solidFill>
            <a:srgbClr val="C8102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477997" y="4246028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3245 0519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477997" y="4518865"/>
            <a:ext cx="466096" cy="102313"/>
          </a:xfrm>
          <a:prstGeom prst="rect">
            <a:avLst/>
          </a:prstGeom>
          <a:solidFill>
            <a:srgbClr val="C8102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5477997" y="4518865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3229 3821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477997" y="4962226"/>
            <a:ext cx="466096" cy="102313"/>
          </a:xfrm>
          <a:prstGeom prst="rect">
            <a:avLst/>
          </a:prstGeom>
          <a:solidFill>
            <a:srgbClr val="C8102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5477997" y="4962226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3688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477997" y="5235063"/>
            <a:ext cx="466096" cy="102313"/>
          </a:xfrm>
          <a:prstGeom prst="rect">
            <a:avLst/>
          </a:prstGeom>
          <a:solidFill>
            <a:srgbClr val="C8102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477997" y="5235063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3442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2073216" y="6099048"/>
            <a:ext cx="136419" cy="0"/>
          </a:xfrm>
          <a:prstGeom prst="line">
            <a:avLst/>
          </a:prstGeom>
          <a:ln w="76200">
            <a:solidFill>
              <a:srgbClr val="4040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1729945" y="6153912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>
                <a:solidFill>
                  <a:srgbClr val="6B6B6B"/>
                </a:solidFill>
                <a:latin typeface="Montserrat"/>
              </a:rPr>
              <a:t>saída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2738257" y="6099048"/>
            <a:ext cx="674135" cy="0"/>
          </a:xfrm>
          <a:prstGeom prst="line">
            <a:avLst/>
          </a:prstGeom>
          <a:ln w="76200">
            <a:solidFill>
              <a:srgbClr val="3350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2801004" y="6144768"/>
            <a:ext cx="5486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1">
                <a:solidFill>
                  <a:srgbClr val="33507E"/>
                </a:solidFill>
                <a:latin typeface="Montserrat"/>
              </a:rPr>
              <a:t>A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709564" y="6355080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6B6B6B"/>
                </a:solidFill>
                <a:latin typeface="Montserrat"/>
              </a:rPr>
              <a:t>entrada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3445360" y="6099048"/>
            <a:ext cx="674135" cy="0"/>
          </a:xfrm>
          <a:prstGeom prst="line">
            <a:avLst/>
          </a:prstGeom>
          <a:ln w="76200">
            <a:solidFill>
              <a:srgbClr val="E8C6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3508107" y="6144768"/>
            <a:ext cx="5486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1">
                <a:solidFill>
                  <a:srgbClr val="9A7C00"/>
                </a:solidFill>
                <a:latin typeface="Montserrat"/>
              </a:rPr>
              <a:t>B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16667" y="6355080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6B6B6B"/>
                </a:solidFill>
                <a:latin typeface="Montserrat"/>
              </a:rPr>
              <a:t>entrada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4152463" y="6099048"/>
            <a:ext cx="674135" cy="0"/>
          </a:xfrm>
          <a:prstGeom prst="line">
            <a:avLst/>
          </a:prstGeom>
          <a:ln w="76200">
            <a:solidFill>
              <a:srgbClr val="C810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4215211" y="6144768"/>
            <a:ext cx="5486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1">
                <a:solidFill>
                  <a:srgbClr val="C8102E"/>
                </a:solidFill>
                <a:latin typeface="Montserrat"/>
              </a:rPr>
              <a:t>C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123771" y="6355080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6B6B6B"/>
                </a:solidFill>
                <a:latin typeface="Montserrat"/>
              </a:rPr>
              <a:t>entrada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4897081" y="6099048"/>
            <a:ext cx="144376" cy="0"/>
          </a:xfrm>
          <a:prstGeom prst="line">
            <a:avLst/>
          </a:prstGeom>
          <a:ln w="76200">
            <a:solidFill>
              <a:srgbClr val="1E367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4557789" y="6153912"/>
            <a:ext cx="822960" cy="2621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lang="en-US" sz="750" dirty="0">
                <a:solidFill>
                  <a:srgbClr val="1E3674"/>
                </a:solidFill>
                <a:latin typeface="Montserrat"/>
              </a:rPr>
              <a:t>entrada</a:t>
            </a:r>
            <a:br>
              <a:rPr lang="en-US" sz="750" dirty="0">
                <a:solidFill>
                  <a:srgbClr val="1E3674"/>
                </a:solidFill>
                <a:latin typeface="Montserrat"/>
              </a:rPr>
            </a:br>
            <a:r>
              <a:rPr sz="750" dirty="0" err="1">
                <a:solidFill>
                  <a:srgbClr val="1E3674"/>
                </a:solidFill>
                <a:latin typeface="Montserrat"/>
              </a:rPr>
              <a:t>preferencial</a:t>
            </a:r>
            <a:endParaRPr sz="750" dirty="0">
              <a:solidFill>
                <a:srgbClr val="1E3674"/>
              </a:solidFill>
              <a:latin typeface="Montserrat"/>
            </a:endParaRPr>
          </a:p>
        </p:txBody>
      </p:sp>
      <p:cxnSp>
        <p:nvCxnSpPr>
          <p:cNvPr id="90" name="Connector 89"/>
          <p:cNvCxnSpPr/>
          <p:nvPr/>
        </p:nvCxnSpPr>
        <p:spPr>
          <a:xfrm>
            <a:off x="5355220" y="6099048"/>
            <a:ext cx="136419" cy="0"/>
          </a:xfrm>
          <a:prstGeom prst="line">
            <a:avLst/>
          </a:prstGeom>
          <a:ln w="76200">
            <a:solidFill>
              <a:srgbClr val="4040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5011949" y="6153912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>
                <a:solidFill>
                  <a:srgbClr val="6B6B6B"/>
                </a:solidFill>
                <a:latin typeface="Montserrat"/>
              </a:rPr>
              <a:t>saída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605180" y="1051560"/>
            <a:ext cx="4846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spc="120">
                <a:solidFill>
                  <a:srgbClr val="042B5A"/>
                </a:solidFill>
                <a:latin typeface="Montserrat"/>
              </a:rPr>
              <a:t>COMO LER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6605180" y="1444752"/>
            <a:ext cx="155448" cy="155448"/>
          </a:xfrm>
          <a:prstGeom prst="roundRect">
            <a:avLst>
              <a:gd name="adj" fmla="val 30000"/>
            </a:avLst>
          </a:prstGeom>
          <a:solidFill>
            <a:srgbClr val="335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6897788" y="141732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042B5A"/>
                </a:solidFill>
                <a:latin typeface="Montserrat"/>
              </a:rPr>
              <a:t>Porta A → parede oeste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6605180" y="1810512"/>
            <a:ext cx="155448" cy="155448"/>
          </a:xfrm>
          <a:prstGeom prst="roundRect">
            <a:avLst>
              <a:gd name="adj" fmla="val 30000"/>
            </a:avLst>
          </a:prstGeom>
          <a:solidFill>
            <a:srgbClr val="E8C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6897788" y="178308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042B5A"/>
                </a:solidFill>
                <a:latin typeface="Montserrat"/>
              </a:rPr>
              <a:t>Porta B → parede norte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605180" y="2176272"/>
            <a:ext cx="155448" cy="155448"/>
          </a:xfrm>
          <a:prstGeom prst="roundRect">
            <a:avLst>
              <a:gd name="adj" fmla="val 3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6897788" y="214884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042B5A"/>
                </a:solidFill>
                <a:latin typeface="Montserrat"/>
              </a:rPr>
              <a:t>Porta C → parede leste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6605180" y="2542032"/>
            <a:ext cx="155448" cy="155448"/>
          </a:xfrm>
          <a:prstGeom prst="roundRect">
            <a:avLst>
              <a:gd name="adj" fmla="val 30000"/>
            </a:avLst>
          </a:prstGeom>
          <a:solidFill>
            <a:srgbClr val="1E36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6897788" y="251460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042B5A"/>
                </a:solidFill>
                <a:latin typeface="Montserrat"/>
              </a:rPr>
              <a:t>Entrada preferencial, sem fila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6605180" y="2907791"/>
            <a:ext cx="155448" cy="155448"/>
          </a:xfrm>
          <a:prstGeom prst="roundRect">
            <a:avLst>
              <a:gd name="adj" fmla="val 30000"/>
            </a:avLst>
          </a:prstGeom>
          <a:solidFill>
            <a:srgbClr val="4040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6897788" y="288036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042B5A"/>
                </a:solidFill>
                <a:latin typeface="Montserrat"/>
              </a:rPr>
              <a:t>Saída — pela mesma faixa da parede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605180" y="3383279"/>
            <a:ext cx="484632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6B6B6B"/>
                </a:solidFill>
                <a:latin typeface="Montserrat"/>
              </a:rPr>
              <a:t>Da porta, a avenida da sua cor leva até a parede. Da avenida da parede, um passo até a sua seção.</a:t>
            </a:r>
          </a:p>
          <a:p>
            <a:pPr algn="l">
              <a:lnSpc>
                <a:spcPct val="118000"/>
              </a:lnSpc>
            </a:pPr>
            <a:endParaRPr sz="1000" b="0">
              <a:solidFill>
                <a:srgbClr val="6B6B6B"/>
              </a:solidFill>
              <a:latin typeface="Montserrat"/>
            </a:endParaRP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6B6B6B"/>
                </a:solidFill>
                <a:latin typeface="Montserrat"/>
              </a:rPr>
              <a:t>Quem votou volta pela mesma faixa da parede e sai pela fachada sul — ninguém atravessa a avenida de quem está entrando.</a:t>
            </a:r>
          </a:p>
          <a:p>
            <a:pPr algn="l">
              <a:lnSpc>
                <a:spcPct val="118000"/>
              </a:lnSpc>
            </a:pPr>
            <a:endParaRPr sz="1000" b="0">
              <a:solidFill>
                <a:srgbClr val="6B6B6B"/>
              </a:solidFill>
              <a:latin typeface="Montserrat"/>
            </a:endParaRP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6B6B6B"/>
                </a:solidFill>
                <a:latin typeface="Montserrat"/>
              </a:rPr>
              <a:t>A faixa mais escura na frente da parede norte é a pequena avenida de 1,80 m: é ali que a fila da porta B escolhe o lado, andando.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66928" y="6620256"/>
            <a:ext cx="110642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>
                <a:solidFill>
                  <a:srgbClr val="6B6B6B"/>
                </a:solidFill>
                <a:latin typeface="Montserrat"/>
              </a:rPr>
              <a:t>Planta em escala · fachada sul embaixo, como quem chega do Ring 3 · todas as formas são editáveis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 txBox="1"/>
          <p:nvPr/>
        </p:nvSpPr>
        <p:spPr>
          <a:xfrm>
            <a:off x="566928" y="384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6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FLUXO NA MESA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0350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Quatro funções, quatro donos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5214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Cada etapa tem um dono. A única coisa que duas pessoas fazem é conferir o documento — e isso é de propósito.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2194560"/>
            <a:ext cx="2558720" cy="2834640"/>
          </a:xfrm>
          <a:prstGeom prst="roundRect">
            <a:avLst>
              <a:gd name="adj" fmla="val 1787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8" name="Shape 6"/>
          <p:cNvSpPr/>
          <p:nvPr/>
        </p:nvSpPr>
        <p:spPr>
          <a:xfrm>
            <a:off x="877824" y="2505456"/>
            <a:ext cx="548640" cy="548640"/>
          </a:xfrm>
          <a:prstGeom prst="ellipse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9" name="Text 7"/>
          <p:cNvSpPr txBox="1"/>
          <p:nvPr/>
        </p:nvSpPr>
        <p:spPr>
          <a:xfrm>
            <a:off x="877824" y="25054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77824" y="3200400"/>
            <a:ext cx="193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Secretário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77824" y="3621024"/>
            <a:ext cx="19369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Recebe o eleitor na frente da mesa, confere o documento, confirma a seção e aponta o mesário certo. Organiza a fila pela prioridade legal.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99968" y="2194560"/>
            <a:ext cx="2558720" cy="2834640"/>
          </a:xfrm>
          <a:prstGeom prst="roundRect">
            <a:avLst>
              <a:gd name="adj" fmla="val 1787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3" name="Shape 11"/>
          <p:cNvSpPr/>
          <p:nvPr/>
        </p:nvSpPr>
        <p:spPr>
          <a:xfrm>
            <a:off x="3710864" y="2505456"/>
            <a:ext cx="548640" cy="548640"/>
          </a:xfrm>
          <a:prstGeom prst="ellipse">
            <a:avLst/>
          </a:prstGeom>
          <a:solidFill>
            <a:srgbClr val="33507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4" name="Text 12"/>
          <p:cNvSpPr txBox="1"/>
          <p:nvPr/>
        </p:nvSpPr>
        <p:spPr>
          <a:xfrm>
            <a:off x="3710864" y="25054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1º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710864" y="3200400"/>
            <a:ext cx="193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1º mesário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3710864" y="3621024"/>
            <a:ext cx="19369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Fica com um dos cadernos da mesa.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Pergunta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seção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nome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ao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eleitor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Começa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 busca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pelo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nome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no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caderno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da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seção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correspondente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antes de o Presidente digitar.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33008" y="2194560"/>
            <a:ext cx="2558720" cy="2834640"/>
          </a:xfrm>
          <a:prstGeom prst="roundRect">
            <a:avLst>
              <a:gd name="adj" fmla="val 1787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8" name="Shape 16"/>
          <p:cNvSpPr/>
          <p:nvPr/>
        </p:nvSpPr>
        <p:spPr>
          <a:xfrm>
            <a:off x="6543904" y="2505456"/>
            <a:ext cx="548640" cy="548640"/>
          </a:xfrm>
          <a:prstGeom prst="ellipse">
            <a:avLst/>
          </a:prstGeom>
          <a:solidFill>
            <a:srgbClr val="33507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9" name="Text 17"/>
          <p:cNvSpPr txBox="1"/>
          <p:nvPr/>
        </p:nvSpPr>
        <p:spPr>
          <a:xfrm>
            <a:off x="6543904" y="25054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2º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543904" y="3200400"/>
            <a:ext cx="193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2º mesário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6543904" y="3621024"/>
            <a:ext cx="19369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Fica com o outro caderno, pela mesma regra. Quem tem o caderno do eleitor marca e entrega o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comprovante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b="1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apenas</a:t>
            </a:r>
            <a:r>
              <a:rPr lang="en-US" sz="1000" b="1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após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votação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066047" y="2194560"/>
            <a:ext cx="2558720" cy="2834640"/>
          </a:xfrm>
          <a:prstGeom prst="roundRect">
            <a:avLst>
              <a:gd name="adj" fmla="val 1787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3" name="Shape 21"/>
          <p:cNvSpPr/>
          <p:nvPr/>
        </p:nvSpPr>
        <p:spPr>
          <a:xfrm>
            <a:off x="9376943" y="2505456"/>
            <a:ext cx="548640" cy="548640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4" name="Text 22"/>
          <p:cNvSpPr txBox="1"/>
          <p:nvPr/>
        </p:nvSpPr>
        <p:spPr>
          <a:xfrm>
            <a:off x="9376943" y="25054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9376943" y="3200400"/>
            <a:ext cx="193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Presidente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9376943" y="3621024"/>
            <a:ext cx="19369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Digita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CPF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título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no terminal de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votação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autoriza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eleitor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 se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dirigir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à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urna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Opera, para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situações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extraordinárias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o terminal.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66928" y="5358384"/>
            <a:ext cx="11057839" cy="877824"/>
          </a:xfrm>
          <a:prstGeom prst="roundRect">
            <a:avLst>
              <a:gd name="adj" fmla="val 5208"/>
            </a:avLst>
          </a:prstGeom>
          <a:solidFill>
            <a:srgbClr val="EDEADB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8" name="Shape 26"/>
          <p:cNvSpPr/>
          <p:nvPr/>
        </p:nvSpPr>
        <p:spPr>
          <a:xfrm>
            <a:off x="566928" y="5358384"/>
            <a:ext cx="82296" cy="877824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9" name="Text 27"/>
          <p:cNvSpPr txBox="1"/>
          <p:nvPr/>
        </p:nvSpPr>
        <p:spPr>
          <a:xfrm>
            <a:off x="932688" y="5358384"/>
            <a:ext cx="10326319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b="1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Funções</a:t>
            </a:r>
            <a:r>
              <a:rPr lang="en-US" sz="12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b="1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podem</a:t>
            </a:r>
            <a:r>
              <a:rPr lang="en-US" sz="12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– e </a:t>
            </a:r>
            <a:r>
              <a:rPr lang="en-US" sz="1200" b="1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devem</a:t>
            </a:r>
            <a:r>
              <a:rPr lang="en-US" sz="12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– ser </a:t>
            </a:r>
            <a:r>
              <a:rPr lang="en-US" sz="1200" b="1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revezadas</a:t>
            </a:r>
            <a:r>
              <a:rPr lang="en-US" sz="12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entre </a:t>
            </a:r>
            <a:r>
              <a:rPr lang="en-US" sz="1200" b="1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os</a:t>
            </a:r>
            <a:r>
              <a:rPr lang="en-US" sz="12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b="1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integrantes</a:t>
            </a:r>
            <a:r>
              <a:rPr lang="en-US" sz="12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da mesa.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 txBox="1"/>
          <p:nvPr/>
        </p:nvSpPr>
        <p:spPr>
          <a:xfrm>
            <a:off x="566928" y="384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6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FLUXO NA MESA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0350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Seis passos, dois eleitores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66928" y="1335024"/>
            <a:ext cx="1705813" cy="2340864"/>
          </a:xfrm>
          <a:prstGeom prst="roundRect">
            <a:avLst>
              <a:gd name="adj" fmla="val 2680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7" name="Shape 5"/>
          <p:cNvSpPr/>
          <p:nvPr/>
        </p:nvSpPr>
        <p:spPr>
          <a:xfrm>
            <a:off x="786384" y="1554480"/>
            <a:ext cx="310896" cy="310896"/>
          </a:xfrm>
          <a:prstGeom prst="ellipse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8" name="Text 6"/>
          <p:cNvSpPr txBox="1"/>
          <p:nvPr/>
        </p:nvSpPr>
        <p:spPr>
          <a:xfrm>
            <a:off x="786384" y="1554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86384" y="1975104"/>
            <a:ext cx="126690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Recepção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86384" y="2560320"/>
            <a:ext cx="126690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00"/>
              </a:lnSpc>
              <a:buNone/>
            </a:pPr>
            <a:r>
              <a:rPr lang="en-US" sz="700" b="1" kern="0" spc="8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SECRETÁRIO</a:t>
            </a:r>
            <a:endParaRPr lang="en-US" sz="700" dirty="0"/>
          </a:p>
        </p:txBody>
      </p:sp>
      <p:sp>
        <p:nvSpPr>
          <p:cNvPr id="11" name="Text 9"/>
          <p:cNvSpPr txBox="1"/>
          <p:nvPr/>
        </p:nvSpPr>
        <p:spPr>
          <a:xfrm>
            <a:off x="786384" y="2889504"/>
            <a:ext cx="126690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Confere o documento, confirma a seção e aponta o mesário.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437333" y="1335024"/>
            <a:ext cx="1705813" cy="2340864"/>
          </a:xfrm>
          <a:prstGeom prst="roundRect">
            <a:avLst>
              <a:gd name="adj" fmla="val 2680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3" name="Shape 11"/>
          <p:cNvSpPr/>
          <p:nvPr/>
        </p:nvSpPr>
        <p:spPr>
          <a:xfrm>
            <a:off x="2656789" y="1554480"/>
            <a:ext cx="310896" cy="310896"/>
          </a:xfrm>
          <a:prstGeom prst="ellipse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4" name="Text 12"/>
          <p:cNvSpPr txBox="1"/>
          <p:nvPr/>
        </p:nvSpPr>
        <p:spPr>
          <a:xfrm>
            <a:off x="2656789" y="1554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2656789" y="1975104"/>
            <a:ext cx="126690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Busca antecipada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2656789" y="2560320"/>
            <a:ext cx="126690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00"/>
              </a:lnSpc>
              <a:buNone/>
            </a:pPr>
            <a:r>
              <a:rPr lang="en-US" sz="700" b="1" kern="0" spc="8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MESÁRIO DO CADERNO</a:t>
            </a:r>
            <a:endParaRPr lang="en-US" sz="700" dirty="0"/>
          </a:p>
        </p:txBody>
      </p:sp>
      <p:sp>
        <p:nvSpPr>
          <p:cNvPr id="17" name="Text 15"/>
          <p:cNvSpPr txBox="1"/>
          <p:nvPr/>
        </p:nvSpPr>
        <p:spPr>
          <a:xfrm>
            <a:off x="2656789" y="2889504"/>
            <a:ext cx="126690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Procura o nome antes da digitação começar.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307738" y="1335024"/>
            <a:ext cx="1705813" cy="2340864"/>
          </a:xfrm>
          <a:prstGeom prst="roundRect">
            <a:avLst>
              <a:gd name="adj" fmla="val 2680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9" name="Shape 17"/>
          <p:cNvSpPr/>
          <p:nvPr/>
        </p:nvSpPr>
        <p:spPr>
          <a:xfrm>
            <a:off x="4527194" y="1554480"/>
            <a:ext cx="310896" cy="310896"/>
          </a:xfrm>
          <a:prstGeom prst="ellipse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0" name="Text 18"/>
          <p:cNvSpPr txBox="1"/>
          <p:nvPr/>
        </p:nvSpPr>
        <p:spPr>
          <a:xfrm>
            <a:off x="4527194" y="1554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4527194" y="1975104"/>
            <a:ext cx="126690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Habilitação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527194" y="2560320"/>
            <a:ext cx="126690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00"/>
              </a:lnSpc>
              <a:buNone/>
            </a:pPr>
            <a:r>
              <a:rPr lang="en-US" sz="700" b="1" kern="0" spc="8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PRESIDENTE</a:t>
            </a:r>
            <a:endParaRPr lang="en-US" sz="700" dirty="0"/>
          </a:p>
        </p:txBody>
      </p:sp>
      <p:sp>
        <p:nvSpPr>
          <p:cNvPr id="23" name="Text 21"/>
          <p:cNvSpPr txBox="1"/>
          <p:nvPr/>
        </p:nvSpPr>
        <p:spPr>
          <a:xfrm>
            <a:off x="4527194" y="2889504"/>
            <a:ext cx="126690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85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Digita</a:t>
            </a:r>
            <a:r>
              <a:rPr lang="en-US" sz="8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CPF </a:t>
            </a:r>
            <a:r>
              <a:rPr lang="en-US" sz="85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</a:t>
            </a:r>
            <a:r>
              <a:rPr lang="en-US" sz="8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85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título</a:t>
            </a:r>
            <a:r>
              <a:rPr lang="en-US" sz="8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no terminal.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178144" y="1335024"/>
            <a:ext cx="1705813" cy="2340864"/>
          </a:xfrm>
          <a:prstGeom prst="roundRect">
            <a:avLst>
              <a:gd name="adj" fmla="val 2680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5" name="Shape 23"/>
          <p:cNvSpPr/>
          <p:nvPr/>
        </p:nvSpPr>
        <p:spPr>
          <a:xfrm>
            <a:off x="6397600" y="1554480"/>
            <a:ext cx="310896" cy="310896"/>
          </a:xfrm>
          <a:prstGeom prst="ellipse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6" name="Text 24"/>
          <p:cNvSpPr txBox="1"/>
          <p:nvPr/>
        </p:nvSpPr>
        <p:spPr>
          <a:xfrm>
            <a:off x="6397600" y="1554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6397600" y="1975104"/>
            <a:ext cx="126690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Nome e número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6397600" y="2560320"/>
            <a:ext cx="126690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00"/>
              </a:lnSpc>
              <a:buNone/>
            </a:pPr>
            <a:r>
              <a:rPr lang="en-US" sz="700" b="1" kern="0" spc="8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PRESIDENTE</a:t>
            </a:r>
            <a:endParaRPr lang="en-US" sz="700" dirty="0"/>
          </a:p>
        </p:txBody>
      </p:sp>
      <p:sp>
        <p:nvSpPr>
          <p:cNvPr id="29" name="Text 27"/>
          <p:cNvSpPr txBox="1"/>
          <p:nvPr/>
        </p:nvSpPr>
        <p:spPr>
          <a:xfrm>
            <a:off x="6397600" y="2889504"/>
            <a:ext cx="126690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00"/>
              </a:lnSpc>
            </a:pPr>
            <a:r>
              <a:rPr lang="pt-BR" sz="850" dirty="0">
                <a:solidFill>
                  <a:srgbClr val="6B6B6B"/>
                </a:solidFill>
                <a:latin typeface="Montserrat" pitchFamily="34" charset="0"/>
              </a:rPr>
              <a:t>Ao serem exibidos os dados no Terminal do</a:t>
            </a:r>
          </a:p>
          <a:p>
            <a:pPr>
              <a:lnSpc>
                <a:spcPts val="1200"/>
              </a:lnSpc>
            </a:pPr>
            <a:r>
              <a:rPr lang="pt-BR" sz="850" dirty="0">
                <a:solidFill>
                  <a:srgbClr val="6B6B6B"/>
                </a:solidFill>
                <a:latin typeface="Montserrat" pitchFamily="34" charset="0"/>
              </a:rPr>
              <a:t>Mesário, lê em voz alta e confirma o nome com eleitor.</a:t>
            </a:r>
            <a:endParaRPr lang="en-US" sz="850" dirty="0">
              <a:solidFill>
                <a:srgbClr val="6B6B6B"/>
              </a:solidFill>
              <a:latin typeface="Montserrat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048549" y="1335024"/>
            <a:ext cx="1705813" cy="2340864"/>
          </a:xfrm>
          <a:prstGeom prst="roundRect">
            <a:avLst>
              <a:gd name="adj" fmla="val 2680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1" name="Shape 29"/>
          <p:cNvSpPr/>
          <p:nvPr/>
        </p:nvSpPr>
        <p:spPr>
          <a:xfrm>
            <a:off x="8268005" y="1554480"/>
            <a:ext cx="310896" cy="310896"/>
          </a:xfrm>
          <a:prstGeom prst="ellipse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2" name="Text 30"/>
          <p:cNvSpPr txBox="1"/>
          <p:nvPr/>
        </p:nvSpPr>
        <p:spPr>
          <a:xfrm>
            <a:off x="8268005" y="1554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8268005" y="1975104"/>
            <a:ext cx="126690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Confirmação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8268005" y="2560320"/>
            <a:ext cx="126690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00"/>
              </a:lnSpc>
              <a:buNone/>
            </a:pPr>
            <a:r>
              <a:rPr lang="en-US" sz="700" b="1" kern="0" spc="8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MESÁRIO DO CADERNO</a:t>
            </a:r>
            <a:endParaRPr lang="en-US" sz="700" dirty="0"/>
          </a:p>
        </p:txBody>
      </p:sp>
      <p:sp>
        <p:nvSpPr>
          <p:cNvPr id="35" name="Text 33"/>
          <p:cNvSpPr txBox="1"/>
          <p:nvPr/>
        </p:nvSpPr>
        <p:spPr>
          <a:xfrm>
            <a:off x="8268005" y="2889504"/>
            <a:ext cx="126690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Confere que é a </a:t>
            </a:r>
            <a:r>
              <a:rPr lang="en-US" sz="85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mesma</a:t>
            </a:r>
            <a:r>
              <a:rPr lang="en-US" sz="8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85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pessoa</a:t>
            </a:r>
            <a:r>
              <a:rPr lang="en-US" sz="8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 </a:t>
            </a:r>
            <a:r>
              <a:rPr lang="en-US" sz="85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Assinala</a:t>
            </a:r>
            <a:r>
              <a:rPr lang="en-US" sz="8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 </a:t>
            </a:r>
            <a:r>
              <a:rPr lang="en-US" sz="85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caderno</a:t>
            </a:r>
            <a:r>
              <a:rPr lang="en-US" sz="8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  </a:t>
            </a:r>
            <a:r>
              <a:rPr lang="en-US" sz="85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retira</a:t>
            </a:r>
            <a:r>
              <a:rPr lang="en-US" sz="8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85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comprovante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9918954" y="1335024"/>
            <a:ext cx="1705813" cy="2340864"/>
          </a:xfrm>
          <a:prstGeom prst="roundRect">
            <a:avLst>
              <a:gd name="adj" fmla="val 2680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7" name="Shape 35"/>
          <p:cNvSpPr/>
          <p:nvPr/>
        </p:nvSpPr>
        <p:spPr>
          <a:xfrm>
            <a:off x="10138410" y="1554480"/>
            <a:ext cx="310896" cy="310896"/>
          </a:xfrm>
          <a:prstGeom prst="ellipse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8" name="Text 36"/>
          <p:cNvSpPr txBox="1"/>
          <p:nvPr/>
        </p:nvSpPr>
        <p:spPr>
          <a:xfrm>
            <a:off x="10138410" y="1554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10138410" y="1975104"/>
            <a:ext cx="126690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Voto e comprovante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10138410" y="2560320"/>
            <a:ext cx="126690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00"/>
              </a:lnSpc>
              <a:buNone/>
            </a:pPr>
            <a:r>
              <a:rPr lang="en-US" sz="700" b="1" kern="0" spc="8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ELEITOR</a:t>
            </a:r>
            <a:endParaRPr lang="en-US" sz="700" dirty="0"/>
          </a:p>
        </p:txBody>
      </p:sp>
      <p:sp>
        <p:nvSpPr>
          <p:cNvPr id="41" name="Text 39"/>
          <p:cNvSpPr txBox="1"/>
          <p:nvPr/>
        </p:nvSpPr>
        <p:spPr>
          <a:xfrm>
            <a:off x="10138410" y="2889504"/>
            <a:ext cx="126690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Vota, recolhe o próprio celular e recebe o comprovante.</a:t>
            </a:r>
            <a:endParaRPr lang="en-US" sz="850" dirty="0"/>
          </a:p>
        </p:txBody>
      </p:sp>
      <p:sp>
        <p:nvSpPr>
          <p:cNvPr id="42" name="Text 40"/>
          <p:cNvSpPr txBox="1"/>
          <p:nvPr/>
        </p:nvSpPr>
        <p:spPr>
          <a:xfrm>
            <a:off x="566928" y="3895344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A MESA RÁPIDA FAZ DE DIFERENTE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442384" y="4041648"/>
            <a:ext cx="4788256" cy="1335024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4" name="Text 42"/>
          <p:cNvSpPr txBox="1"/>
          <p:nvPr/>
        </p:nvSpPr>
        <p:spPr>
          <a:xfrm>
            <a:off x="566928" y="4187952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Eleitor N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066544" y="4187952"/>
            <a:ext cx="1160488" cy="420624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6" name="Text 44"/>
          <p:cNvSpPr txBox="1"/>
          <p:nvPr/>
        </p:nvSpPr>
        <p:spPr>
          <a:xfrm>
            <a:off x="2066544" y="4187952"/>
            <a:ext cx="1160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263608" y="4187952"/>
            <a:ext cx="1160488" cy="420624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8" name="Text 46"/>
          <p:cNvSpPr txBox="1"/>
          <p:nvPr/>
        </p:nvSpPr>
        <p:spPr>
          <a:xfrm>
            <a:off x="3263608" y="4187952"/>
            <a:ext cx="1160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460672" y="4187952"/>
            <a:ext cx="1160488" cy="420624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50" name="Text 48"/>
          <p:cNvSpPr txBox="1"/>
          <p:nvPr/>
        </p:nvSpPr>
        <p:spPr>
          <a:xfrm>
            <a:off x="4460672" y="4187952"/>
            <a:ext cx="1160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657736" y="4187952"/>
            <a:ext cx="1160488" cy="420624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52" name="Text 50"/>
          <p:cNvSpPr txBox="1"/>
          <p:nvPr/>
        </p:nvSpPr>
        <p:spPr>
          <a:xfrm>
            <a:off x="5657736" y="4187952"/>
            <a:ext cx="1160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854800" y="4187952"/>
            <a:ext cx="1160488" cy="420624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54" name="Text 52"/>
          <p:cNvSpPr txBox="1"/>
          <p:nvPr/>
        </p:nvSpPr>
        <p:spPr>
          <a:xfrm>
            <a:off x="6854800" y="4187952"/>
            <a:ext cx="1160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8051863" y="4187952"/>
            <a:ext cx="1160488" cy="420624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56" name="Text 54"/>
          <p:cNvSpPr txBox="1"/>
          <p:nvPr/>
        </p:nvSpPr>
        <p:spPr>
          <a:xfrm>
            <a:off x="8051863" y="4187952"/>
            <a:ext cx="1160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566928" y="4809744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Eleitor N+1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460672" y="4809744"/>
            <a:ext cx="1160488" cy="420624"/>
          </a:xfrm>
          <a:prstGeom prst="rect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59" name="Text 57"/>
          <p:cNvSpPr txBox="1"/>
          <p:nvPr/>
        </p:nvSpPr>
        <p:spPr>
          <a:xfrm>
            <a:off x="4460672" y="4809744"/>
            <a:ext cx="1160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5657736" y="4809744"/>
            <a:ext cx="1160488" cy="420624"/>
          </a:xfrm>
          <a:prstGeom prst="rect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61" name="Text 59"/>
          <p:cNvSpPr txBox="1"/>
          <p:nvPr/>
        </p:nvSpPr>
        <p:spPr>
          <a:xfrm>
            <a:off x="5657736" y="4809744"/>
            <a:ext cx="1160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6854800" y="4809744"/>
            <a:ext cx="1160488" cy="420624"/>
          </a:xfrm>
          <a:prstGeom prst="rect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63" name="Text 61"/>
          <p:cNvSpPr txBox="1"/>
          <p:nvPr/>
        </p:nvSpPr>
        <p:spPr>
          <a:xfrm>
            <a:off x="6854800" y="4809744"/>
            <a:ext cx="1160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8051863" y="4809744"/>
            <a:ext cx="1160488" cy="420624"/>
          </a:xfrm>
          <a:prstGeom prst="rect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65" name="Text 63"/>
          <p:cNvSpPr txBox="1"/>
          <p:nvPr/>
        </p:nvSpPr>
        <p:spPr>
          <a:xfrm>
            <a:off x="8051863" y="4809744"/>
            <a:ext cx="1160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9248927" y="4809744"/>
            <a:ext cx="1160488" cy="420624"/>
          </a:xfrm>
          <a:prstGeom prst="rect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67" name="Text 65"/>
          <p:cNvSpPr txBox="1"/>
          <p:nvPr/>
        </p:nvSpPr>
        <p:spPr>
          <a:xfrm>
            <a:off x="9248927" y="4809744"/>
            <a:ext cx="1160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10445991" y="4809744"/>
            <a:ext cx="1160488" cy="420624"/>
          </a:xfrm>
          <a:prstGeom prst="rect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69" name="Text 67"/>
          <p:cNvSpPr txBox="1"/>
          <p:nvPr/>
        </p:nvSpPr>
        <p:spPr>
          <a:xfrm>
            <a:off x="10445991" y="4809744"/>
            <a:ext cx="1160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100" dirty="0"/>
          </a:p>
        </p:txBody>
      </p:sp>
      <p:sp>
        <p:nvSpPr>
          <p:cNvPr id="70" name="Text 68"/>
          <p:cNvSpPr txBox="1"/>
          <p:nvPr/>
        </p:nvSpPr>
        <p:spPr>
          <a:xfrm>
            <a:off x="4442384" y="5358384"/>
            <a:ext cx="478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sobreposição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566928" y="5632704"/>
            <a:ext cx="11057839" cy="713232"/>
          </a:xfrm>
          <a:prstGeom prst="roundRect">
            <a:avLst>
              <a:gd name="adj" fmla="val 6410"/>
            </a:avLst>
          </a:prstGeom>
          <a:solidFill>
            <a:srgbClr val="042B5A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72" name="Text 70"/>
          <p:cNvSpPr txBox="1"/>
          <p:nvPr/>
        </p:nvSpPr>
        <p:spPr>
          <a:xfrm>
            <a:off x="950976" y="5632704"/>
            <a:ext cx="1028974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ganho não é digitar mais rápido: é o passo 2 do próximo eleitor acontecer enquanto o atual ainda está na cabine.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 txBox="1"/>
          <p:nvPr/>
        </p:nvSpPr>
        <p:spPr>
          <a:xfrm>
            <a:off x="566928" y="384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6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IDENTIFICAÇÃO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0350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Qualquer documento oficial, com foto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5214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espírito da norma é simples: confirmar que é a mesma pessoa. Não importa se o documento é brasileiro, irlandês ou de outra nacionalidade.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2194560"/>
            <a:ext cx="2558720" cy="2834640"/>
          </a:xfrm>
          <a:prstGeom prst="roundRect">
            <a:avLst>
              <a:gd name="adj" fmla="val 1787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8" name="Shape 6"/>
          <p:cNvSpPr/>
          <p:nvPr/>
        </p:nvSpPr>
        <p:spPr>
          <a:xfrm>
            <a:off x="877824" y="2505456"/>
            <a:ext cx="548640" cy="548640"/>
          </a:xfrm>
          <a:prstGeom prst="ellipse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9" name="Text 7"/>
          <p:cNvSpPr txBox="1"/>
          <p:nvPr/>
        </p:nvSpPr>
        <p:spPr>
          <a:xfrm>
            <a:off x="877824" y="25054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77824" y="3200400"/>
            <a:ext cx="193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Documento brasileiro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77824" y="3621024"/>
            <a:ext cx="19369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RG, CNH, passaporte, carteira de trabalho ou funcional — qualquer documento oficial brasileiro, com foto.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99968" y="2194560"/>
            <a:ext cx="2558720" cy="2834640"/>
          </a:xfrm>
          <a:prstGeom prst="roundRect">
            <a:avLst>
              <a:gd name="adj" fmla="val 1787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3" name="Shape 11"/>
          <p:cNvSpPr/>
          <p:nvPr/>
        </p:nvSpPr>
        <p:spPr>
          <a:xfrm>
            <a:off x="3710864" y="2505456"/>
            <a:ext cx="548640" cy="548640"/>
          </a:xfrm>
          <a:prstGeom prst="ellipse">
            <a:avLst/>
          </a:prstGeom>
          <a:solidFill>
            <a:srgbClr val="33507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4" name="Text 12"/>
          <p:cNvSpPr txBox="1"/>
          <p:nvPr/>
        </p:nvSpPr>
        <p:spPr>
          <a:xfrm>
            <a:off x="3710864" y="25054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710864" y="3200400"/>
            <a:ext cx="193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Documento irlandês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3710864" y="3621024"/>
            <a:ext cx="19369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Passport card, driving licence ou outro documento oficial irlandês, com foto.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33008" y="2194560"/>
            <a:ext cx="2558720" cy="2834640"/>
          </a:xfrm>
          <a:prstGeom prst="roundRect">
            <a:avLst>
              <a:gd name="adj" fmla="val 1787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8" name="Shape 16"/>
          <p:cNvSpPr/>
          <p:nvPr/>
        </p:nvSpPr>
        <p:spPr>
          <a:xfrm>
            <a:off x="6543904" y="2505456"/>
            <a:ext cx="548640" cy="548640"/>
          </a:xfrm>
          <a:prstGeom prst="ellipse">
            <a:avLst/>
          </a:prstGeom>
          <a:solidFill>
            <a:srgbClr val="33507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9" name="Text 17"/>
          <p:cNvSpPr txBox="1"/>
          <p:nvPr/>
        </p:nvSpPr>
        <p:spPr>
          <a:xfrm>
            <a:off x="6543904" y="25054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543904" y="3200400"/>
            <a:ext cx="193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Documento de outro país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6543904" y="3621024"/>
            <a:ext cx="19369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Vale também o passaporte de um terceiro país — por exemplo, o italiano de um binacional. Basta ser oficial e ter foto.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066047" y="2194560"/>
            <a:ext cx="2558720" cy="2834640"/>
          </a:xfrm>
          <a:prstGeom prst="roundRect">
            <a:avLst>
              <a:gd name="adj" fmla="val 1787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3" name="Shape 21"/>
          <p:cNvSpPr/>
          <p:nvPr/>
        </p:nvSpPr>
        <p:spPr>
          <a:xfrm>
            <a:off x="9376943" y="2505456"/>
            <a:ext cx="548640" cy="548640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4" name="Text 22"/>
          <p:cNvSpPr txBox="1"/>
          <p:nvPr/>
        </p:nvSpPr>
        <p:spPr>
          <a:xfrm>
            <a:off x="9376943" y="25054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OK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9376943" y="3200400"/>
            <a:ext cx="193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importa sempre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9376943" y="3621024"/>
            <a:ext cx="19369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Confirmar que é a mesma pessoa. Documento oficial e com foto — a nacionalidade não importa.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66928" y="5358384"/>
            <a:ext cx="11057839" cy="877824"/>
          </a:xfrm>
          <a:prstGeom prst="roundRect">
            <a:avLst>
              <a:gd name="adj" fmla="val 5208"/>
            </a:avLst>
          </a:prstGeom>
          <a:solidFill>
            <a:srgbClr val="EDEADB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8" name="Shape 26"/>
          <p:cNvSpPr/>
          <p:nvPr/>
        </p:nvSpPr>
        <p:spPr>
          <a:xfrm>
            <a:off x="566928" y="5358384"/>
            <a:ext cx="82296" cy="877824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9" name="Text 27"/>
          <p:cNvSpPr txBox="1"/>
          <p:nvPr/>
        </p:nvSpPr>
        <p:spPr>
          <a:xfrm>
            <a:off x="932688" y="5358384"/>
            <a:ext cx="10326319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b="1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 dúvida, não é sobre a nacionalidade do documento — é sobre reconhecer a pessoa que está na sua frente.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 txBox="1"/>
          <p:nvPr/>
        </p:nvSpPr>
        <p:spPr>
          <a:xfrm>
            <a:off x="566928" y="384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6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OS CADERNOS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0350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 caderno cheio, um imprevisível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52144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urna atende uma ou duas seções. A principal é sempre grande; a agregada pode ter 400 nomes ou 29.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773936"/>
            <a:ext cx="25815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28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212848"/>
            <a:ext cx="25815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MESAS · UMA URNA CADA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3331388" y="1773936"/>
            <a:ext cx="25815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23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3331388" y="2212848"/>
            <a:ext cx="25815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MESAS COM DOIS CADERNOS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6095848" y="1773936"/>
            <a:ext cx="25815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095848" y="2212848"/>
            <a:ext cx="25815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MESAS COM UM CADERNO SÓ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8860307" y="1773936"/>
            <a:ext cx="25815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398–797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8860307" y="2212848"/>
            <a:ext cx="25815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ELEITORES POR MESA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958998" y="2798064"/>
            <a:ext cx="7315" cy="1481328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6" name="Text 14"/>
          <p:cNvSpPr txBox="1"/>
          <p:nvPr/>
        </p:nvSpPr>
        <p:spPr>
          <a:xfrm>
            <a:off x="2642616" y="431596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461586" y="2798064"/>
            <a:ext cx="7315" cy="1481328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8" name="Text 16"/>
          <p:cNvSpPr txBox="1"/>
          <p:nvPr/>
        </p:nvSpPr>
        <p:spPr>
          <a:xfrm>
            <a:off x="4145204" y="431596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100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964174" y="2798064"/>
            <a:ext cx="7315" cy="1481328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0" name="Text 18"/>
          <p:cNvSpPr txBox="1"/>
          <p:nvPr/>
        </p:nvSpPr>
        <p:spPr>
          <a:xfrm>
            <a:off x="5647792" y="431596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200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466762" y="2798064"/>
            <a:ext cx="7315" cy="1481328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2" name="Text 20"/>
          <p:cNvSpPr txBox="1"/>
          <p:nvPr/>
        </p:nvSpPr>
        <p:spPr>
          <a:xfrm>
            <a:off x="7150379" y="431596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300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8969350" y="2798064"/>
            <a:ext cx="7315" cy="1481328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4" name="Text 22"/>
          <p:cNvSpPr txBox="1"/>
          <p:nvPr/>
        </p:nvSpPr>
        <p:spPr>
          <a:xfrm>
            <a:off x="8652967" y="431596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400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2962656" y="451713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NOMES NO CADERNO</a:t>
            </a:r>
            <a:endParaRPr lang="en-US" sz="75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298094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Caderno principal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66928" y="321868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sempre de Dublin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843014" y="2944368"/>
            <a:ext cx="184857" cy="384048"/>
          </a:xfrm>
          <a:prstGeom prst="roundRect">
            <a:avLst>
              <a:gd name="adj" fmla="val 29679"/>
            </a:avLst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9" name="Text 27"/>
          <p:cNvSpPr txBox="1"/>
          <p:nvPr/>
        </p:nvSpPr>
        <p:spPr>
          <a:xfrm>
            <a:off x="9174175" y="29443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395–400 nomes, nas 28 mesas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566928" y="367588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Caderno agregado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566928" y="391363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quase sempre de outro condado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311538" y="3730752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3" name="Shape 31"/>
          <p:cNvSpPr/>
          <p:nvPr/>
        </p:nvSpPr>
        <p:spPr>
          <a:xfrm>
            <a:off x="3687185" y="3849624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4" name="Shape 32"/>
          <p:cNvSpPr/>
          <p:nvPr/>
        </p:nvSpPr>
        <p:spPr>
          <a:xfrm>
            <a:off x="3807392" y="3730752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5" name="Shape 33"/>
          <p:cNvSpPr/>
          <p:nvPr/>
        </p:nvSpPr>
        <p:spPr>
          <a:xfrm>
            <a:off x="3972677" y="3849624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6" name="Shape 34"/>
          <p:cNvSpPr/>
          <p:nvPr/>
        </p:nvSpPr>
        <p:spPr>
          <a:xfrm>
            <a:off x="4017755" y="3730752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7" name="Shape 35"/>
          <p:cNvSpPr/>
          <p:nvPr/>
        </p:nvSpPr>
        <p:spPr>
          <a:xfrm>
            <a:off x="4408428" y="3849624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8" name="Shape 36"/>
          <p:cNvSpPr/>
          <p:nvPr/>
        </p:nvSpPr>
        <p:spPr>
          <a:xfrm>
            <a:off x="4573712" y="3730752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9" name="Shape 37"/>
          <p:cNvSpPr/>
          <p:nvPr/>
        </p:nvSpPr>
        <p:spPr>
          <a:xfrm>
            <a:off x="5475265" y="3849624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0" name="Shape 38"/>
          <p:cNvSpPr/>
          <p:nvPr/>
        </p:nvSpPr>
        <p:spPr>
          <a:xfrm>
            <a:off x="5610498" y="3730752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1" name="Shape 39"/>
          <p:cNvSpPr/>
          <p:nvPr/>
        </p:nvSpPr>
        <p:spPr>
          <a:xfrm>
            <a:off x="6001171" y="3849624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2" name="Shape 40"/>
          <p:cNvSpPr/>
          <p:nvPr/>
        </p:nvSpPr>
        <p:spPr>
          <a:xfrm>
            <a:off x="6136404" y="3730752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3" name="Shape 41"/>
          <p:cNvSpPr/>
          <p:nvPr/>
        </p:nvSpPr>
        <p:spPr>
          <a:xfrm>
            <a:off x="6376818" y="3849624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4" name="Shape 42"/>
          <p:cNvSpPr/>
          <p:nvPr/>
        </p:nvSpPr>
        <p:spPr>
          <a:xfrm>
            <a:off x="7052982" y="3730752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5" name="Shape 43"/>
          <p:cNvSpPr/>
          <p:nvPr/>
        </p:nvSpPr>
        <p:spPr>
          <a:xfrm>
            <a:off x="8255052" y="3849624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6" name="Shape 44"/>
          <p:cNvSpPr/>
          <p:nvPr/>
        </p:nvSpPr>
        <p:spPr>
          <a:xfrm>
            <a:off x="8435363" y="3730752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7" name="Shape 45"/>
          <p:cNvSpPr/>
          <p:nvPr/>
        </p:nvSpPr>
        <p:spPr>
          <a:xfrm>
            <a:off x="8435363" y="3849624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8" name="Shape 46"/>
          <p:cNvSpPr/>
          <p:nvPr/>
        </p:nvSpPr>
        <p:spPr>
          <a:xfrm>
            <a:off x="8510492" y="3730752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9" name="Shape 47"/>
          <p:cNvSpPr/>
          <p:nvPr/>
        </p:nvSpPr>
        <p:spPr>
          <a:xfrm>
            <a:off x="8645725" y="3849624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50" name="Shape 48"/>
          <p:cNvSpPr/>
          <p:nvPr/>
        </p:nvSpPr>
        <p:spPr>
          <a:xfrm>
            <a:off x="8795984" y="3730752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51" name="Shape 49"/>
          <p:cNvSpPr/>
          <p:nvPr/>
        </p:nvSpPr>
        <p:spPr>
          <a:xfrm>
            <a:off x="8811010" y="3849624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52" name="Shape 50"/>
          <p:cNvSpPr/>
          <p:nvPr/>
        </p:nvSpPr>
        <p:spPr>
          <a:xfrm>
            <a:off x="8826036" y="3730752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53" name="Shape 51"/>
          <p:cNvSpPr/>
          <p:nvPr/>
        </p:nvSpPr>
        <p:spPr>
          <a:xfrm>
            <a:off x="8841062" y="3849624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54" name="Shape 52"/>
          <p:cNvSpPr/>
          <p:nvPr/>
        </p:nvSpPr>
        <p:spPr>
          <a:xfrm>
            <a:off x="8886139" y="3730752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55" name="Text 53"/>
          <p:cNvSpPr txBox="1"/>
          <p:nvPr/>
        </p:nvSpPr>
        <p:spPr>
          <a:xfrm>
            <a:off x="9174175" y="373075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810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cada ponto é uma mesa · de 29 a 400 nomes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566928" y="4974336"/>
            <a:ext cx="3503066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57" name="Text 55"/>
          <p:cNvSpPr txBox="1"/>
          <p:nvPr/>
        </p:nvSpPr>
        <p:spPr>
          <a:xfrm>
            <a:off x="841248" y="5157216"/>
            <a:ext cx="295442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 err="1">
                <a:solidFill>
                  <a:srgbClr val="042B5A"/>
                </a:solidFill>
                <a:latin typeface="Montserrat" pitchFamily="34" charset="0"/>
              </a:rPr>
              <a:t>Cadernos</a:t>
            </a:r>
            <a:r>
              <a:rPr lang="en-US" sz="1150" b="1" dirty="0">
                <a:solidFill>
                  <a:srgbClr val="042B5A"/>
                </a:solidFill>
                <a:latin typeface="Montserrat" pitchFamily="34" charset="0"/>
              </a:rPr>
              <a:t> de </a:t>
            </a:r>
            <a:r>
              <a:rPr lang="en-US" sz="1150" b="1" dirty="0" err="1">
                <a:solidFill>
                  <a:srgbClr val="042B5A"/>
                </a:solidFill>
                <a:latin typeface="Montserrat" pitchFamily="34" charset="0"/>
              </a:rPr>
              <a:t>uma</a:t>
            </a:r>
            <a:r>
              <a:rPr lang="en-US" sz="1150" b="1" dirty="0">
                <a:solidFill>
                  <a:srgbClr val="042B5A"/>
                </a:solidFill>
                <a:latin typeface="Montserrat" pitchFamily="34" charset="0"/>
              </a:rPr>
              <a:t> </a:t>
            </a:r>
            <a:r>
              <a:rPr lang="en-US" sz="1150" b="1" dirty="0" err="1">
                <a:solidFill>
                  <a:srgbClr val="042B5A"/>
                </a:solidFill>
                <a:latin typeface="Montserrat" pitchFamily="34" charset="0"/>
              </a:rPr>
              <a:t>seção</a:t>
            </a:r>
            <a:r>
              <a:rPr lang="en-US" sz="1150" b="1" dirty="0">
                <a:solidFill>
                  <a:srgbClr val="042B5A"/>
                </a:solidFill>
                <a:latin typeface="Montserrat" pitchFamily="34" charset="0"/>
              </a:rPr>
              <a:t> </a:t>
            </a:r>
            <a:r>
              <a:rPr lang="en-US" sz="1150" b="1" dirty="0" err="1">
                <a:solidFill>
                  <a:srgbClr val="042B5A"/>
                </a:solidFill>
                <a:latin typeface="Montserrat" pitchFamily="34" charset="0"/>
              </a:rPr>
              <a:t>por</a:t>
            </a:r>
            <a:r>
              <a:rPr lang="en-US" sz="1150" b="1" dirty="0">
                <a:solidFill>
                  <a:srgbClr val="042B5A"/>
                </a:solidFill>
                <a:latin typeface="Montserrat" pitchFamily="34" charset="0"/>
              </a:rPr>
              <a:t> </a:t>
            </a:r>
            <a:r>
              <a:rPr lang="en-US" sz="1150" b="1" dirty="0" err="1">
                <a:solidFill>
                  <a:srgbClr val="042B5A"/>
                </a:solidFill>
                <a:latin typeface="Montserrat" pitchFamily="34" charset="0"/>
              </a:rPr>
              <a:t>mesário</a:t>
            </a:r>
            <a:endParaRPr lang="en-US" sz="1150" dirty="0"/>
          </a:p>
        </p:txBody>
      </p:sp>
      <p:sp>
        <p:nvSpPr>
          <p:cNvPr id="58" name="Text 56"/>
          <p:cNvSpPr txBox="1"/>
          <p:nvPr/>
        </p:nvSpPr>
        <p:spPr>
          <a:xfrm>
            <a:off x="841248" y="5449824"/>
            <a:ext cx="295442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50"/>
              </a:lnSpc>
            </a:pPr>
            <a:r>
              <a:rPr lang="en-US" sz="9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Mas, se </a:t>
            </a:r>
            <a:r>
              <a:rPr lang="en-US" sz="9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quiser</a:t>
            </a:r>
            <a:r>
              <a:rPr lang="en-US" sz="9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mudar, </a:t>
            </a:r>
            <a:r>
              <a:rPr lang="en-US" sz="9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pode</a:t>
            </a:r>
            <a:r>
              <a:rPr lang="en-US" sz="9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br>
              <a:rPr lang="en-US" sz="9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</a:br>
            <a:r>
              <a:rPr lang="en-US" sz="900" b="1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</a:t>
            </a:r>
            <a:r>
              <a:rPr lang="en-US" sz="900" b="1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importante</a:t>
            </a:r>
            <a:r>
              <a:rPr lang="en-US" sz="900" b="1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é achar o </a:t>
            </a:r>
            <a:r>
              <a:rPr lang="en-US" sz="900" b="1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jeito</a:t>
            </a:r>
            <a:r>
              <a:rPr lang="en-US" sz="900" b="1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900" b="1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mais</a:t>
            </a:r>
            <a:r>
              <a:rPr lang="en-US" sz="900" b="1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900" b="1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rápido</a:t>
            </a:r>
            <a:r>
              <a:rPr lang="en-US" sz="900" b="1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para </a:t>
            </a:r>
            <a:r>
              <a:rPr lang="en-US" sz="900" b="1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cada</a:t>
            </a:r>
            <a:r>
              <a:rPr lang="en-US" sz="900" b="1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mesa.</a:t>
            </a:r>
            <a:endParaRPr lang="en-US" sz="900" b="1" dirty="0"/>
          </a:p>
        </p:txBody>
      </p:sp>
      <p:sp>
        <p:nvSpPr>
          <p:cNvPr id="59" name="Shape 57"/>
          <p:cNvSpPr/>
          <p:nvPr/>
        </p:nvSpPr>
        <p:spPr>
          <a:xfrm>
            <a:off x="4344314" y="4974336"/>
            <a:ext cx="3503066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60" name="Text 58"/>
          <p:cNvSpPr txBox="1"/>
          <p:nvPr/>
        </p:nvSpPr>
        <p:spPr>
          <a:xfrm>
            <a:off x="4618634" y="5157216"/>
            <a:ext cx="295442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Nome e </a:t>
            </a:r>
            <a:r>
              <a:rPr lang="en-US" sz="1150" b="1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número</a:t>
            </a:r>
            <a:r>
              <a:rPr lang="en-US" sz="11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da </a:t>
            </a:r>
            <a:r>
              <a:rPr lang="en-US" sz="1150" b="1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seção</a:t>
            </a:r>
            <a:r>
              <a:rPr lang="en-US" sz="11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sempre os dois</a:t>
            </a:r>
            <a:endParaRPr lang="en-US" sz="1150" dirty="0"/>
          </a:p>
        </p:txBody>
      </p:sp>
      <p:sp>
        <p:nvSpPr>
          <p:cNvPr id="61" name="Text 59"/>
          <p:cNvSpPr txBox="1"/>
          <p:nvPr/>
        </p:nvSpPr>
        <p:spPr>
          <a:xfrm>
            <a:off x="4618634" y="5449824"/>
            <a:ext cx="295442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br>
              <a:rPr lang="en-US" sz="900" dirty="0">
                <a:solidFill>
                  <a:srgbClr val="6B6B6B"/>
                </a:solidFill>
                <a:latin typeface="Montserrat" pitchFamily="34" charset="0"/>
              </a:rPr>
            </a:br>
            <a:r>
              <a:rPr lang="en-US" sz="900" dirty="0">
                <a:solidFill>
                  <a:srgbClr val="6B6B6B"/>
                </a:solidFill>
                <a:latin typeface="Montserrat" pitchFamily="34" charset="0"/>
              </a:rPr>
              <a:t>O </a:t>
            </a:r>
            <a:r>
              <a:rPr lang="en-US" sz="900" dirty="0" err="1">
                <a:solidFill>
                  <a:srgbClr val="6B6B6B"/>
                </a:solidFill>
                <a:latin typeface="Montserrat" pitchFamily="34" charset="0"/>
              </a:rPr>
              <a:t>eleitor</a:t>
            </a:r>
            <a:r>
              <a:rPr lang="en-US" sz="900" dirty="0">
                <a:solidFill>
                  <a:srgbClr val="6B6B6B"/>
                </a:solidFill>
                <a:latin typeface="Montserrat" pitchFamily="34" charset="0"/>
              </a:rPr>
              <a:t> </a:t>
            </a:r>
            <a:r>
              <a:rPr lang="en-US" sz="900" dirty="0" err="1">
                <a:solidFill>
                  <a:srgbClr val="6B6B6B"/>
                </a:solidFill>
                <a:latin typeface="Montserrat" pitchFamily="34" charset="0"/>
              </a:rPr>
              <a:t>só</a:t>
            </a:r>
            <a:r>
              <a:rPr lang="en-US" sz="900" dirty="0">
                <a:solidFill>
                  <a:srgbClr val="6B6B6B"/>
                </a:solidFill>
                <a:latin typeface="Montserrat" pitchFamily="34" charset="0"/>
              </a:rPr>
              <a:t> </a:t>
            </a:r>
            <a:r>
              <a:rPr lang="en-US" sz="900" dirty="0" err="1">
                <a:solidFill>
                  <a:srgbClr val="6B6B6B"/>
                </a:solidFill>
                <a:latin typeface="Montserrat" pitchFamily="34" charset="0"/>
              </a:rPr>
              <a:t>poderá</a:t>
            </a:r>
            <a:r>
              <a:rPr lang="en-US" sz="900" dirty="0">
                <a:solidFill>
                  <a:srgbClr val="6B6B6B"/>
                </a:solidFill>
                <a:latin typeface="Montserrat" pitchFamily="34" charset="0"/>
              </a:rPr>
              <a:t> ser </a:t>
            </a:r>
            <a:r>
              <a:rPr lang="en-US" sz="900" dirty="0" err="1">
                <a:solidFill>
                  <a:srgbClr val="6B6B6B"/>
                </a:solidFill>
                <a:latin typeface="Montserrat" pitchFamily="34" charset="0"/>
              </a:rPr>
              <a:t>localizado</a:t>
            </a:r>
            <a:r>
              <a:rPr lang="en-US" sz="900" dirty="0">
                <a:solidFill>
                  <a:srgbClr val="6B6B6B"/>
                </a:solidFill>
                <a:latin typeface="Montserrat" pitchFamily="34" charset="0"/>
              </a:rPr>
              <a:t> no </a:t>
            </a:r>
            <a:r>
              <a:rPr lang="en-US" sz="900" dirty="0" err="1">
                <a:solidFill>
                  <a:srgbClr val="6B6B6B"/>
                </a:solidFill>
                <a:latin typeface="Montserrat" pitchFamily="34" charset="0"/>
              </a:rPr>
              <a:t>caderno</a:t>
            </a:r>
            <a:r>
              <a:rPr lang="en-US" sz="900" dirty="0">
                <a:solidFill>
                  <a:srgbClr val="6B6B6B"/>
                </a:solidFill>
                <a:latin typeface="Montserrat" pitchFamily="34" charset="0"/>
              </a:rPr>
              <a:t> da </a:t>
            </a:r>
            <a:r>
              <a:rPr lang="en-US" sz="900" dirty="0" err="1">
                <a:solidFill>
                  <a:srgbClr val="6B6B6B"/>
                </a:solidFill>
                <a:latin typeface="Montserrat" pitchFamily="34" charset="0"/>
              </a:rPr>
              <a:t>Seção</a:t>
            </a:r>
            <a:r>
              <a:rPr lang="en-US" sz="900" dirty="0">
                <a:solidFill>
                  <a:srgbClr val="6B6B6B"/>
                </a:solidFill>
                <a:latin typeface="Montserrat" pitchFamily="34" charset="0"/>
              </a:rPr>
              <a:t> </a:t>
            </a:r>
            <a:r>
              <a:rPr lang="en-US" sz="900" dirty="0" err="1">
                <a:solidFill>
                  <a:srgbClr val="6B6B6B"/>
                </a:solidFill>
                <a:latin typeface="Montserrat" pitchFamily="34" charset="0"/>
              </a:rPr>
              <a:t>em</a:t>
            </a:r>
            <a:r>
              <a:rPr lang="en-US" sz="900" dirty="0">
                <a:solidFill>
                  <a:srgbClr val="6B6B6B"/>
                </a:solidFill>
                <a:latin typeface="Montserrat" pitchFamily="34" charset="0"/>
              </a:rPr>
              <a:t> </a:t>
            </a:r>
            <a:r>
              <a:rPr lang="en-US" sz="900" dirty="0" err="1">
                <a:solidFill>
                  <a:srgbClr val="6B6B6B"/>
                </a:solidFill>
                <a:latin typeface="Montserrat" pitchFamily="34" charset="0"/>
              </a:rPr>
              <a:t>que</a:t>
            </a:r>
            <a:r>
              <a:rPr lang="en-US" sz="900" dirty="0">
                <a:solidFill>
                  <a:srgbClr val="6B6B6B"/>
                </a:solidFill>
                <a:latin typeface="Montserrat" pitchFamily="34" charset="0"/>
              </a:rPr>
              <a:t> </a:t>
            </a:r>
            <a:r>
              <a:rPr lang="en-US" sz="900" dirty="0" err="1">
                <a:solidFill>
                  <a:srgbClr val="6B6B6B"/>
                </a:solidFill>
                <a:latin typeface="Montserrat" pitchFamily="34" charset="0"/>
              </a:rPr>
              <a:t>votará</a:t>
            </a:r>
            <a:r>
              <a:rPr lang="en-US" sz="900" dirty="0">
                <a:solidFill>
                  <a:srgbClr val="6B6B6B"/>
                </a:solidFill>
                <a:latin typeface="Montserrat" pitchFamily="34" charset="0"/>
              </a:rPr>
              <a:t>. Por </a:t>
            </a:r>
            <a:r>
              <a:rPr lang="en-US" sz="900" dirty="0" err="1">
                <a:solidFill>
                  <a:srgbClr val="6B6B6B"/>
                </a:solidFill>
                <a:latin typeface="Montserrat" pitchFamily="34" charset="0"/>
              </a:rPr>
              <a:t>isso</a:t>
            </a:r>
            <a:r>
              <a:rPr lang="en-US" sz="900" dirty="0">
                <a:solidFill>
                  <a:srgbClr val="6B6B6B"/>
                </a:solidFill>
                <a:latin typeface="Montserrat" pitchFamily="34" charset="0"/>
              </a:rPr>
              <a:t>, </a:t>
            </a:r>
            <a:r>
              <a:rPr lang="en-US" sz="900" dirty="0" err="1">
                <a:solidFill>
                  <a:srgbClr val="6B6B6B"/>
                </a:solidFill>
                <a:latin typeface="Montserrat" pitchFamily="34" charset="0"/>
              </a:rPr>
              <a:t>temos</a:t>
            </a:r>
            <a:r>
              <a:rPr lang="en-US" sz="900" dirty="0">
                <a:solidFill>
                  <a:srgbClr val="6B6B6B"/>
                </a:solidFill>
                <a:latin typeface="Montserrat" pitchFamily="34" charset="0"/>
              </a:rPr>
              <a:t> </a:t>
            </a:r>
            <a:r>
              <a:rPr lang="en-US" sz="900" dirty="0" err="1">
                <a:solidFill>
                  <a:srgbClr val="6B6B6B"/>
                </a:solidFill>
                <a:latin typeface="Montserrat" pitchFamily="34" charset="0"/>
              </a:rPr>
              <a:t>que</a:t>
            </a:r>
            <a:r>
              <a:rPr lang="en-US" sz="900" dirty="0">
                <a:solidFill>
                  <a:srgbClr val="6B6B6B"/>
                </a:solidFill>
                <a:latin typeface="Montserrat" pitchFamily="34" charset="0"/>
              </a:rPr>
              <a:t> saber </a:t>
            </a:r>
            <a:r>
              <a:rPr lang="en-US" sz="900" dirty="0" err="1">
                <a:solidFill>
                  <a:srgbClr val="6B6B6B"/>
                </a:solidFill>
                <a:latin typeface="Montserrat" pitchFamily="34" charset="0"/>
              </a:rPr>
              <a:t>os</a:t>
            </a:r>
            <a:r>
              <a:rPr lang="en-US" sz="900" dirty="0">
                <a:solidFill>
                  <a:srgbClr val="6B6B6B"/>
                </a:solidFill>
                <a:latin typeface="Montserrat" pitchFamily="34" charset="0"/>
              </a:rPr>
              <a:t> </a:t>
            </a:r>
            <a:r>
              <a:rPr lang="en-US" sz="900" dirty="0" err="1">
                <a:solidFill>
                  <a:srgbClr val="6B6B6B"/>
                </a:solidFill>
                <a:latin typeface="Montserrat" pitchFamily="34" charset="0"/>
              </a:rPr>
              <a:t>dois</a:t>
            </a:r>
            <a:r>
              <a:rPr lang="en-US" sz="900" dirty="0">
                <a:solidFill>
                  <a:srgbClr val="6B6B6B"/>
                </a:solidFill>
                <a:latin typeface="Montserrat" pitchFamily="34" charset="0"/>
              </a:rPr>
              <a:t>.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8121701" y="4974336"/>
            <a:ext cx="3503066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63" name="Text 61"/>
          <p:cNvSpPr txBox="1"/>
          <p:nvPr/>
        </p:nvSpPr>
        <p:spPr>
          <a:xfrm>
            <a:off x="8396021" y="5157216"/>
            <a:ext cx="295442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Mesa de um caderno só</a:t>
            </a:r>
            <a:endParaRPr lang="en-US" sz="1150" dirty="0"/>
          </a:p>
        </p:txBody>
      </p:sp>
      <p:sp>
        <p:nvSpPr>
          <p:cNvPr id="64" name="Text 62"/>
          <p:cNvSpPr txBox="1"/>
          <p:nvPr/>
        </p:nvSpPr>
        <p:spPr>
          <a:xfrm>
            <a:off x="8396021" y="5449824"/>
            <a:ext cx="295442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 mesário busca; o outro entrega o comprovante e cuida da fila. Não se divide o caderno em dois.</a:t>
            </a:r>
            <a:endParaRPr lang="en-US" sz="900" dirty="0"/>
          </a:p>
        </p:txBody>
      </p:sp>
      <p:sp>
        <p:nvSpPr>
          <p:cNvPr id="65" name="Text 63"/>
          <p:cNvSpPr txBox="1"/>
          <p:nvPr/>
        </p:nvSpPr>
        <p:spPr>
          <a:xfrm>
            <a:off x="566928" y="647395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Tamanhos de caderno calculados de saidas/dados.json, dos CSVs oficiais do TSE.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 txBox="1"/>
          <p:nvPr/>
        </p:nvSpPr>
        <p:spPr>
          <a:xfrm>
            <a:off x="566928" y="384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6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MAIS IMPORTA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0350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 primeiras horas decidem o dia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5214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maior fila do dia chega quando a mesa ainda está encontrando o </a:t>
            </a:r>
            <a:r>
              <a:rPr lang="en-US" sz="12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seu</a:t>
            </a: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ritmo</a:t>
            </a: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É </a:t>
            </a:r>
            <a:r>
              <a:rPr lang="en-US" sz="12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importante</a:t>
            </a: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identificar</a:t>
            </a: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 </a:t>
            </a:r>
            <a:r>
              <a:rPr lang="en-US" sz="12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processo</a:t>
            </a: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</a:t>
            </a: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funciona</a:t>
            </a: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para </a:t>
            </a:r>
            <a:r>
              <a:rPr lang="en-US" sz="12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cada</a:t>
            </a: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mesa logo no </a:t>
            </a:r>
            <a:r>
              <a:rPr lang="en-US" sz="12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começo</a:t>
            </a: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2286000"/>
            <a:ext cx="3685946" cy="475488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8" name="Text 6"/>
          <p:cNvSpPr txBox="1"/>
          <p:nvPr/>
        </p:nvSpPr>
        <p:spPr>
          <a:xfrm>
            <a:off x="566928" y="2286000"/>
            <a:ext cx="368594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 PRIMEIRAS HORAS · MAIOR FILA DO DIA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52874" y="2286000"/>
            <a:ext cx="3685946" cy="475488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0" name="Text 8"/>
          <p:cNvSpPr txBox="1"/>
          <p:nvPr/>
        </p:nvSpPr>
        <p:spPr>
          <a:xfrm>
            <a:off x="4252874" y="2286000"/>
            <a:ext cx="368594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janela de almoço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938821" y="2286000"/>
            <a:ext cx="3685946" cy="475488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2" name="Text 10"/>
          <p:cNvSpPr txBox="1"/>
          <p:nvPr/>
        </p:nvSpPr>
        <p:spPr>
          <a:xfrm>
            <a:off x="7938821" y="2286000"/>
            <a:ext cx="368594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retomada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3270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4" name="Text 12"/>
          <p:cNvSpPr txBox="1"/>
          <p:nvPr/>
        </p:nvSpPr>
        <p:spPr>
          <a:xfrm>
            <a:off x="246888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8h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791919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6" name="Text 14"/>
          <p:cNvSpPr txBox="1"/>
          <p:nvPr/>
        </p:nvSpPr>
        <p:spPr>
          <a:xfrm>
            <a:off x="1475537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9h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020568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8" name="Text 16"/>
          <p:cNvSpPr txBox="1"/>
          <p:nvPr/>
        </p:nvSpPr>
        <p:spPr>
          <a:xfrm>
            <a:off x="2704186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10h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249217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0" name="Text 18"/>
          <p:cNvSpPr txBox="1"/>
          <p:nvPr/>
        </p:nvSpPr>
        <p:spPr>
          <a:xfrm>
            <a:off x="3932834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11h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477866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2" name="Text 20"/>
          <p:cNvSpPr txBox="1"/>
          <p:nvPr/>
        </p:nvSpPr>
        <p:spPr>
          <a:xfrm>
            <a:off x="5161483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12h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706514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4" name="Text 22"/>
          <p:cNvSpPr txBox="1"/>
          <p:nvPr/>
        </p:nvSpPr>
        <p:spPr>
          <a:xfrm>
            <a:off x="6390132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13h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935163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6" name="Text 24"/>
          <p:cNvSpPr txBox="1"/>
          <p:nvPr/>
        </p:nvSpPr>
        <p:spPr>
          <a:xfrm>
            <a:off x="7618781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14h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9163812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8" name="Text 26"/>
          <p:cNvSpPr txBox="1"/>
          <p:nvPr/>
        </p:nvSpPr>
        <p:spPr>
          <a:xfrm>
            <a:off x="8847430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15h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0392461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0" name="Text 28"/>
          <p:cNvSpPr txBox="1"/>
          <p:nvPr/>
        </p:nvSpPr>
        <p:spPr>
          <a:xfrm>
            <a:off x="10076078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16h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1621110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2" name="Text 30"/>
          <p:cNvSpPr txBox="1"/>
          <p:nvPr/>
        </p:nvSpPr>
        <p:spPr>
          <a:xfrm>
            <a:off x="11304727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17h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66928" y="4005072"/>
            <a:ext cx="3478682" cy="1792224"/>
          </a:xfrm>
          <a:prstGeom prst="roundRect">
            <a:avLst>
              <a:gd name="adj" fmla="val 2551"/>
            </a:avLst>
          </a:prstGeom>
          <a:solidFill>
            <a:srgbClr val="042B5A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4" name="Shape 32"/>
          <p:cNvSpPr/>
          <p:nvPr/>
        </p:nvSpPr>
        <p:spPr>
          <a:xfrm>
            <a:off x="877824" y="4315968"/>
            <a:ext cx="384048" cy="41148"/>
          </a:xfrm>
          <a:prstGeom prst="rect">
            <a:avLst/>
          </a:prstGeom>
          <a:solidFill>
            <a:srgbClr val="E8C63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5" name="Text 33"/>
          <p:cNvSpPr txBox="1"/>
          <p:nvPr/>
        </p:nvSpPr>
        <p:spPr>
          <a:xfrm>
            <a:off x="877824" y="4517136"/>
            <a:ext cx="28568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Não procure o processo perfeito</a:t>
            </a:r>
            <a:endParaRPr lang="en-US" sz="1450" dirty="0"/>
          </a:p>
        </p:txBody>
      </p:sp>
      <p:sp>
        <p:nvSpPr>
          <p:cNvPr id="36" name="Text 34"/>
          <p:cNvSpPr txBox="1"/>
          <p:nvPr/>
        </p:nvSpPr>
        <p:spPr>
          <a:xfrm>
            <a:off x="877824" y="5120640"/>
            <a:ext cx="28568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E4E0C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Procure, nos primeiros trinta ou quarenta eleitores, o arranjo que funciona naquela mesa. Depois repita sem mudar.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356506" y="4005072"/>
            <a:ext cx="3478682" cy="1792224"/>
          </a:xfrm>
          <a:prstGeom prst="roundRect">
            <a:avLst>
              <a:gd name="adj" fmla="val 2551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8" name="Shape 36"/>
          <p:cNvSpPr/>
          <p:nvPr/>
        </p:nvSpPr>
        <p:spPr>
          <a:xfrm>
            <a:off x="4667402" y="4315968"/>
            <a:ext cx="384048" cy="41148"/>
          </a:xfrm>
          <a:prstGeom prst="rect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9" name="Text 37"/>
          <p:cNvSpPr txBox="1"/>
          <p:nvPr/>
        </p:nvSpPr>
        <p:spPr>
          <a:xfrm>
            <a:off x="4667402" y="4517136"/>
            <a:ext cx="28568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Ajuste nos primeiros minutos</a:t>
            </a:r>
            <a:endParaRPr lang="en-US" sz="1450" dirty="0"/>
          </a:p>
        </p:txBody>
      </p:sp>
      <p:sp>
        <p:nvSpPr>
          <p:cNvPr id="40" name="Text 38"/>
          <p:cNvSpPr txBox="1"/>
          <p:nvPr/>
        </p:nvSpPr>
        <p:spPr>
          <a:xfrm>
            <a:off x="4667402" y="5120640"/>
            <a:ext cx="28568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 a busca no caderno está atrasando a mesa, troque a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divisão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agora. O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atraso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pode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virar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fila.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146085" y="4005072"/>
            <a:ext cx="3478682" cy="1792224"/>
          </a:xfrm>
          <a:prstGeom prst="roundRect">
            <a:avLst>
              <a:gd name="adj" fmla="val 2551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2" name="Shape 40"/>
          <p:cNvSpPr/>
          <p:nvPr/>
        </p:nvSpPr>
        <p:spPr>
          <a:xfrm>
            <a:off x="8456981" y="4315968"/>
            <a:ext cx="384048" cy="41148"/>
          </a:xfrm>
          <a:prstGeom prst="rect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3" name="Text 41"/>
          <p:cNvSpPr txBox="1"/>
          <p:nvPr/>
        </p:nvSpPr>
        <p:spPr>
          <a:xfrm>
            <a:off x="8456981" y="4517136"/>
            <a:ext cx="28568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fila da primeira hora acompanha o dia</a:t>
            </a:r>
            <a:endParaRPr lang="en-US" sz="1450" dirty="0"/>
          </a:p>
        </p:txBody>
      </p:sp>
      <p:sp>
        <p:nvSpPr>
          <p:cNvPr id="44" name="Text 42"/>
          <p:cNvSpPr txBox="1"/>
          <p:nvPr/>
        </p:nvSpPr>
        <p:spPr>
          <a:xfrm>
            <a:off x="8456981" y="5120640"/>
            <a:ext cx="28568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Uma fila que se forma às 8h não desaparece sozinha: ela anda com a mesa até a tarde.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 txBox="1"/>
          <p:nvPr/>
        </p:nvSpPr>
        <p:spPr>
          <a:xfrm>
            <a:off x="566928" y="384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6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ANTES DE ABRIR A URNA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0350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Checklist da mesa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66928" y="157276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9050">
            <a:solidFill>
              <a:srgbClr val="5F882E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7" name="Text 5"/>
          <p:cNvSpPr txBox="1"/>
          <p:nvPr/>
        </p:nvSpPr>
        <p:spPr>
          <a:xfrm>
            <a:off x="1243584" y="1572768"/>
            <a:ext cx="97776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equipe na mesa às 6h30. Zerésima emitida e assinada às 7h00.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2093976"/>
            <a:ext cx="11057839" cy="7315"/>
          </a:xfrm>
          <a:prstGeom prst="rect">
            <a:avLst/>
          </a:prstGeom>
          <a:solidFill>
            <a:srgbClr val="E4DFCC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9" name="Shape 7"/>
          <p:cNvSpPr/>
          <p:nvPr/>
        </p:nvSpPr>
        <p:spPr>
          <a:xfrm>
            <a:off x="566928" y="224942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9050">
            <a:solidFill>
              <a:srgbClr val="5F882E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0" name="Text 8"/>
          <p:cNvSpPr txBox="1"/>
          <p:nvPr/>
        </p:nvSpPr>
        <p:spPr>
          <a:xfrm>
            <a:off x="1243584" y="2249424"/>
            <a:ext cx="97776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Cadernos </a:t>
            </a:r>
            <a:r>
              <a:rPr lang="en-US" sz="1350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distribuídos</a:t>
            </a: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</a:t>
            </a:r>
            <a:r>
              <a:rPr lang="en-US" sz="1350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dividos</a:t>
            </a: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50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</a:t>
            </a: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50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mesários</a:t>
            </a: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66928" y="2770632"/>
            <a:ext cx="11057839" cy="7315"/>
          </a:xfrm>
          <a:prstGeom prst="rect">
            <a:avLst/>
          </a:prstGeom>
          <a:solidFill>
            <a:srgbClr val="E4DFCC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2" name="Shape 10"/>
          <p:cNvSpPr/>
          <p:nvPr/>
        </p:nvSpPr>
        <p:spPr>
          <a:xfrm>
            <a:off x="566928" y="292608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9050">
            <a:solidFill>
              <a:srgbClr val="5F882E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3" name="Text 11"/>
          <p:cNvSpPr txBox="1"/>
          <p:nvPr/>
        </p:nvSpPr>
        <p:spPr>
          <a:xfrm>
            <a:off x="1243584" y="2926080"/>
            <a:ext cx="97776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Quem tem o caderno começa a busca pelo nome antes da digitação.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66928" y="3447288"/>
            <a:ext cx="11057839" cy="7315"/>
          </a:xfrm>
          <a:prstGeom prst="rect">
            <a:avLst/>
          </a:prstGeom>
          <a:solidFill>
            <a:srgbClr val="E4DFCC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5" name="Shape 13"/>
          <p:cNvSpPr/>
          <p:nvPr/>
        </p:nvSpPr>
        <p:spPr>
          <a:xfrm>
            <a:off x="566928" y="3602736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9050">
            <a:solidFill>
              <a:srgbClr val="5F882E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6" name="Text 14"/>
          <p:cNvSpPr txBox="1"/>
          <p:nvPr/>
        </p:nvSpPr>
        <p:spPr>
          <a:xfrm>
            <a:off x="1243584" y="3602736"/>
            <a:ext cx="97776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Presidente, </a:t>
            </a:r>
            <a:r>
              <a:rPr lang="en-US" sz="1350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após</a:t>
            </a: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50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digitar</a:t>
            </a: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no terminal, </a:t>
            </a:r>
            <a:r>
              <a:rPr lang="en-US" sz="1350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lê</a:t>
            </a: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 </a:t>
            </a:r>
            <a:r>
              <a:rPr lang="en-US" sz="1350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nome</a:t>
            </a: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do </a:t>
            </a:r>
            <a:r>
              <a:rPr lang="en-US" sz="1350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eleitor</a:t>
            </a: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50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</a:t>
            </a: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50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voz</a:t>
            </a: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50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alta.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66928" y="4123944"/>
            <a:ext cx="11057839" cy="7315"/>
          </a:xfrm>
          <a:prstGeom prst="rect">
            <a:avLst/>
          </a:prstGeom>
          <a:solidFill>
            <a:srgbClr val="E4DFCC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8" name="Shape 16"/>
          <p:cNvSpPr/>
          <p:nvPr/>
        </p:nvSpPr>
        <p:spPr>
          <a:xfrm>
            <a:off x="566928" y="427939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9050">
            <a:solidFill>
              <a:srgbClr val="5F882E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9" name="Text 17"/>
          <p:cNvSpPr txBox="1"/>
          <p:nvPr/>
        </p:nvSpPr>
        <p:spPr>
          <a:xfrm>
            <a:off x="1243584" y="4279392"/>
            <a:ext cx="97776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Mesa dos celulares visível ao eleitor e à mesa receptora.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4800600"/>
            <a:ext cx="11057839" cy="7315"/>
          </a:xfrm>
          <a:prstGeom prst="rect">
            <a:avLst/>
          </a:prstGeom>
          <a:solidFill>
            <a:srgbClr val="E4DFCC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1" name="Shape 19"/>
          <p:cNvSpPr/>
          <p:nvPr/>
        </p:nvSpPr>
        <p:spPr>
          <a:xfrm>
            <a:off x="566928" y="495604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9050">
            <a:solidFill>
              <a:srgbClr val="5F882E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2" name="Text 20"/>
          <p:cNvSpPr txBox="1"/>
          <p:nvPr/>
        </p:nvSpPr>
        <p:spPr>
          <a:xfrm>
            <a:off x="1243584" y="4956048"/>
            <a:ext cx="97776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Almoço combinado dentro da mesa: um de cada vez, na janela de 11h às 14h.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5888736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Bom trabalho no dia 4 — e obrigado por representar o Brasil nesta seção.</a:t>
            </a:r>
            <a:endParaRPr lang="en-US" sz="1500" dirty="0"/>
          </a:p>
        </p:txBody>
      </p:sp>
      <p:pic>
        <p:nvPicPr>
          <p:cNvPr id="2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0" y="5632704"/>
            <a:ext cx="1463040" cy="86959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2399</Words>
  <Application>Microsoft Office PowerPoint</Application>
  <PresentationFormat>Widescreen</PresentationFormat>
  <Paragraphs>383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Eleições 2026 · Briefing da equipe</dc:title>
  <dc:subject>PptxGenJS Presentation</dc:subject>
  <dc:creator>Posto de Dublin</dc:creator>
  <cp:lastModifiedBy>Hamad Mota Kalaf</cp:lastModifiedBy>
  <cp:revision>2</cp:revision>
  <dcterms:created xsi:type="dcterms:W3CDTF">2026-09-23T06:00:18Z</dcterms:created>
  <dcterms:modified xsi:type="dcterms:W3CDTF">2026-09-23T12:43:36Z</dcterms:modified>
</cp:coreProperties>
</file>